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3" r:id="rId8"/>
    <p:sldId id="265" r:id="rId9"/>
    <p:sldId id="262" r:id="rId10"/>
    <p:sldId id="267" r:id="rId11"/>
    <p:sldId id="268" r:id="rId12"/>
    <p:sldId id="269" r:id="rId13"/>
    <p:sldId id="270" r:id="rId14"/>
    <p:sldId id="271" r:id="rId15"/>
    <p:sldId id="272" r:id="rId16"/>
    <p:sldId id="274" r:id="rId17"/>
    <p:sldId id="277" r:id="rId18"/>
    <p:sldId id="276" r:id="rId19"/>
    <p:sldId id="275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52111D-B225-4361-BF20-F8DD3212B204}" v="14" dt="2025-08-27T11:13:16.4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-3672" y="-20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NGKAEW, PUTTIWAT" userId="a8adac1e-848f-4d84-b961-6a7ffb648b49" providerId="ADAL" clId="{F052111D-B225-4361-BF20-F8DD3212B204}"/>
    <pc:docChg chg="undo custSel addSld modSld">
      <pc:chgData name="KONGKAEW, PUTTIWAT" userId="a8adac1e-848f-4d84-b961-6a7ffb648b49" providerId="ADAL" clId="{F052111D-B225-4361-BF20-F8DD3212B204}" dt="2025-08-27T11:13:58.428" v="295" actId="1035"/>
      <pc:docMkLst>
        <pc:docMk/>
      </pc:docMkLst>
      <pc:sldChg chg="addSp modSp mod">
        <pc:chgData name="KONGKAEW, PUTTIWAT" userId="a8adac1e-848f-4d84-b961-6a7ffb648b49" providerId="ADAL" clId="{F052111D-B225-4361-BF20-F8DD3212B204}" dt="2025-08-27T11:09:19.329" v="146" actId="14100"/>
        <pc:sldMkLst>
          <pc:docMk/>
          <pc:sldMk cId="2224687866" sldId="268"/>
        </pc:sldMkLst>
        <pc:spChg chg="add mod">
          <ac:chgData name="KONGKAEW, PUTTIWAT" userId="a8adac1e-848f-4d84-b961-6a7ffb648b49" providerId="ADAL" clId="{F052111D-B225-4361-BF20-F8DD3212B204}" dt="2025-08-27T11:08:43.848" v="144" actId="164"/>
          <ac:spMkLst>
            <pc:docMk/>
            <pc:sldMk cId="2224687866" sldId="268"/>
            <ac:spMk id="3" creationId="{EF516597-E7C5-9821-7DA5-E9ACEEFBD80B}"/>
          </ac:spMkLst>
        </pc:spChg>
        <pc:spChg chg="add mod">
          <ac:chgData name="KONGKAEW, PUTTIWAT" userId="a8adac1e-848f-4d84-b961-6a7ffb648b49" providerId="ADAL" clId="{F052111D-B225-4361-BF20-F8DD3212B204}" dt="2025-08-27T11:08:43.848" v="144" actId="164"/>
          <ac:spMkLst>
            <pc:docMk/>
            <pc:sldMk cId="2224687866" sldId="268"/>
            <ac:spMk id="4" creationId="{19E2AEDD-2081-284A-D213-07D2E1AC2EC1}"/>
          </ac:spMkLst>
        </pc:spChg>
        <pc:spChg chg="add mod">
          <ac:chgData name="KONGKAEW, PUTTIWAT" userId="a8adac1e-848f-4d84-b961-6a7ffb648b49" providerId="ADAL" clId="{F052111D-B225-4361-BF20-F8DD3212B204}" dt="2025-08-27T11:08:43.848" v="144" actId="164"/>
          <ac:spMkLst>
            <pc:docMk/>
            <pc:sldMk cId="2224687866" sldId="268"/>
            <ac:spMk id="5" creationId="{C70E6F2C-B582-2222-A0FC-E1CB131E8AC4}"/>
          </ac:spMkLst>
        </pc:spChg>
        <pc:spChg chg="add mod">
          <ac:chgData name="KONGKAEW, PUTTIWAT" userId="a8adac1e-848f-4d84-b961-6a7ffb648b49" providerId="ADAL" clId="{F052111D-B225-4361-BF20-F8DD3212B204}" dt="2025-08-27T11:08:43.848" v="144" actId="164"/>
          <ac:spMkLst>
            <pc:docMk/>
            <pc:sldMk cId="2224687866" sldId="268"/>
            <ac:spMk id="6" creationId="{AA096EC2-9AB0-71E8-D6B0-0040112B1067}"/>
          </ac:spMkLst>
        </pc:spChg>
        <pc:spChg chg="add mod">
          <ac:chgData name="KONGKAEW, PUTTIWAT" userId="a8adac1e-848f-4d84-b961-6a7ffb648b49" providerId="ADAL" clId="{F052111D-B225-4361-BF20-F8DD3212B204}" dt="2025-08-27T11:08:43.848" v="144" actId="164"/>
          <ac:spMkLst>
            <pc:docMk/>
            <pc:sldMk cId="2224687866" sldId="268"/>
            <ac:spMk id="7" creationId="{94E3EAF0-D998-475B-110D-F125C1BADF40}"/>
          </ac:spMkLst>
        </pc:spChg>
        <pc:spChg chg="add mod ord">
          <ac:chgData name="KONGKAEW, PUTTIWAT" userId="a8adac1e-848f-4d84-b961-6a7ffb648b49" providerId="ADAL" clId="{F052111D-B225-4361-BF20-F8DD3212B204}" dt="2025-08-27T11:08:43.848" v="144" actId="164"/>
          <ac:spMkLst>
            <pc:docMk/>
            <pc:sldMk cId="2224687866" sldId="268"/>
            <ac:spMk id="10" creationId="{C925412C-FE44-66DD-28E7-2DC14DFB38C4}"/>
          </ac:spMkLst>
        </pc:spChg>
        <pc:spChg chg="add mod">
          <ac:chgData name="KONGKAEW, PUTTIWAT" userId="a8adac1e-848f-4d84-b961-6a7ffb648b49" providerId="ADAL" clId="{F052111D-B225-4361-BF20-F8DD3212B204}" dt="2025-08-27T11:06:17.115" v="127" actId="14100"/>
          <ac:spMkLst>
            <pc:docMk/>
            <pc:sldMk cId="2224687866" sldId="268"/>
            <ac:spMk id="13" creationId="{0E8B5480-DE92-0771-AA8B-6BF98A2A862D}"/>
          </ac:spMkLst>
        </pc:spChg>
        <pc:grpChg chg="add mod">
          <ac:chgData name="KONGKAEW, PUTTIWAT" userId="a8adac1e-848f-4d84-b961-6a7ffb648b49" providerId="ADAL" clId="{F052111D-B225-4361-BF20-F8DD3212B204}" dt="2025-08-27T11:08:43.848" v="144" actId="164"/>
          <ac:grpSpMkLst>
            <pc:docMk/>
            <pc:sldMk cId="2224687866" sldId="268"/>
            <ac:grpSpMk id="17" creationId="{EEFB6A19-7C80-54F0-E98F-470AD9F31098}"/>
          </ac:grpSpMkLst>
        </pc:grpChg>
        <pc:cxnChg chg="mod">
          <ac:chgData name="KONGKAEW, PUTTIWAT" userId="a8adac1e-848f-4d84-b961-6a7ffb648b49" providerId="ADAL" clId="{F052111D-B225-4361-BF20-F8DD3212B204}" dt="2025-08-27T11:09:16.679" v="145" actId="14100"/>
          <ac:cxnSpMkLst>
            <pc:docMk/>
            <pc:sldMk cId="2224687866" sldId="268"/>
            <ac:cxnSpMk id="11" creationId="{792AEA43-734C-4248-9677-DD285147B35C}"/>
          </ac:cxnSpMkLst>
        </pc:cxnChg>
        <pc:cxnChg chg="mod">
          <ac:chgData name="KONGKAEW, PUTTIWAT" userId="a8adac1e-848f-4d84-b961-6a7ffb648b49" providerId="ADAL" clId="{F052111D-B225-4361-BF20-F8DD3212B204}" dt="2025-08-27T11:09:19.329" v="146" actId="14100"/>
          <ac:cxnSpMkLst>
            <pc:docMk/>
            <pc:sldMk cId="2224687866" sldId="268"/>
            <ac:cxnSpMk id="14" creationId="{72911DB9-C16E-D1E4-3EDB-8ADF198FE109}"/>
          </ac:cxnSpMkLst>
        </pc:cxnChg>
      </pc:sldChg>
      <pc:sldChg chg="addSp delSp modSp new mod">
        <pc:chgData name="KONGKAEW, PUTTIWAT" userId="a8adac1e-848f-4d84-b961-6a7ffb648b49" providerId="ADAL" clId="{F052111D-B225-4361-BF20-F8DD3212B204}" dt="2025-08-27T11:13:58.428" v="295" actId="1035"/>
        <pc:sldMkLst>
          <pc:docMk/>
          <pc:sldMk cId="3810459738" sldId="277"/>
        </pc:sldMkLst>
        <pc:spChg chg="del">
          <ac:chgData name="KONGKAEW, PUTTIWAT" userId="a8adac1e-848f-4d84-b961-6a7ffb648b49" providerId="ADAL" clId="{F052111D-B225-4361-BF20-F8DD3212B204}" dt="2025-08-27T11:10:38.446" v="149" actId="478"/>
          <ac:spMkLst>
            <pc:docMk/>
            <pc:sldMk cId="3810459738" sldId="277"/>
            <ac:spMk id="2" creationId="{D72B47E8-F3AF-1977-4E37-5E7E25C572EF}"/>
          </ac:spMkLst>
        </pc:spChg>
        <pc:spChg chg="del">
          <ac:chgData name="KONGKAEW, PUTTIWAT" userId="a8adac1e-848f-4d84-b961-6a7ffb648b49" providerId="ADAL" clId="{F052111D-B225-4361-BF20-F8DD3212B204}" dt="2025-08-27T11:10:36.818" v="148" actId="478"/>
          <ac:spMkLst>
            <pc:docMk/>
            <pc:sldMk cId="3810459738" sldId="277"/>
            <ac:spMk id="3" creationId="{30AFFD5A-0A93-8922-2378-39F196EA7541}"/>
          </ac:spMkLst>
        </pc:spChg>
        <pc:spChg chg="add mod">
          <ac:chgData name="KONGKAEW, PUTTIWAT" userId="a8adac1e-848f-4d84-b961-6a7ffb648b49" providerId="ADAL" clId="{F052111D-B225-4361-BF20-F8DD3212B204}" dt="2025-08-27T11:11:54.930" v="211" actId="122"/>
          <ac:spMkLst>
            <pc:docMk/>
            <pc:sldMk cId="3810459738" sldId="277"/>
            <ac:spMk id="5" creationId="{BBEB1D0B-2DD5-16F4-1FEC-BB46F82B1B3A}"/>
          </ac:spMkLst>
        </pc:spChg>
        <pc:spChg chg="add mod">
          <ac:chgData name="KONGKAEW, PUTTIWAT" userId="a8adac1e-848f-4d84-b961-6a7ffb648b49" providerId="ADAL" clId="{F052111D-B225-4361-BF20-F8DD3212B204}" dt="2025-08-27T11:12:31.215" v="265" actId="1036"/>
          <ac:spMkLst>
            <pc:docMk/>
            <pc:sldMk cId="3810459738" sldId="277"/>
            <ac:spMk id="6" creationId="{269569BB-09EE-3538-0074-FD71C30031B3}"/>
          </ac:spMkLst>
        </pc:spChg>
        <pc:spChg chg="add mod">
          <ac:chgData name="KONGKAEW, PUTTIWAT" userId="a8adac1e-848f-4d84-b961-6a7ffb648b49" providerId="ADAL" clId="{F052111D-B225-4361-BF20-F8DD3212B204}" dt="2025-08-27T11:13:58.428" v="295" actId="1035"/>
          <ac:spMkLst>
            <pc:docMk/>
            <pc:sldMk cId="3810459738" sldId="277"/>
            <ac:spMk id="7" creationId="{86216EA6-BC94-13DA-558F-58524D67AB3B}"/>
          </ac:spMkLst>
        </pc:spChg>
        <pc:spChg chg="add mod">
          <ac:chgData name="KONGKAEW, PUTTIWAT" userId="a8adac1e-848f-4d84-b961-6a7ffb648b49" providerId="ADAL" clId="{F052111D-B225-4361-BF20-F8DD3212B204}" dt="2025-08-27T11:13:15.489" v="283" actId="1076"/>
          <ac:spMkLst>
            <pc:docMk/>
            <pc:sldMk cId="3810459738" sldId="277"/>
            <ac:spMk id="8" creationId="{05632D6A-FD24-F1DA-FC77-414A936DC3C8}"/>
          </ac:spMkLst>
        </pc:spChg>
        <pc:spChg chg="add mod">
          <ac:chgData name="KONGKAEW, PUTTIWAT" userId="a8adac1e-848f-4d84-b961-6a7ffb648b49" providerId="ADAL" clId="{F052111D-B225-4361-BF20-F8DD3212B204}" dt="2025-08-27T11:13:23.657" v="294" actId="1038"/>
          <ac:spMkLst>
            <pc:docMk/>
            <pc:sldMk cId="3810459738" sldId="277"/>
            <ac:spMk id="9" creationId="{0C441AF2-8A36-8CF1-EA6D-870B4DAF435B}"/>
          </ac:spMkLst>
        </pc:spChg>
        <pc:picChg chg="add mod">
          <ac:chgData name="KONGKAEW, PUTTIWAT" userId="a8adac1e-848f-4d84-b961-6a7ffb648b49" providerId="ADAL" clId="{F052111D-B225-4361-BF20-F8DD3212B204}" dt="2025-08-27T11:10:45.562" v="155" actId="1076"/>
          <ac:picMkLst>
            <pc:docMk/>
            <pc:sldMk cId="3810459738" sldId="277"/>
            <ac:picMk id="4" creationId="{D12C46A5-852F-3FB9-DD37-C91E8CC621E0}"/>
          </ac:picMkLst>
        </pc:picChg>
      </pc:sldChg>
    </pc:docChg>
  </pc:docChgLst>
  <pc:docChgLst>
    <pc:chgData name="KONGKAEW, PUTTIWAT" userId="a8adac1e-848f-4d84-b961-6a7ffb648b49" providerId="ADAL" clId="{2F9C920F-B837-426B-B15A-4F4274BFBB22}"/>
    <pc:docChg chg="undo custSel addSld delSld modSld sldOrd">
      <pc:chgData name="KONGKAEW, PUTTIWAT" userId="a8adac1e-848f-4d84-b961-6a7ffb648b49" providerId="ADAL" clId="{2F9C920F-B837-426B-B15A-4F4274BFBB22}" dt="2023-05-23T11:11:11.964" v="7741" actId="20577"/>
      <pc:docMkLst>
        <pc:docMk/>
      </pc:docMkLst>
      <pc:sldChg chg="modSp new mod">
        <pc:chgData name="KONGKAEW, PUTTIWAT" userId="a8adac1e-848f-4d84-b961-6a7ffb648b49" providerId="ADAL" clId="{2F9C920F-B837-426B-B15A-4F4274BFBB22}" dt="2023-05-19T07:32:31.561" v="502" actId="20577"/>
        <pc:sldMkLst>
          <pc:docMk/>
          <pc:sldMk cId="1377385226" sldId="256"/>
        </pc:sldMkLst>
      </pc:sldChg>
      <pc:sldChg chg="addSp delSp modSp new mod modClrScheme chgLayout">
        <pc:chgData name="KONGKAEW, PUTTIWAT" userId="a8adac1e-848f-4d84-b961-6a7ffb648b49" providerId="ADAL" clId="{2F9C920F-B837-426B-B15A-4F4274BFBB22}" dt="2023-05-19T08:06:55.913" v="1772" actId="27636"/>
        <pc:sldMkLst>
          <pc:docMk/>
          <pc:sldMk cId="941823532" sldId="257"/>
        </pc:sldMkLst>
      </pc:sldChg>
      <pc:sldChg chg="modSp new mod ord">
        <pc:chgData name="KONGKAEW, PUTTIWAT" userId="a8adac1e-848f-4d84-b961-6a7ffb648b49" providerId="ADAL" clId="{2F9C920F-B837-426B-B15A-4F4274BFBB22}" dt="2023-05-22T10:55:39.939" v="6732"/>
        <pc:sldMkLst>
          <pc:docMk/>
          <pc:sldMk cId="2308169934" sldId="258"/>
        </pc:sldMkLst>
      </pc:sldChg>
      <pc:sldChg chg="modSp new mod ord">
        <pc:chgData name="KONGKAEW, PUTTIWAT" userId="a8adac1e-848f-4d84-b961-6a7ffb648b49" providerId="ADAL" clId="{2F9C920F-B837-426B-B15A-4F4274BFBB22}" dt="2023-05-22T10:55:22.347" v="6730"/>
        <pc:sldMkLst>
          <pc:docMk/>
          <pc:sldMk cId="1589057834" sldId="259"/>
        </pc:sldMkLst>
      </pc:sldChg>
      <pc:sldChg chg="addSp modSp new mod">
        <pc:chgData name="KONGKAEW, PUTTIWAT" userId="a8adac1e-848f-4d84-b961-6a7ffb648b49" providerId="ADAL" clId="{2F9C920F-B837-426B-B15A-4F4274BFBB22}" dt="2023-05-22T14:19:52.681" v="7191" actId="403"/>
        <pc:sldMkLst>
          <pc:docMk/>
          <pc:sldMk cId="3512462657" sldId="260"/>
        </pc:sldMkLst>
      </pc:sldChg>
      <pc:sldChg chg="add del">
        <pc:chgData name="KONGKAEW, PUTTIWAT" userId="a8adac1e-848f-4d84-b961-6a7ffb648b49" providerId="ADAL" clId="{2F9C920F-B837-426B-B15A-4F4274BFBB22}" dt="2023-05-19T08:44:21.391" v="2916" actId="47"/>
        <pc:sldMkLst>
          <pc:docMk/>
          <pc:sldMk cId="4024727555" sldId="261"/>
        </pc:sldMkLst>
      </pc:sldChg>
      <pc:sldChg chg="addSp delSp modSp add mod">
        <pc:chgData name="KONGKAEW, PUTTIWAT" userId="a8adac1e-848f-4d84-b961-6a7ffb648b49" providerId="ADAL" clId="{2F9C920F-B837-426B-B15A-4F4274BFBB22}" dt="2023-05-19T09:29:35.129" v="4526" actId="20577"/>
        <pc:sldMkLst>
          <pc:docMk/>
          <pc:sldMk cId="2826037868" sldId="262"/>
        </pc:sldMkLst>
      </pc:sldChg>
      <pc:sldChg chg="addSp delSp modSp new mod modClrScheme chgLayout">
        <pc:chgData name="KONGKAEW, PUTTIWAT" userId="a8adac1e-848f-4d84-b961-6a7ffb648b49" providerId="ADAL" clId="{2F9C920F-B837-426B-B15A-4F4274BFBB22}" dt="2023-05-19T08:46:26.111" v="3014" actId="115"/>
        <pc:sldMkLst>
          <pc:docMk/>
          <pc:sldMk cId="4010335364" sldId="263"/>
        </pc:sldMkLst>
      </pc:sldChg>
      <pc:sldChg chg="modSp new mod ord">
        <pc:chgData name="KONGKAEW, PUTTIWAT" userId="a8adac1e-848f-4d84-b961-6a7ffb648b49" providerId="ADAL" clId="{2F9C920F-B837-426B-B15A-4F4274BFBB22}" dt="2023-05-19T08:35:16.642" v="2428" actId="20577"/>
        <pc:sldMkLst>
          <pc:docMk/>
          <pc:sldMk cId="4196541916" sldId="264"/>
        </pc:sldMkLst>
      </pc:sldChg>
      <pc:sldChg chg="addSp delSp modSp new mod">
        <pc:chgData name="KONGKAEW, PUTTIWAT" userId="a8adac1e-848f-4d84-b961-6a7ffb648b49" providerId="ADAL" clId="{2F9C920F-B837-426B-B15A-4F4274BFBB22}" dt="2023-05-22T10:56:39.251" v="6737" actId="403"/>
        <pc:sldMkLst>
          <pc:docMk/>
          <pc:sldMk cId="2311548782" sldId="265"/>
        </pc:sldMkLst>
      </pc:sldChg>
      <pc:sldChg chg="modSp new del mod modShow">
        <pc:chgData name="KONGKAEW, PUTTIWAT" userId="a8adac1e-848f-4d84-b961-6a7ffb648b49" providerId="ADAL" clId="{2F9C920F-B837-426B-B15A-4F4274BFBB22}" dt="2023-05-22T10:54:38.127" v="6715" actId="47"/>
        <pc:sldMkLst>
          <pc:docMk/>
          <pc:sldMk cId="73811450" sldId="266"/>
        </pc:sldMkLst>
      </pc:sldChg>
      <pc:sldChg chg="modSp new del mod">
        <pc:chgData name="KONGKAEW, PUTTIWAT" userId="a8adac1e-848f-4d84-b961-6a7ffb648b49" providerId="ADAL" clId="{2F9C920F-B837-426B-B15A-4F4274BFBB22}" dt="2023-05-19T08:44:19.775" v="2915" actId="47"/>
        <pc:sldMkLst>
          <pc:docMk/>
          <pc:sldMk cId="3018053352" sldId="266"/>
        </pc:sldMkLst>
      </pc:sldChg>
      <pc:sldChg chg="modSp new mod">
        <pc:chgData name="KONGKAEW, PUTTIWAT" userId="a8adac1e-848f-4d84-b961-6a7ffb648b49" providerId="ADAL" clId="{2F9C920F-B837-426B-B15A-4F4274BFBB22}" dt="2023-05-19T09:35:56.409" v="5388" actId="20577"/>
        <pc:sldMkLst>
          <pc:docMk/>
          <pc:sldMk cId="2129425839" sldId="267"/>
        </pc:sldMkLst>
      </pc:sldChg>
      <pc:sldChg chg="addSp delSp modSp new mod modClrScheme chgLayout">
        <pc:chgData name="KONGKAEW, PUTTIWAT" userId="a8adac1e-848f-4d84-b961-6a7ffb648b49" providerId="ADAL" clId="{2F9C920F-B837-426B-B15A-4F4274BFBB22}" dt="2023-05-19T11:02:09.536" v="5538" actId="20577"/>
        <pc:sldMkLst>
          <pc:docMk/>
          <pc:sldMk cId="2224687866" sldId="268"/>
        </pc:sldMkLst>
      </pc:sldChg>
      <pc:sldChg chg="addSp delSp modSp new mod modClrScheme chgLayout">
        <pc:chgData name="KONGKAEW, PUTTIWAT" userId="a8adac1e-848f-4d84-b961-6a7ffb648b49" providerId="ADAL" clId="{2F9C920F-B837-426B-B15A-4F4274BFBB22}" dt="2023-05-19T09:32:17.622" v="4916" actId="20577"/>
        <pc:sldMkLst>
          <pc:docMk/>
          <pc:sldMk cId="2363607066" sldId="269"/>
        </pc:sldMkLst>
      </pc:sldChg>
      <pc:sldChg chg="modSp new mod">
        <pc:chgData name="KONGKAEW, PUTTIWAT" userId="a8adac1e-848f-4d84-b961-6a7ffb648b49" providerId="ADAL" clId="{2F9C920F-B837-426B-B15A-4F4274BFBB22}" dt="2023-05-19T14:28:28.367" v="6284" actId="20577"/>
        <pc:sldMkLst>
          <pc:docMk/>
          <pc:sldMk cId="1627907822" sldId="270"/>
        </pc:sldMkLst>
      </pc:sldChg>
      <pc:sldChg chg="modSp new mod">
        <pc:chgData name="KONGKAEW, PUTTIWAT" userId="a8adac1e-848f-4d84-b961-6a7ffb648b49" providerId="ADAL" clId="{2F9C920F-B837-426B-B15A-4F4274BFBB22}" dt="2023-05-19T14:28:48.471" v="6329" actId="20577"/>
        <pc:sldMkLst>
          <pc:docMk/>
          <pc:sldMk cId="4182190792" sldId="271"/>
        </pc:sldMkLst>
      </pc:sldChg>
      <pc:sldChg chg="addSp delSp modSp new mod modShow">
        <pc:chgData name="KONGKAEW, PUTTIWAT" userId="a8adac1e-848f-4d84-b961-6a7ffb648b49" providerId="ADAL" clId="{2F9C920F-B837-426B-B15A-4F4274BFBB22}" dt="2023-05-22T13:44:37.740" v="7149" actId="729"/>
        <pc:sldMkLst>
          <pc:docMk/>
          <pc:sldMk cId="228672105" sldId="272"/>
        </pc:sldMkLst>
      </pc:sldChg>
      <pc:sldChg chg="modSp new mod">
        <pc:chgData name="KONGKAEW, PUTTIWAT" userId="a8adac1e-848f-4d84-b961-6a7ffb648b49" providerId="ADAL" clId="{2F9C920F-B837-426B-B15A-4F4274BFBB22}" dt="2023-05-22T14:50:01.941" v="7688" actId="20577"/>
        <pc:sldMkLst>
          <pc:docMk/>
          <pc:sldMk cId="3517991577" sldId="273"/>
        </pc:sldMkLst>
      </pc:sldChg>
      <pc:sldChg chg="addSp delSp modSp add mod">
        <pc:chgData name="KONGKAEW, PUTTIWAT" userId="a8adac1e-848f-4d84-b961-6a7ffb648b49" providerId="ADAL" clId="{2F9C920F-B837-426B-B15A-4F4274BFBB22}" dt="2023-05-22T14:42:09.302" v="7376" actId="207"/>
        <pc:sldMkLst>
          <pc:docMk/>
          <pc:sldMk cId="1700130594" sldId="274"/>
        </pc:sldMkLst>
      </pc:sldChg>
      <pc:sldChg chg="addSp delSp modSp add mod modShow">
        <pc:chgData name="KONGKAEW, PUTTIWAT" userId="a8adac1e-848f-4d84-b961-6a7ffb648b49" providerId="ADAL" clId="{2F9C920F-B837-426B-B15A-4F4274BFBB22}" dt="2023-05-22T12:57:53.849" v="7148" actId="20577"/>
        <pc:sldMkLst>
          <pc:docMk/>
          <pc:sldMk cId="305923836" sldId="275"/>
        </pc:sldMkLst>
      </pc:sldChg>
      <pc:sldChg chg="addSp delSp modSp add mod">
        <pc:chgData name="KONGKAEW, PUTTIWAT" userId="a8adac1e-848f-4d84-b961-6a7ffb648b49" providerId="ADAL" clId="{2F9C920F-B837-426B-B15A-4F4274BFBB22}" dt="2023-05-23T11:11:11.964" v="7741" actId="20577"/>
        <pc:sldMkLst>
          <pc:docMk/>
          <pc:sldMk cId="416478540" sldId="27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urham Title Slide - Purp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8A90D27-1EE3-F443-A7D2-5931046DA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30051" y="1715696"/>
            <a:ext cx="6110541" cy="1702976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30339" y="3439328"/>
            <a:ext cx="4403661" cy="175260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00D209-29C3-9C4E-9400-620833672FB9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4210419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–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3648C85-FF77-1243-A1BC-F5E119410692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520B00-F6B2-4044-9B7C-A0AF81CF1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02FEB56D-D6F9-EA4A-875B-41EA14C50C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339" y="1711007"/>
            <a:ext cx="6118854" cy="1717993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E8B3123-FF8C-844A-AF32-E398D5D5D1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339" y="3440927"/>
            <a:ext cx="6118854" cy="169908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9405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– Gold">
    <p:bg>
      <p:bgPr>
        <a:solidFill>
          <a:srgbClr val="B3BD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BF0C8EC-CEC1-1E49-8701-74845C657EC2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35D9F5-8496-B448-BDF3-A770A998C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280F61-58F6-B94E-BBDE-AF3A4DFEE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339" y="1719320"/>
            <a:ext cx="4403661" cy="1709680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CF0BB2C-981D-4648-84BF-3AB726E622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339" y="3439328"/>
            <a:ext cx="6127166" cy="175260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34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- Yellow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F271313-2368-ED48-883F-AF08E98CF128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rgbClr val="DAC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4096C1-E241-3841-A51E-4EF990D57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4227E8B-64AA-9843-A1E6-D32FE5852D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201" y="1724673"/>
            <a:ext cx="6118241" cy="1704327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DC2FE721-C486-E743-9679-11C2E688E5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339" y="3439328"/>
            <a:ext cx="6114103" cy="1704327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9879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– Red">
    <p:bg>
      <p:bgPr>
        <a:solidFill>
          <a:srgbClr val="B6AA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57009D-7A2F-7A44-B9F1-CFA06BE5032A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rgbClr val="B6A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0AA60C-9C38-BA4B-B9D9-689110619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2AFD60E-A64B-454F-BB00-3D1D83D98A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8379" y="1715926"/>
            <a:ext cx="6113885" cy="1713074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DD3B81F-1531-1847-8EF4-8084216DC8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339" y="3439328"/>
            <a:ext cx="6111925" cy="170559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374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ext Slide - 1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D505B6D-4F86-3C48-8080-517CB56B5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E636AD3-5CDC-4842-BDDA-E7E271BE33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0E4F87FB-CC12-1443-BBFE-FF5434538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20D618D-B42D-4E4C-A0B2-CEAFFCAAE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2"/>
            <a:ext cx="10972800" cy="4312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06F19F1-A836-495E-8BB1-BD41C35C3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2025-08-26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752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ext Slide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E6CB52C-69D4-2E40-9C75-0B0A69BD46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595" y="1579431"/>
            <a:ext cx="5293399" cy="43050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19D9D73-9C44-CC4E-A499-A95DA698415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87013" y="1565379"/>
            <a:ext cx="5293399" cy="43050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339D52AB-719F-5148-B881-B55846584E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B653CFD-B1C0-FA4D-8CA5-5691079A5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20" name="Title Placeholder 1">
            <a:extLst>
              <a:ext uri="{FF2B5EF4-FFF2-40B4-BE49-F238E27FC236}">
                <a16:creationId xmlns:a16="http://schemas.microsoft.com/office/drawing/2014/main" id="{2A40B989-2787-8842-9396-7B3DC6C10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97CA0D1-6FB0-40E3-9574-CB6FFB7EAB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2025-08-26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462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ext Slide - 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71ACDF6-911F-3A46-9339-2E6D636F5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579432"/>
            <a:ext cx="3465875" cy="435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4CDE47C-1C9C-EE43-941D-61ACDC43FA3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363063" y="1579432"/>
            <a:ext cx="3465875" cy="435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6D72344-2758-804A-83A6-874BE73F1E13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8116525" y="1579432"/>
            <a:ext cx="3465875" cy="435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ECA4776C-6109-1B44-8627-BF9BF60267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FC3067B0-76E8-B24C-8BED-3E4D11544B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22" name="Title Placeholder 1">
            <a:extLst>
              <a:ext uri="{FF2B5EF4-FFF2-40B4-BE49-F238E27FC236}">
                <a16:creationId xmlns:a16="http://schemas.microsoft.com/office/drawing/2014/main" id="{5CCEC413-2126-3A40-AB0C-7798BE145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D37EB5F9-DB81-4627-A50A-BC9BA90362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2025-08-26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45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Breaker Slide">
    <p:bg>
      <p:bgPr>
        <a:solidFill>
          <a:srgbClr val="A5C8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1"/>
          </p:nvPr>
        </p:nvSpPr>
        <p:spPr>
          <a:xfrm>
            <a:off x="2844658" y="1632944"/>
            <a:ext cx="6891867" cy="388620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333"/>
              </a:spcBef>
              <a:buNone/>
              <a:defRPr sz="3200">
                <a:solidFill>
                  <a:srgbClr val="54145A"/>
                </a:solidFill>
                <a:latin typeface="Arial"/>
                <a:cs typeface="Arial"/>
              </a:defRPr>
            </a:lvl1pPr>
            <a:lvl2pPr marL="383990" indent="-383990">
              <a:spcBef>
                <a:spcPts val="1333"/>
              </a:spcBef>
              <a:buClr>
                <a:srgbClr val="68246D"/>
              </a:buClr>
              <a:buFont typeface="Arial"/>
              <a:buChar char="•"/>
              <a:defRPr sz="3200">
                <a:solidFill>
                  <a:srgbClr val="54145A"/>
                </a:solidFill>
                <a:latin typeface="Arial"/>
                <a:cs typeface="Arial"/>
              </a:defRPr>
            </a:lvl2pPr>
            <a:lvl3pPr marL="767981" indent="-383990">
              <a:spcBef>
                <a:spcPts val="1333"/>
              </a:spcBef>
              <a:buFont typeface="Lucida Grande"/>
              <a:buChar char="–"/>
              <a:defRPr sz="3200">
                <a:solidFill>
                  <a:srgbClr val="54145A"/>
                </a:solidFill>
                <a:latin typeface="Arial"/>
                <a:cs typeface="Arial"/>
              </a:defRPr>
            </a:lvl3pPr>
            <a:lvl4pPr>
              <a:defRPr sz="2400">
                <a:latin typeface="Arial"/>
                <a:cs typeface="Arial"/>
              </a:defRPr>
            </a:lvl4pPr>
            <a:lvl5pPr>
              <a:defRPr sz="2400">
                <a:latin typeface="Arial"/>
                <a:cs typeface="Arial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713C0271-61E8-3643-AC5E-CC5BA87682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6AEFB0F-5910-934A-9E01-33E678E781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9C77399-CCB3-4912-A057-95E89E3CE6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2025-08-26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2099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80124C-B70E-A34A-B7FE-6F2D1A2512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6895" y="6057176"/>
            <a:ext cx="1316861" cy="73268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297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77A3A-B0C4-4B8D-83EB-985F2FBB4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2025-08-26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838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l" defTabSz="609585" rtl="0" eaLnBrk="1" latinLnBrk="0" hangingPunct="1">
        <a:spcBef>
          <a:spcPct val="0"/>
        </a:spcBef>
        <a:buNone/>
        <a:defRPr sz="48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3733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CFEA5-F209-9E3C-F823-8A4935D7A4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Checking SOAPY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6E36B1-8BE0-62FE-C505-EAE387BD19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PhD meeting</a:t>
            </a:r>
          </a:p>
          <a:p>
            <a:r>
              <a:rPr lang="en-GB" dirty="0"/>
              <a:t>Puttiwat Kongkaew</a:t>
            </a:r>
          </a:p>
          <a:p>
            <a:r>
              <a:rPr lang="en-GB" dirty="0"/>
              <a:t>22 May 2023</a:t>
            </a:r>
          </a:p>
        </p:txBody>
      </p:sp>
    </p:spTree>
    <p:extLst>
      <p:ext uri="{BB962C8B-B14F-4D97-AF65-F5344CB8AC3E}">
        <p14:creationId xmlns:p14="http://schemas.microsoft.com/office/powerpoint/2010/main" val="1377385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81A1FB-969D-CA76-FEC8-ACCEB85F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Includes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F00CE5-67BD-862A-FF10-18676DB6F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Summary of two week ago</a:t>
            </a:r>
          </a:p>
          <a:p>
            <a:r>
              <a:rPr lang="en-GB" dirty="0"/>
              <a:t>Interaction &amp; Control matrix</a:t>
            </a:r>
          </a:p>
          <a:p>
            <a:r>
              <a:rPr lang="en-GB" dirty="0"/>
              <a:t>DM</a:t>
            </a:r>
          </a:p>
          <a:p>
            <a:r>
              <a:rPr lang="en-GB" dirty="0"/>
              <a:t>Temporal error</a:t>
            </a:r>
          </a:p>
          <a:p>
            <a:r>
              <a:rPr lang="en-GB" dirty="0"/>
              <a:t>Plan for next week</a:t>
            </a:r>
          </a:p>
        </p:txBody>
      </p:sp>
    </p:spTree>
    <p:extLst>
      <p:ext uri="{BB962C8B-B14F-4D97-AF65-F5344CB8AC3E}">
        <p14:creationId xmlns:p14="http://schemas.microsoft.com/office/powerpoint/2010/main" val="941823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D857D-41FD-0F6A-D9D1-6E13B0259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 of two week ago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7D7C0-2543-AF19-3CA4-6474A75C46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Still writing a chapter of thesis: IG-tilt</a:t>
            </a:r>
          </a:p>
          <a:p>
            <a:r>
              <a:rPr lang="en-GB" dirty="0"/>
              <a:t>Discussed on the next research topic</a:t>
            </a:r>
          </a:p>
          <a:p>
            <a:pPr lvl="1"/>
            <a:r>
              <a:rPr lang="en-GB" dirty="0"/>
              <a:t>Theme?: MCAO with propagation effect: Solar &amp; communication</a:t>
            </a:r>
          </a:p>
          <a:p>
            <a:pPr lvl="1"/>
            <a:r>
              <a:rPr lang="en-GB" dirty="0"/>
              <a:t>The first topic was measuring turbulence in one line-of-sight.</a:t>
            </a:r>
          </a:p>
          <a:p>
            <a:pPr lvl="1"/>
            <a:r>
              <a:rPr lang="en-GB" dirty="0"/>
              <a:t>Next: more line of sight </a:t>
            </a:r>
            <a:r>
              <a:rPr lang="en-GB" dirty="0">
                <a:sym typeface="Wingdings" panose="05000000000000000000" pitchFamily="2" charset="2"/>
              </a:rPr>
              <a:t> </a:t>
            </a:r>
            <a:r>
              <a:rPr lang="en-GB" dirty="0"/>
              <a:t>turbulence profiling.</a:t>
            </a:r>
          </a:p>
        </p:txBody>
      </p:sp>
    </p:spTree>
    <p:extLst>
      <p:ext uri="{BB962C8B-B14F-4D97-AF65-F5344CB8AC3E}">
        <p14:creationId xmlns:p14="http://schemas.microsoft.com/office/powerpoint/2010/main" val="2308169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116D4-C509-3C55-8C56-52CC2FB3C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 of two week ago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22EB8-789B-D109-EE65-E06E89CC0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Long target: compare MCAO between with and without propagation effect</a:t>
            </a:r>
          </a:p>
          <a:p>
            <a:r>
              <a:rPr lang="en-GB" dirty="0"/>
              <a:t>Short target: get soapy MCAO up and running</a:t>
            </a:r>
          </a:p>
          <a:p>
            <a:r>
              <a:rPr lang="en-GB" dirty="0"/>
              <a:t>To do list</a:t>
            </a:r>
          </a:p>
          <a:p>
            <a:pPr lvl="1"/>
            <a:r>
              <a:rPr lang="en-GB" dirty="0"/>
              <a:t>Write thesis chapter</a:t>
            </a:r>
          </a:p>
          <a:p>
            <a:pPr lvl="1"/>
            <a:r>
              <a:rPr lang="en-GB" dirty="0"/>
              <a:t>Set SOAPY in daytime turbulence</a:t>
            </a:r>
          </a:p>
          <a:p>
            <a:pPr lvl="2"/>
            <a:r>
              <a:rPr lang="en-GB" dirty="0"/>
              <a:t>Infinite phase screen doesn’t always generate high enough resolution. There are solutions, but I have not tested.</a:t>
            </a:r>
          </a:p>
          <a:p>
            <a:pPr lvl="1"/>
            <a:r>
              <a:rPr lang="en-GB" dirty="0"/>
              <a:t>Set propagation in SOAPY</a:t>
            </a:r>
          </a:p>
          <a:p>
            <a:pPr lvl="2"/>
            <a:r>
              <a:rPr lang="en-GB" dirty="0"/>
              <a:t>SOAPY has it, but I am not confident if it will satisfy constraints.</a:t>
            </a:r>
            <a:r>
              <a:rPr lang="th-TH" dirty="0"/>
              <a:t> </a:t>
            </a:r>
            <a:r>
              <a:rPr lang="en-GB" dirty="0"/>
              <a:t>If not this can be implemented later.</a:t>
            </a:r>
          </a:p>
          <a:p>
            <a:pPr lvl="1"/>
            <a:r>
              <a:rPr lang="en-GB" dirty="0"/>
              <a:t>Test SOAPY without propagation effect (Starting last week)</a:t>
            </a:r>
          </a:p>
        </p:txBody>
      </p:sp>
    </p:spTree>
    <p:extLst>
      <p:ext uri="{BB962C8B-B14F-4D97-AF65-F5344CB8AC3E}">
        <p14:creationId xmlns:p14="http://schemas.microsoft.com/office/powerpoint/2010/main" val="1589057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5582B-44AA-052F-4F7D-CB73F3FE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 &amp; control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A3C6E-D438-3155-AFCB-6BD39A718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WFS = IM * DM</a:t>
            </a:r>
          </a:p>
          <a:p>
            <a:r>
              <a:rPr lang="en-GB" dirty="0"/>
              <a:t>DM = CM * WFS</a:t>
            </a:r>
          </a:p>
          <a:p>
            <a:r>
              <a:rPr lang="en-GB" dirty="0"/>
              <a:t>CM = pseudo-inverse(IM)</a:t>
            </a:r>
          </a:p>
          <a:p>
            <a:r>
              <a:rPr lang="en-GB" dirty="0"/>
              <a:t>Something around here.</a:t>
            </a:r>
          </a:p>
        </p:txBody>
      </p:sp>
    </p:spTree>
    <p:extLst>
      <p:ext uri="{BB962C8B-B14F-4D97-AF65-F5344CB8AC3E}">
        <p14:creationId xmlns:p14="http://schemas.microsoft.com/office/powerpoint/2010/main" val="4196541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CE02-AB96-8FD1-550A-5EAD190CC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 &amp; control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71252-5477-A1BF-5944-6E9250CA12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Generating interaction matrix with SOAPY</a:t>
            </a:r>
          </a:p>
          <a:p>
            <a:r>
              <a:rPr lang="en-GB" dirty="0"/>
              <a:t>Poking 1 DM actuator/mode</a:t>
            </a:r>
            <a:br>
              <a:rPr lang="en-GB" dirty="0"/>
            </a:br>
            <a:r>
              <a:rPr lang="en-GB" dirty="0"/>
              <a:t>get 1 ‘row’ of IM from WFS</a:t>
            </a:r>
          </a:p>
          <a:p>
            <a:r>
              <a:rPr lang="en-GB" dirty="0"/>
              <a:t>Try to have max value</a:t>
            </a:r>
            <a:br>
              <a:rPr lang="en-GB" dirty="0"/>
            </a:br>
            <a:r>
              <a:rPr lang="en-GB" dirty="0"/>
              <a:t>at 1 by changing </a:t>
            </a:r>
            <a:r>
              <a:rPr lang="en-GB" dirty="0" err="1"/>
              <a:t>iMatValues</a:t>
            </a:r>
            <a:endParaRPr lang="en-GB" dirty="0"/>
          </a:p>
          <a:p>
            <a:r>
              <a:rPr lang="en-GB" dirty="0"/>
              <a:t>Using Fried geometry</a:t>
            </a:r>
          </a:p>
          <a:p>
            <a:r>
              <a:rPr lang="en-GB" dirty="0"/>
              <a:t>1 tip/tilt &amp; 1 high order</a:t>
            </a:r>
          </a:p>
        </p:txBody>
      </p:sp>
      <p:pic>
        <p:nvPicPr>
          <p:cNvPr id="5" name="Picture 4" descr="A picture containing text, diagram, line, screenshot&#10;&#10;Description automatically generated">
            <a:extLst>
              <a:ext uri="{FF2B5EF4-FFF2-40B4-BE49-F238E27FC236}">
                <a16:creationId xmlns:a16="http://schemas.microsoft.com/office/drawing/2014/main" id="{C068D99A-DD4D-6BE8-9DA1-8CA84F5AAD0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65" t="8212" r="10484" b="48916"/>
          <a:stretch/>
        </p:blipFill>
        <p:spPr>
          <a:xfrm>
            <a:off x="7208668" y="2343795"/>
            <a:ext cx="4607511" cy="36575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D8E3D8-D238-127E-0BC5-9F28016659C6}"/>
              </a:ext>
            </a:extLst>
          </p:cNvPr>
          <p:cNvSpPr txBox="1"/>
          <p:nvPr/>
        </p:nvSpPr>
        <p:spPr>
          <a:xfrm>
            <a:off x="8815526" y="674408"/>
            <a:ext cx="31552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Find out what’s the unit</a:t>
            </a:r>
          </a:p>
        </p:txBody>
      </p:sp>
    </p:spTree>
    <p:extLst>
      <p:ext uri="{BB962C8B-B14F-4D97-AF65-F5344CB8AC3E}">
        <p14:creationId xmlns:p14="http://schemas.microsoft.com/office/powerpoint/2010/main" val="3512462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 descr="A picture containing diagram, line, text, plot&#10;&#10;Description automatically generated">
            <a:extLst>
              <a:ext uri="{FF2B5EF4-FFF2-40B4-BE49-F238E27FC236}">
                <a16:creationId xmlns:a16="http://schemas.microsoft.com/office/drawing/2014/main" id="{A407B89A-8E0C-26A4-3BEE-4CBF052C4176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0" y="1732558"/>
            <a:ext cx="5294313" cy="3970734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045D4-330A-CF77-D36E-471A9BB23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 &amp; control matrix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B7ED98-808B-C010-9DA4-7643E7913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Control matrix is a pseudo-inverse of interaction matrix</a:t>
            </a:r>
          </a:p>
          <a:p>
            <a:r>
              <a:rPr lang="en-GB" dirty="0"/>
              <a:t>Depend on singular value decomposition (</a:t>
            </a:r>
            <a:r>
              <a:rPr lang="en-GB" dirty="0" err="1"/>
              <a:t>svd</a:t>
            </a:r>
            <a:r>
              <a:rPr lang="en-GB" dirty="0"/>
              <a:t>)</a:t>
            </a:r>
          </a:p>
          <a:p>
            <a:r>
              <a:rPr lang="en-GB" u="sng" dirty="0"/>
              <a:t>SVD varies for different matrices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AB03EB-A88C-4D00-F57C-EF95D19A84E4}"/>
              </a:ext>
            </a:extLst>
          </p:cNvPr>
          <p:cNvCxnSpPr>
            <a:cxnSpLocks/>
          </p:cNvCxnSpPr>
          <p:nvPr/>
        </p:nvCxnSpPr>
        <p:spPr>
          <a:xfrm>
            <a:off x="9667783" y="1732558"/>
            <a:ext cx="106532" cy="2910463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4BF7EA2-81F2-DE04-DBDA-EB75F16833A8}"/>
              </a:ext>
            </a:extLst>
          </p:cNvPr>
          <p:cNvCxnSpPr>
            <a:cxnSpLocks/>
          </p:cNvCxnSpPr>
          <p:nvPr/>
        </p:nvCxnSpPr>
        <p:spPr>
          <a:xfrm flipH="1">
            <a:off x="9907480" y="1732558"/>
            <a:ext cx="727969" cy="331883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209912B-7BBE-148B-E38C-AFB5DCB93020}"/>
              </a:ext>
            </a:extLst>
          </p:cNvPr>
          <p:cNvSpPr txBox="1"/>
          <p:nvPr/>
        </p:nvSpPr>
        <p:spPr>
          <a:xfrm>
            <a:off x="9328321" y="1363226"/>
            <a:ext cx="188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Suitable </a:t>
            </a:r>
            <a:r>
              <a:rPr lang="en-GB" dirty="0" err="1"/>
              <a:t>svd</a:t>
            </a:r>
            <a:r>
              <a:rPr lang="en-GB" dirty="0"/>
              <a:t> range</a:t>
            </a:r>
          </a:p>
        </p:txBody>
      </p:sp>
    </p:spTree>
    <p:extLst>
      <p:ext uri="{BB962C8B-B14F-4D97-AF65-F5344CB8AC3E}">
        <p14:creationId xmlns:p14="http://schemas.microsoft.com/office/powerpoint/2010/main" val="4010335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picture containing text, screenshot, diagram, colorfulness&#10;&#10;Description automatically generated">
            <a:extLst>
              <a:ext uri="{FF2B5EF4-FFF2-40B4-BE49-F238E27FC236}">
                <a16:creationId xmlns:a16="http://schemas.microsoft.com/office/drawing/2014/main" id="{9F9D51E8-F4CD-C453-5281-C565FB4907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22" t="6949" r="53149" b="7542"/>
          <a:stretch/>
        </p:blipFill>
        <p:spPr>
          <a:xfrm>
            <a:off x="515672" y="1763478"/>
            <a:ext cx="2592280" cy="4277776"/>
          </a:xfrm>
        </p:spPr>
      </p:pic>
      <p:pic>
        <p:nvPicPr>
          <p:cNvPr id="8" name="Content Placeholder 7" descr="A picture containing text, diagram, screenshot, line&#10;&#10;Description automatically generated">
            <a:extLst>
              <a:ext uri="{FF2B5EF4-FFF2-40B4-BE49-F238E27FC236}">
                <a16:creationId xmlns:a16="http://schemas.microsoft.com/office/drawing/2014/main" id="{354184CC-52E9-0168-5C61-12D122E147F0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393" t="7490" r="11317" b="7028"/>
          <a:stretch/>
        </p:blipFill>
        <p:spPr>
          <a:xfrm>
            <a:off x="9880847" y="2334827"/>
            <a:ext cx="2311154" cy="3706427"/>
          </a:xfr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6F4724E-6847-3FB2-C7FA-4083CC5BD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 &amp; control matrix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BC6A47-0499-A3D0-D9A4-C1B955594EA2}"/>
              </a:ext>
            </a:extLst>
          </p:cNvPr>
          <p:cNvSpPr txBox="1"/>
          <p:nvPr/>
        </p:nvSpPr>
        <p:spPr>
          <a:xfrm>
            <a:off x="8886548" y="541059"/>
            <a:ext cx="3332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/>
              <a:t>Bad</a:t>
            </a:r>
            <a:r>
              <a:rPr lang="en-GB" sz="2800" dirty="0"/>
              <a:t> </a:t>
            </a:r>
            <a:r>
              <a:rPr lang="en-GB" sz="2800" dirty="0" err="1"/>
              <a:t>svd</a:t>
            </a:r>
            <a:r>
              <a:rPr lang="en-GB" sz="2800" dirty="0"/>
              <a:t> values</a:t>
            </a:r>
          </a:p>
        </p:txBody>
      </p:sp>
      <p:pic>
        <p:nvPicPr>
          <p:cNvPr id="10" name="Content Placeholder 5" descr="A picture containing text, screenshot, diagram, colorfulness&#10;&#10;Description automatically generated">
            <a:extLst>
              <a:ext uri="{FF2B5EF4-FFF2-40B4-BE49-F238E27FC236}">
                <a16:creationId xmlns:a16="http://schemas.microsoft.com/office/drawing/2014/main" id="{41C4892F-4BCD-20C1-0285-522737CE71F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14" t="6949" r="10907" b="7542"/>
          <a:stretch/>
        </p:blipFill>
        <p:spPr>
          <a:xfrm>
            <a:off x="3107952" y="1792251"/>
            <a:ext cx="2676618" cy="4249003"/>
          </a:xfrm>
          <a:prstGeom prst="rect">
            <a:avLst/>
          </a:prstGeom>
        </p:spPr>
      </p:pic>
      <p:pic>
        <p:nvPicPr>
          <p:cNvPr id="11" name="Content Placeholder 7" descr="A picture containing text, diagram, screenshot, line&#10;&#10;Description automatically generated">
            <a:extLst>
              <a:ext uri="{FF2B5EF4-FFF2-40B4-BE49-F238E27FC236}">
                <a16:creationId xmlns:a16="http://schemas.microsoft.com/office/drawing/2014/main" id="{21FD727B-D7D3-8EDF-998A-3B57D5F5557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01" t="7490" r="53405" b="7028"/>
          <a:stretch/>
        </p:blipFill>
        <p:spPr>
          <a:xfrm>
            <a:off x="7637075" y="2334827"/>
            <a:ext cx="2243772" cy="3706427"/>
          </a:xfrm>
          <a:prstGeom prst="rect">
            <a:avLst/>
          </a:prstGeom>
        </p:spPr>
      </p:pic>
      <p:pic>
        <p:nvPicPr>
          <p:cNvPr id="12" name="Content Placeholder 7" descr="A picture containing text, diagram, screenshot, line&#10;&#10;Description automatically generated">
            <a:extLst>
              <a:ext uri="{FF2B5EF4-FFF2-40B4-BE49-F238E27FC236}">
                <a16:creationId xmlns:a16="http://schemas.microsoft.com/office/drawing/2014/main" id="{5C974149-A5E0-39AB-8322-B3A9F1FC1D2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393" t="7490" r="11317" b="7028"/>
          <a:stretch/>
        </p:blipFill>
        <p:spPr>
          <a:xfrm>
            <a:off x="9084762" y="1756193"/>
            <a:ext cx="2843868" cy="4560747"/>
          </a:xfrm>
          <a:prstGeom prst="rect">
            <a:avLst/>
          </a:prstGeom>
        </p:spPr>
      </p:pic>
      <p:pic>
        <p:nvPicPr>
          <p:cNvPr id="13" name="Content Placeholder 7" descr="A picture containing text, diagram, screenshot, line&#10;&#10;Description automatically generated">
            <a:extLst>
              <a:ext uri="{FF2B5EF4-FFF2-40B4-BE49-F238E27FC236}">
                <a16:creationId xmlns:a16="http://schemas.microsoft.com/office/drawing/2014/main" id="{6E178030-1D75-A012-F387-175324EBAA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01" t="7490" r="53405" b="7028"/>
          <a:stretch/>
        </p:blipFill>
        <p:spPr>
          <a:xfrm>
            <a:off x="6856521" y="1756193"/>
            <a:ext cx="2760955" cy="45607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93E4F23-B533-DEED-0D22-63EF93B548F8}"/>
              </a:ext>
            </a:extLst>
          </p:cNvPr>
          <p:cNvSpPr txBox="1"/>
          <p:nvPr/>
        </p:nvSpPr>
        <p:spPr>
          <a:xfrm>
            <a:off x="1038687" y="1417639"/>
            <a:ext cx="146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Too high (0.5)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EC5F96-60B7-7CAC-5F7F-853F7FC43516}"/>
              </a:ext>
            </a:extLst>
          </p:cNvPr>
          <p:cNvSpPr txBox="1"/>
          <p:nvPr/>
        </p:nvSpPr>
        <p:spPr>
          <a:xfrm>
            <a:off x="9084762" y="1232974"/>
            <a:ext cx="1514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Too low (0.01)</a:t>
            </a:r>
          </a:p>
        </p:txBody>
      </p:sp>
    </p:spTree>
    <p:extLst>
      <p:ext uri="{BB962C8B-B14F-4D97-AF65-F5344CB8AC3E}">
        <p14:creationId xmlns:p14="http://schemas.microsoft.com/office/powerpoint/2010/main" val="2311548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CE02-AB96-8FD1-550A-5EAD190CC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 &amp; control matrix</a:t>
            </a:r>
          </a:p>
        </p:txBody>
      </p:sp>
      <p:pic>
        <p:nvPicPr>
          <p:cNvPr id="5" name="Picture 4" descr="A picture containing text, diagram, line, screenshot&#10;&#10;Description automatically generated">
            <a:extLst>
              <a:ext uri="{FF2B5EF4-FFF2-40B4-BE49-F238E27FC236}">
                <a16:creationId xmlns:a16="http://schemas.microsoft.com/office/drawing/2014/main" id="{C068D99A-DD4D-6BE8-9DA1-8CA84F5AAD0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6" t="9219" r="53814" b="8515"/>
          <a:stretch/>
        </p:blipFill>
        <p:spPr>
          <a:xfrm>
            <a:off x="6569476" y="2311507"/>
            <a:ext cx="2334827" cy="3935059"/>
          </a:xfrm>
          <a:prstGeom prst="rect">
            <a:avLst/>
          </a:prstGeom>
        </p:spPr>
      </p:pic>
      <p:pic>
        <p:nvPicPr>
          <p:cNvPr id="4" name="Picture 3" descr="A picture containing text, diagram, line, screenshot&#10;&#10;Description automatically generated">
            <a:extLst>
              <a:ext uri="{FF2B5EF4-FFF2-40B4-BE49-F238E27FC236}">
                <a16:creationId xmlns:a16="http://schemas.microsoft.com/office/drawing/2014/main" id="{355C15AB-82DB-2A20-DFA3-A9B09D7E28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4" t="8119" r="10728" b="6879"/>
          <a:stretch/>
        </p:blipFill>
        <p:spPr>
          <a:xfrm>
            <a:off x="8904303" y="2311507"/>
            <a:ext cx="2553179" cy="4065972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70CB3F-8DBB-9E37-1AEE-859874923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Good </a:t>
            </a:r>
            <a:r>
              <a:rPr lang="en-GB" dirty="0" err="1"/>
              <a:t>svd</a:t>
            </a:r>
            <a:r>
              <a:rPr lang="en-GB" dirty="0"/>
              <a:t> (0.12)</a:t>
            </a:r>
          </a:p>
          <a:p>
            <a:r>
              <a:rPr lang="en-GB" dirty="0"/>
              <a:t>IM &amp; CC is pronounced.</a:t>
            </a:r>
          </a:p>
          <a:p>
            <a:r>
              <a:rPr lang="en-GB" dirty="0"/>
              <a:t>IM*CC looks similar to I.</a:t>
            </a:r>
          </a:p>
        </p:txBody>
      </p:sp>
    </p:spTree>
    <p:extLst>
      <p:ext uri="{BB962C8B-B14F-4D97-AF65-F5344CB8AC3E}">
        <p14:creationId xmlns:p14="http://schemas.microsoft.com/office/powerpoint/2010/main" val="2826037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89D0A-C7C1-4C13-F0F8-7A59F6EC0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DM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3803E-6C2F-4F89-873A-33FF5D5F6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In condition which other sources of errors are negligible, DM error will show up</a:t>
            </a:r>
          </a:p>
          <a:p>
            <a:pPr lvl="1"/>
            <a:r>
              <a:rPr lang="en-GB" dirty="0"/>
              <a:t>0 wind speed</a:t>
            </a:r>
          </a:p>
          <a:p>
            <a:pPr lvl="1"/>
            <a:r>
              <a:rPr lang="en-GB" dirty="0"/>
              <a:t>run </a:t>
            </a:r>
            <a:r>
              <a:rPr lang="en-GB" dirty="0" err="1"/>
              <a:t>aoloop</a:t>
            </a:r>
            <a:r>
              <a:rPr lang="en-GB" dirty="0"/>
              <a:t> for long time until performance is converging some value.</a:t>
            </a:r>
          </a:p>
          <a:p>
            <a:pPr lvl="1"/>
            <a:r>
              <a:rPr lang="en-GB" dirty="0"/>
              <a:t>Good enough WFS set up with high flux</a:t>
            </a:r>
          </a:p>
          <a:p>
            <a:pPr lvl="1"/>
            <a:r>
              <a:rPr lang="en-GB" dirty="0"/>
              <a:t>Fix DM, WFS, </a:t>
            </a:r>
            <a:r>
              <a:rPr lang="en-GB" dirty="0" err="1"/>
              <a:t>svd</a:t>
            </a:r>
            <a:endParaRPr lang="en-GB" dirty="0"/>
          </a:p>
          <a:p>
            <a:pPr lvl="1"/>
            <a:r>
              <a:rPr lang="en-GB" dirty="0"/>
              <a:t>Vary r0, measure instant Strehl ratio which it converges to</a:t>
            </a:r>
          </a:p>
          <a:p>
            <a:pPr lvl="1"/>
            <a:r>
              <a:rPr lang="en-GB" dirty="0"/>
              <a:t>Compare to theory</a:t>
            </a:r>
          </a:p>
        </p:txBody>
      </p:sp>
    </p:spTree>
    <p:extLst>
      <p:ext uri="{BB962C8B-B14F-4D97-AF65-F5344CB8AC3E}">
        <p14:creationId xmlns:p14="http://schemas.microsoft.com/office/powerpoint/2010/main" val="2129425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4BE1-D869-4DFF-92D7-4722B955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DM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3FD2692-136B-A8E2-AD6F-8348F9FE96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</a:rPr>
                          <m:t>rad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5/3</m:t>
                        </m:r>
                      </m:sup>
                    </m:sSup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GB" dirty="0"/>
                  <a:t>: DM subaperture diameter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</a:rPr>
                          <m:t>rad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GB" dirty="0"/>
                  <a:t>: wavefront phase error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: turbulence strength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dirty="0"/>
                  <a:t>: DM fitting parameter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3FD2692-136B-A8E2-AD6F-8348F9FE96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r="-2417" b="-2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4" descr="A picture containing text, screenshot, line, diagram&#10;&#10;Description automatically generated">
            <a:extLst>
              <a:ext uri="{FF2B5EF4-FFF2-40B4-BE49-F238E27FC236}">
                <a16:creationId xmlns:a16="http://schemas.microsoft.com/office/drawing/2014/main" id="{A14468BA-5426-B2BF-B06C-C3EF064C53C3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0" y="1969686"/>
            <a:ext cx="5294313" cy="3496478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92AEA43-734C-4248-9677-DD285147B35C}"/>
              </a:ext>
            </a:extLst>
          </p:cNvPr>
          <p:cNvCxnSpPr>
            <a:cxnSpLocks/>
          </p:cNvCxnSpPr>
          <p:nvPr/>
        </p:nvCxnSpPr>
        <p:spPr>
          <a:xfrm flipH="1">
            <a:off x="7334250" y="754602"/>
            <a:ext cx="87482" cy="4169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A00F1EC-6D6C-E77F-916D-26EF496055C1}"/>
              </a:ext>
            </a:extLst>
          </p:cNvPr>
          <p:cNvSpPr txBox="1"/>
          <p:nvPr/>
        </p:nvSpPr>
        <p:spPr>
          <a:xfrm>
            <a:off x="7013359" y="385270"/>
            <a:ext cx="896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r0=5cm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911DB9-C16E-D1E4-3EDB-8ADF198FE109}"/>
              </a:ext>
            </a:extLst>
          </p:cNvPr>
          <p:cNvCxnSpPr>
            <a:cxnSpLocks/>
          </p:cNvCxnSpPr>
          <p:nvPr/>
        </p:nvCxnSpPr>
        <p:spPr>
          <a:xfrm>
            <a:off x="11026066" y="846139"/>
            <a:ext cx="118184" cy="6111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05202DE-4685-6DCA-C502-F74D557BC16F}"/>
              </a:ext>
            </a:extLst>
          </p:cNvPr>
          <p:cNvSpPr txBox="1"/>
          <p:nvPr/>
        </p:nvSpPr>
        <p:spPr>
          <a:xfrm>
            <a:off x="9685537" y="432419"/>
            <a:ext cx="1978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Weaker turbulence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7A6605-9637-3E0B-FFE0-B92AE7F86E60}"/>
              </a:ext>
            </a:extLst>
          </p:cNvPr>
          <p:cNvSpPr txBox="1"/>
          <p:nvPr/>
        </p:nvSpPr>
        <p:spPr>
          <a:xfrm>
            <a:off x="6810283" y="5549400"/>
            <a:ext cx="46879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When turbulence is stronger than DM spacing,</a:t>
            </a:r>
          </a:p>
          <a:p>
            <a:r>
              <a:rPr lang="en-GB" dirty="0"/>
              <a:t>the error becomes higher than Kolmogorov-like.</a:t>
            </a:r>
          </a:p>
          <a:p>
            <a:r>
              <a:rPr lang="en-GB" dirty="0"/>
              <a:t>Supposedly </a:t>
            </a:r>
            <a:r>
              <a:rPr lang="en-GB" dirty="0" err="1"/>
              <a:t>becauseWFSerror</a:t>
            </a:r>
            <a:r>
              <a:rPr lang="en-GB" dirty="0"/>
              <a:t> becomes larger.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8B5480-DE92-0771-AA8B-6BF98A2A862D}"/>
              </a:ext>
            </a:extLst>
          </p:cNvPr>
          <p:cNvSpPr txBox="1"/>
          <p:nvPr/>
        </p:nvSpPr>
        <p:spPr>
          <a:xfrm rot="16200000">
            <a:off x="5481637" y="3348037"/>
            <a:ext cx="1571625" cy="5143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EFB6A19-7C80-54F0-E98F-470AD9F31098}"/>
              </a:ext>
            </a:extLst>
          </p:cNvPr>
          <p:cNvGrpSpPr/>
          <p:nvPr/>
        </p:nvGrpSpPr>
        <p:grpSpPr>
          <a:xfrm>
            <a:off x="6219429" y="1857375"/>
            <a:ext cx="4959572" cy="2248279"/>
            <a:chOff x="6219429" y="1857375"/>
            <a:chExt cx="4959572" cy="224827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F516597-E7C5-9821-7DA5-E9ACEEFBD80B}"/>
                </a:ext>
              </a:extLst>
            </p:cNvPr>
            <p:cNvSpPr txBox="1"/>
            <p:nvPr/>
          </p:nvSpPr>
          <p:spPr>
            <a:xfrm>
              <a:off x="7572375" y="1857375"/>
              <a:ext cx="321945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GB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9E2AEDD-2081-284A-D213-07D2E1AC2EC1}"/>
                </a:ext>
              </a:extLst>
            </p:cNvPr>
            <p:cNvSpPr txBox="1"/>
            <p:nvPr/>
          </p:nvSpPr>
          <p:spPr>
            <a:xfrm>
              <a:off x="10448925" y="2362200"/>
              <a:ext cx="723900" cy="51435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GB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70E6F2C-B582-2222-A0FC-E1CB131E8AC4}"/>
                </a:ext>
              </a:extLst>
            </p:cNvPr>
            <p:cNvSpPr txBox="1"/>
            <p:nvPr/>
          </p:nvSpPr>
          <p:spPr>
            <a:xfrm>
              <a:off x="10372725" y="2286000"/>
              <a:ext cx="5469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Mean</a:t>
              </a:r>
              <a:endParaRPr lang="en-GB" sz="200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096EC2-9AB0-71E8-D6B0-0040112B1067}"/>
                </a:ext>
              </a:extLst>
            </p:cNvPr>
            <p:cNvSpPr txBox="1"/>
            <p:nvPr/>
          </p:nvSpPr>
          <p:spPr>
            <a:xfrm>
              <a:off x="10372725" y="2486025"/>
              <a:ext cx="3849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Std</a:t>
              </a:r>
              <a:endParaRPr lang="en-GB" sz="2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4E3EAF0-D998-475B-110D-F125C1BADF40}"/>
                </a:ext>
              </a:extLst>
            </p:cNvPr>
            <p:cNvSpPr txBox="1"/>
            <p:nvPr/>
          </p:nvSpPr>
          <p:spPr>
            <a:xfrm>
              <a:off x="10363200" y="2667000"/>
              <a:ext cx="81580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Measured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925412C-FE44-66DD-28E7-2DC14DFB38C4}"/>
                </a:ext>
              </a:extLst>
            </p:cNvPr>
            <p:cNvSpPr txBox="1"/>
            <p:nvPr/>
          </p:nvSpPr>
          <p:spPr>
            <a:xfrm rot="16200000">
              <a:off x="5800725" y="3409950"/>
              <a:ext cx="111440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RMS OPD (nm)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24687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6F7F8C-C394-98EF-75FD-7F75B6319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DM performance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80C93AC-0F2E-02D6-63F8-8C35656FD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Control system works, as in it converges.</a:t>
            </a:r>
          </a:p>
          <a:p>
            <a:pPr lvl="1"/>
            <a:r>
              <a:rPr lang="en-GB" dirty="0"/>
              <a:t>Is it ‘converging’ properly? – to be tested.</a:t>
            </a:r>
          </a:p>
          <a:p>
            <a:r>
              <a:rPr lang="en-GB" dirty="0"/>
              <a:t>DM performance matches its theoretical performance in Kolmogorov-like turbulence.</a:t>
            </a:r>
          </a:p>
        </p:txBody>
      </p:sp>
    </p:spTree>
    <p:extLst>
      <p:ext uri="{BB962C8B-B14F-4D97-AF65-F5344CB8AC3E}">
        <p14:creationId xmlns:p14="http://schemas.microsoft.com/office/powerpoint/2010/main" val="23636070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27533-C574-CB4D-29B4-DFEC2E0CB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Temporal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896E1-D6E1-A7A8-EB3C-A03BC49B16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Set condition when other source of error is negligible.</a:t>
            </a:r>
          </a:p>
          <a:p>
            <a:pPr lvl="1"/>
            <a:r>
              <a:rPr lang="en-GB" dirty="0"/>
              <a:t>Fix large r0 but not too large</a:t>
            </a:r>
          </a:p>
          <a:p>
            <a:pPr lvl="1"/>
            <a:r>
              <a:rPr lang="en-GB" dirty="0"/>
              <a:t>Fix large L0 to be Kolmogorov-like</a:t>
            </a:r>
          </a:p>
          <a:p>
            <a:pPr lvl="1"/>
            <a:r>
              <a:rPr lang="en-GB" dirty="0"/>
              <a:t>Supposedly good SHWFS with high flux</a:t>
            </a:r>
          </a:p>
          <a:p>
            <a:pPr lvl="1"/>
            <a:r>
              <a:rPr lang="en-GB" dirty="0"/>
              <a:t>Vary wind speed.</a:t>
            </a:r>
          </a:p>
          <a:p>
            <a:pPr lvl="1"/>
            <a:r>
              <a:rPr lang="en-GB" dirty="0"/>
              <a:t>High control gain</a:t>
            </a:r>
          </a:p>
          <a:p>
            <a:pPr lvl="1"/>
            <a:r>
              <a:rPr lang="en-GB" dirty="0"/>
              <a:t>Measure long exposure Strehl ratio</a:t>
            </a:r>
          </a:p>
        </p:txBody>
      </p:sp>
    </p:spTree>
    <p:extLst>
      <p:ext uri="{BB962C8B-B14F-4D97-AF65-F5344CB8AC3E}">
        <p14:creationId xmlns:p14="http://schemas.microsoft.com/office/powerpoint/2010/main" val="1627907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EF44B-1618-6941-E21B-AD134B5A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C9FFEA-B0AE-0F88-F7C1-126BFFDD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  <m:d>
                              <m:d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5/3</m:t>
                                    </m:r>
                                  </m:sup>
                                </m:s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𝑛𝑜𝑟𝑚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.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𝑡𝑢𝑟𝑏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.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𝑑𝑖𝑠𝑡𝑟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3/5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5/3</m:t>
                        </m:r>
                      </m:sup>
                    </m:sSup>
                  </m:oMath>
                </a14:m>
                <a:endParaRPr lang="en-GB" dirty="0"/>
              </a:p>
              <a:p>
                <a:r>
                  <a:rPr lang="en-GB" dirty="0"/>
                  <a:t>DM error must be subtracted out too!!!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C9FFEA-B0AE-0F88-F7C1-126BFFDD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190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5383D-38AA-980C-80ED-E182666F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DF9946-D0A8-BACE-5B8F-BE07FD057DE2}"/>
              </a:ext>
            </a:extLst>
          </p:cNvPr>
          <p:cNvSpPr txBox="1"/>
          <p:nvPr/>
        </p:nvSpPr>
        <p:spPr>
          <a:xfrm>
            <a:off x="5149048" y="458568"/>
            <a:ext cx="3606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DM fitting error is already taken out.</a:t>
            </a:r>
          </a:p>
        </p:txBody>
      </p:sp>
      <p:pic>
        <p:nvPicPr>
          <p:cNvPr id="10" name="Content Placeholder 9" descr="A picture containing text, screenshot, line, diagram&#10;&#10;Description automatically generated">
            <a:extLst>
              <a:ext uri="{FF2B5EF4-FFF2-40B4-BE49-F238E27FC236}">
                <a16:creationId xmlns:a16="http://schemas.microsoft.com/office/drawing/2014/main" id="{E6433B86-FA50-7063-AEEB-6C2061D0F6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423" y="1403451"/>
            <a:ext cx="7036094" cy="4811315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7F8552-520A-8BFC-438D-717DA3C8B897}"/>
              </a:ext>
            </a:extLst>
          </p:cNvPr>
          <p:cNvSpPr txBox="1"/>
          <p:nvPr/>
        </p:nvSpPr>
        <p:spPr>
          <a:xfrm>
            <a:off x="905522" y="1961965"/>
            <a:ext cx="126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Pixel/frame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F8C05F-E020-8EB0-4992-6E972DC50F12}"/>
              </a:ext>
            </a:extLst>
          </p:cNvPr>
          <p:cNvSpPr txBox="1"/>
          <p:nvPr/>
        </p:nvSpPr>
        <p:spPr>
          <a:xfrm>
            <a:off x="7022237" y="3977196"/>
            <a:ext cx="1999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Subaperture/frame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1E3CE0-BB85-2628-242D-9D12A0755B03}"/>
              </a:ext>
            </a:extLst>
          </p:cNvPr>
          <p:cNvSpPr txBox="1"/>
          <p:nvPr/>
        </p:nvSpPr>
        <p:spPr>
          <a:xfrm>
            <a:off x="8979107" y="1034119"/>
            <a:ext cx="3075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Telescope/frame also r0/frame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8CE97E-4742-909A-AA13-E32F341A7478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2169394" y="2146631"/>
            <a:ext cx="1585860" cy="3307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75EEC1C-C4F6-CD60-098B-6404EBD70E5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7332955" y="4346528"/>
            <a:ext cx="689043" cy="11080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F2407C-192E-82AD-266A-81523D79ED7C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9810998" y="1403451"/>
            <a:ext cx="705614" cy="405109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C9D661-5CB2-ABD8-0B5A-36A5F88080F8}"/>
              </a:ext>
            </a:extLst>
          </p:cNvPr>
          <p:cNvSpPr txBox="1"/>
          <p:nvPr/>
        </p:nvSpPr>
        <p:spPr>
          <a:xfrm>
            <a:off x="10022606" y="1961965"/>
            <a:ext cx="1045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L0/frame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2EF6CE6-CC78-94B4-A7CB-A4B2AD25238C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10545378" y="2331297"/>
            <a:ext cx="1368455" cy="147722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72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picture containing text, screenshot, line, plot&#10;&#10;Description automatically generated">
            <a:extLst>
              <a:ext uri="{FF2B5EF4-FFF2-40B4-BE49-F238E27FC236}">
                <a16:creationId xmlns:a16="http://schemas.microsoft.com/office/drawing/2014/main" id="{85815A96-320B-70FB-7496-74C6D2085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045" y="1186712"/>
            <a:ext cx="8043494" cy="550018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15383D-38AA-980C-80ED-E182666F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DF9946-D0A8-BACE-5B8F-BE07FD057DE2}"/>
              </a:ext>
            </a:extLst>
          </p:cNvPr>
          <p:cNvSpPr txBox="1"/>
          <p:nvPr/>
        </p:nvSpPr>
        <p:spPr>
          <a:xfrm>
            <a:off x="5149048" y="458568"/>
            <a:ext cx="3606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DM fitting error is already taken out.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7F8552-520A-8BFC-438D-717DA3C8B897}"/>
              </a:ext>
            </a:extLst>
          </p:cNvPr>
          <p:cNvSpPr txBox="1"/>
          <p:nvPr/>
        </p:nvSpPr>
        <p:spPr>
          <a:xfrm>
            <a:off x="192480" y="1969895"/>
            <a:ext cx="126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Pixel/frame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F8C05F-E020-8EB0-4992-6E972DC50F12}"/>
              </a:ext>
            </a:extLst>
          </p:cNvPr>
          <p:cNvSpPr txBox="1"/>
          <p:nvPr/>
        </p:nvSpPr>
        <p:spPr>
          <a:xfrm>
            <a:off x="4953740" y="1969895"/>
            <a:ext cx="1999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Subaperture/frame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1E3CE0-BB85-2628-242D-9D12A0755B03}"/>
              </a:ext>
            </a:extLst>
          </p:cNvPr>
          <p:cNvSpPr txBox="1"/>
          <p:nvPr/>
        </p:nvSpPr>
        <p:spPr>
          <a:xfrm>
            <a:off x="6577711" y="1441484"/>
            <a:ext cx="1750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Telescope/frame also r0/frame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8CE97E-4742-909A-AA13-E32F341A7478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1456352" y="2154561"/>
            <a:ext cx="1585860" cy="3307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75EEC1C-C4F6-CD60-098B-6404EBD70E5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5264458" y="2339227"/>
            <a:ext cx="689043" cy="11080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F2407C-192E-82AD-266A-81523D79ED7C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6768438" y="2087815"/>
            <a:ext cx="684705" cy="115074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C9D661-5CB2-ABD8-0B5A-36A5F88080F8}"/>
              </a:ext>
            </a:extLst>
          </p:cNvPr>
          <p:cNvSpPr txBox="1"/>
          <p:nvPr/>
        </p:nvSpPr>
        <p:spPr>
          <a:xfrm>
            <a:off x="8565856" y="2321056"/>
            <a:ext cx="1045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L0/frame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2EF6CE6-CC78-94B4-A7CB-A4B2AD25238C}"/>
              </a:ext>
            </a:extLst>
          </p:cNvPr>
          <p:cNvCxnSpPr>
            <a:cxnSpLocks/>
            <a:stCxn id="25" idx="2"/>
          </p:cNvCxnSpPr>
          <p:nvPr/>
        </p:nvCxnSpPr>
        <p:spPr>
          <a:xfrm flipH="1">
            <a:off x="8755100" y="2690388"/>
            <a:ext cx="333528" cy="3546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91A1DDE-3A9A-1146-39A6-784A41BD5174}"/>
              </a:ext>
            </a:extLst>
          </p:cNvPr>
          <p:cNvSpPr txBox="1"/>
          <p:nvPr/>
        </p:nvSpPr>
        <p:spPr>
          <a:xfrm>
            <a:off x="5752730" y="3994951"/>
            <a:ext cx="3935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flatten is caused by averaging effect</a:t>
            </a:r>
          </a:p>
          <a:p>
            <a:r>
              <a:rPr lang="en-GB" dirty="0"/>
              <a:t>from r0 rather than the telescope frame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8B1A58-EEEE-7E68-6B2E-F773815F4C6C}"/>
              </a:ext>
            </a:extLst>
          </p:cNvPr>
          <p:cNvSpPr txBox="1"/>
          <p:nvPr/>
        </p:nvSpPr>
        <p:spPr>
          <a:xfrm>
            <a:off x="9611399" y="458568"/>
            <a:ext cx="21566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Frame rate = 0.0025s</a:t>
            </a:r>
          </a:p>
          <a:p>
            <a:r>
              <a:rPr lang="en-GB" dirty="0"/>
              <a:t>R0 = 5cm??</a:t>
            </a:r>
          </a:p>
          <a:p>
            <a:r>
              <a:rPr lang="en-GB" dirty="0"/>
              <a:t>0.65(d/r)^(5/3)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611E5E-803F-0B4D-B854-E89546432B3B}"/>
              </a:ext>
            </a:extLst>
          </p:cNvPr>
          <p:cNvSpPr txBox="1"/>
          <p:nvPr/>
        </p:nvSpPr>
        <p:spPr>
          <a:xfrm flipH="1">
            <a:off x="10308305" y="2556769"/>
            <a:ext cx="1883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Note down condition for each graph next time.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4B670B-A4E9-FE66-2B14-DD4440328F24}"/>
              </a:ext>
            </a:extLst>
          </p:cNvPr>
          <p:cNvCxnSpPr/>
          <p:nvPr/>
        </p:nvCxnSpPr>
        <p:spPr>
          <a:xfrm flipH="1" flipV="1">
            <a:off x="7453143" y="3238564"/>
            <a:ext cx="3022507" cy="6143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6D7D797-F7C9-390A-195B-2ED85755498E}"/>
              </a:ext>
            </a:extLst>
          </p:cNvPr>
          <p:cNvSpPr txBox="1"/>
          <p:nvPr/>
        </p:nvSpPr>
        <p:spPr>
          <a:xfrm>
            <a:off x="9854539" y="3852909"/>
            <a:ext cx="21469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No AO correction</a:t>
            </a:r>
          </a:p>
          <a:p>
            <a:r>
              <a:rPr lang="en-GB" dirty="0">
                <a:solidFill>
                  <a:srgbClr val="FF0000"/>
                </a:solidFill>
              </a:rPr>
              <a:t>= noll’s no correction</a:t>
            </a:r>
          </a:p>
          <a:p>
            <a:r>
              <a:rPr lang="en-GB" dirty="0">
                <a:solidFill>
                  <a:srgbClr val="FF0000"/>
                </a:solidFill>
              </a:rPr>
              <a:t>error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F15C6BF-7A11-432F-E305-4A6C4FA7E448}"/>
              </a:ext>
            </a:extLst>
          </p:cNvPr>
          <p:cNvCxnSpPr>
            <a:cxnSpLocks/>
          </p:cNvCxnSpPr>
          <p:nvPr/>
        </p:nvCxnSpPr>
        <p:spPr>
          <a:xfrm>
            <a:off x="1456352" y="5140171"/>
            <a:ext cx="12513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B6087D4-9C65-50F0-74CB-DF4CCACB9CD2}"/>
              </a:ext>
            </a:extLst>
          </p:cNvPr>
          <p:cNvSpPr txBox="1"/>
          <p:nvPr/>
        </p:nvSpPr>
        <p:spPr>
          <a:xfrm>
            <a:off x="470517" y="5042517"/>
            <a:ext cx="132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Down here?</a:t>
            </a:r>
          </a:p>
        </p:txBody>
      </p:sp>
    </p:spTree>
    <p:extLst>
      <p:ext uri="{BB962C8B-B14F-4D97-AF65-F5344CB8AC3E}">
        <p14:creationId xmlns:p14="http://schemas.microsoft.com/office/powerpoint/2010/main" val="1700130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6" descr="A picture containing text, screenshot, line, plot&#10;&#10;Description automatically generated">
            <a:extLst>
              <a:ext uri="{FF2B5EF4-FFF2-40B4-BE49-F238E27FC236}">
                <a16:creationId xmlns:a16="http://schemas.microsoft.com/office/drawing/2014/main" id="{D12C46A5-852F-3FB9-DD37-C91E8CC621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2273" y="2028824"/>
            <a:ext cx="3719654" cy="2543517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EB1D0B-2DD5-16F4-1FEC-BB46F82B1B3A}"/>
              </a:ext>
            </a:extLst>
          </p:cNvPr>
          <p:cNvSpPr txBox="1"/>
          <p:nvPr/>
        </p:nvSpPr>
        <p:spPr>
          <a:xfrm>
            <a:off x="5124444" y="4348163"/>
            <a:ext cx="1381125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800" dirty="0"/>
              <a:t>Wind speed (m/s)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9569BB-09EE-3538-0074-FD71C30031B3}"/>
              </a:ext>
            </a:extLst>
          </p:cNvPr>
          <p:cNvSpPr txBox="1"/>
          <p:nvPr/>
        </p:nvSpPr>
        <p:spPr>
          <a:xfrm rot="16200000">
            <a:off x="3133720" y="3024196"/>
            <a:ext cx="1381125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800" dirty="0"/>
              <a:t>RMS OPD (nm)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216EA6-BC94-13DA-558F-58524D67AB3B}"/>
              </a:ext>
            </a:extLst>
          </p:cNvPr>
          <p:cNvSpPr txBox="1"/>
          <p:nvPr/>
        </p:nvSpPr>
        <p:spPr>
          <a:xfrm>
            <a:off x="4548182" y="2176463"/>
            <a:ext cx="981081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632D6A-FD24-F1DA-FC77-414A936DC3C8}"/>
              </a:ext>
            </a:extLst>
          </p:cNvPr>
          <p:cNvSpPr txBox="1"/>
          <p:nvPr/>
        </p:nvSpPr>
        <p:spPr>
          <a:xfrm>
            <a:off x="4448170" y="2114550"/>
            <a:ext cx="6048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/>
              <a:t>Expected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441AF2-8A36-8CF1-EA6D-870B4DAF435B}"/>
              </a:ext>
            </a:extLst>
          </p:cNvPr>
          <p:cNvSpPr txBox="1"/>
          <p:nvPr/>
        </p:nvSpPr>
        <p:spPr>
          <a:xfrm>
            <a:off x="4462458" y="2257425"/>
            <a:ext cx="6048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/>
              <a:t>Measured</a:t>
            </a:r>
          </a:p>
        </p:txBody>
      </p:sp>
    </p:spTree>
    <p:extLst>
      <p:ext uri="{BB962C8B-B14F-4D97-AF65-F5344CB8AC3E}">
        <p14:creationId xmlns:p14="http://schemas.microsoft.com/office/powerpoint/2010/main" val="38104597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picture containing text, screenshot, line, diagram&#10;&#10;Description automatically generated">
            <a:extLst>
              <a:ext uri="{FF2B5EF4-FFF2-40B4-BE49-F238E27FC236}">
                <a16:creationId xmlns:a16="http://schemas.microsoft.com/office/drawing/2014/main" id="{A9990D27-8F06-EA45-443B-CFC54DCB4E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8588" y="1601568"/>
            <a:ext cx="7460781" cy="5063057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15383D-38AA-980C-80ED-E182666F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DF9946-D0A8-BACE-5B8F-BE07FD057DE2}"/>
              </a:ext>
            </a:extLst>
          </p:cNvPr>
          <p:cNvSpPr txBox="1"/>
          <p:nvPr/>
        </p:nvSpPr>
        <p:spPr>
          <a:xfrm>
            <a:off x="5149048" y="458568"/>
            <a:ext cx="3606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DM fitting error is already taken out.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7F8552-520A-8BFC-438D-717DA3C8B897}"/>
              </a:ext>
            </a:extLst>
          </p:cNvPr>
          <p:cNvSpPr txBox="1"/>
          <p:nvPr/>
        </p:nvSpPr>
        <p:spPr>
          <a:xfrm>
            <a:off x="192480" y="1969895"/>
            <a:ext cx="126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Pixel/frame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F8C05F-E020-8EB0-4992-6E972DC50F12}"/>
              </a:ext>
            </a:extLst>
          </p:cNvPr>
          <p:cNvSpPr txBox="1"/>
          <p:nvPr/>
        </p:nvSpPr>
        <p:spPr>
          <a:xfrm>
            <a:off x="4546700" y="1256818"/>
            <a:ext cx="235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Subaperture&amp;r0/frame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8CE97E-4742-909A-AA13-E32F341A7478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1456352" y="2154561"/>
            <a:ext cx="1585860" cy="3307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75EEC1C-C4F6-CD60-098B-6404EBD70E5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723593" y="1626150"/>
            <a:ext cx="1176893" cy="1143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91A1DDE-3A9A-1146-39A6-784A41BD5174}"/>
              </a:ext>
            </a:extLst>
          </p:cNvPr>
          <p:cNvSpPr txBox="1"/>
          <p:nvPr/>
        </p:nvSpPr>
        <p:spPr>
          <a:xfrm>
            <a:off x="5752730" y="3994951"/>
            <a:ext cx="3935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flatten is caused by averaging effect</a:t>
            </a:r>
          </a:p>
          <a:p>
            <a:r>
              <a:rPr lang="en-GB" dirty="0"/>
              <a:t>from r0 rather than the telescope frame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8B1A58-EEEE-7E68-6B2E-F773815F4C6C}"/>
              </a:ext>
            </a:extLst>
          </p:cNvPr>
          <p:cNvSpPr txBox="1"/>
          <p:nvPr/>
        </p:nvSpPr>
        <p:spPr>
          <a:xfrm>
            <a:off x="9611399" y="458568"/>
            <a:ext cx="21566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Frame rate = 0.0025s</a:t>
            </a:r>
          </a:p>
          <a:p>
            <a:r>
              <a:rPr lang="en-GB" dirty="0"/>
              <a:t>R0 = 5cm</a:t>
            </a:r>
          </a:p>
          <a:p>
            <a:r>
              <a:rPr lang="en-GB" dirty="0"/>
              <a:t>1.029(d/r)^(5/3)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611E5E-803F-0B4D-B854-E89546432B3B}"/>
              </a:ext>
            </a:extLst>
          </p:cNvPr>
          <p:cNvSpPr txBox="1"/>
          <p:nvPr/>
        </p:nvSpPr>
        <p:spPr>
          <a:xfrm flipH="1">
            <a:off x="10308305" y="2556769"/>
            <a:ext cx="1883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Note down condition for each graph next time.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4B670B-A4E9-FE66-2B14-DD4440328F24}"/>
              </a:ext>
            </a:extLst>
          </p:cNvPr>
          <p:cNvCxnSpPr>
            <a:cxnSpLocks/>
          </p:cNvCxnSpPr>
          <p:nvPr/>
        </p:nvCxnSpPr>
        <p:spPr>
          <a:xfrm flipH="1" flipV="1">
            <a:off x="8016536" y="2863049"/>
            <a:ext cx="2459114" cy="989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6D7D797-F7C9-390A-195B-2ED85755498E}"/>
              </a:ext>
            </a:extLst>
          </p:cNvPr>
          <p:cNvSpPr txBox="1"/>
          <p:nvPr/>
        </p:nvSpPr>
        <p:spPr>
          <a:xfrm>
            <a:off x="9854539" y="3852909"/>
            <a:ext cx="22313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No AO correction</a:t>
            </a:r>
          </a:p>
          <a:p>
            <a:r>
              <a:rPr lang="en-GB" dirty="0">
                <a:solidFill>
                  <a:srgbClr val="FF0000"/>
                </a:solidFill>
              </a:rPr>
              <a:t>= noll’s no correction</a:t>
            </a:r>
          </a:p>
          <a:p>
            <a:r>
              <a:rPr lang="en-GB" dirty="0">
                <a:solidFill>
                  <a:srgbClr val="FF0000"/>
                </a:solidFill>
              </a:rPr>
              <a:t>Error per subaperture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F15C6BF-7A11-432F-E305-4A6C4FA7E448}"/>
              </a:ext>
            </a:extLst>
          </p:cNvPr>
          <p:cNvCxnSpPr>
            <a:cxnSpLocks/>
          </p:cNvCxnSpPr>
          <p:nvPr/>
        </p:nvCxnSpPr>
        <p:spPr>
          <a:xfrm>
            <a:off x="1456352" y="5140171"/>
            <a:ext cx="12513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B6087D4-9C65-50F0-74CB-DF4CCACB9CD2}"/>
              </a:ext>
            </a:extLst>
          </p:cNvPr>
          <p:cNvSpPr txBox="1"/>
          <p:nvPr/>
        </p:nvSpPr>
        <p:spPr>
          <a:xfrm>
            <a:off x="470517" y="5042517"/>
            <a:ext cx="132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Down here?</a:t>
            </a:r>
          </a:p>
        </p:txBody>
      </p:sp>
    </p:spTree>
    <p:extLst>
      <p:ext uri="{BB962C8B-B14F-4D97-AF65-F5344CB8AC3E}">
        <p14:creationId xmlns:p14="http://schemas.microsoft.com/office/powerpoint/2010/main" val="416478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picture containing text, screenshot, line, plot&#10;&#10;Description automatically generated">
            <a:extLst>
              <a:ext uri="{FF2B5EF4-FFF2-40B4-BE49-F238E27FC236}">
                <a16:creationId xmlns:a16="http://schemas.microsoft.com/office/drawing/2014/main" id="{85815A96-320B-70FB-7496-74C6D2085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045" y="1186712"/>
            <a:ext cx="8043494" cy="550018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15383D-38AA-980C-80ED-E182666F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DF9946-D0A8-BACE-5B8F-BE07FD057DE2}"/>
              </a:ext>
            </a:extLst>
          </p:cNvPr>
          <p:cNvSpPr txBox="1"/>
          <p:nvPr/>
        </p:nvSpPr>
        <p:spPr>
          <a:xfrm>
            <a:off x="5149048" y="458568"/>
            <a:ext cx="3606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DM fitting error is already taken out.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7F8552-520A-8BFC-438D-717DA3C8B897}"/>
              </a:ext>
            </a:extLst>
          </p:cNvPr>
          <p:cNvSpPr txBox="1"/>
          <p:nvPr/>
        </p:nvSpPr>
        <p:spPr>
          <a:xfrm>
            <a:off x="192480" y="1969895"/>
            <a:ext cx="126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Pixel/frame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F8C05F-E020-8EB0-4992-6E972DC50F12}"/>
              </a:ext>
            </a:extLst>
          </p:cNvPr>
          <p:cNvSpPr txBox="1"/>
          <p:nvPr/>
        </p:nvSpPr>
        <p:spPr>
          <a:xfrm>
            <a:off x="4953740" y="1969895"/>
            <a:ext cx="1999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Subaperture/frame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1E3CE0-BB85-2628-242D-9D12A0755B03}"/>
              </a:ext>
            </a:extLst>
          </p:cNvPr>
          <p:cNvSpPr txBox="1"/>
          <p:nvPr/>
        </p:nvSpPr>
        <p:spPr>
          <a:xfrm>
            <a:off x="6577711" y="1441484"/>
            <a:ext cx="1750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Telescope/frame also r0/frame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8CE97E-4742-909A-AA13-E32F341A7478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1456352" y="2154561"/>
            <a:ext cx="1585860" cy="3307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75EEC1C-C4F6-CD60-098B-6404EBD70E5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5264458" y="2339227"/>
            <a:ext cx="689043" cy="11080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F2407C-192E-82AD-266A-81523D79ED7C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6768438" y="2087815"/>
            <a:ext cx="684705" cy="115074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C9D661-5CB2-ABD8-0B5A-36A5F88080F8}"/>
              </a:ext>
            </a:extLst>
          </p:cNvPr>
          <p:cNvSpPr txBox="1"/>
          <p:nvPr/>
        </p:nvSpPr>
        <p:spPr>
          <a:xfrm>
            <a:off x="8565856" y="2321056"/>
            <a:ext cx="1045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L0/frame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2EF6CE6-CC78-94B4-A7CB-A4B2AD25238C}"/>
              </a:ext>
            </a:extLst>
          </p:cNvPr>
          <p:cNvCxnSpPr>
            <a:cxnSpLocks/>
            <a:stCxn id="25" idx="2"/>
          </p:cNvCxnSpPr>
          <p:nvPr/>
        </p:nvCxnSpPr>
        <p:spPr>
          <a:xfrm flipH="1">
            <a:off x="8755100" y="2690388"/>
            <a:ext cx="333528" cy="3546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A picture containing text, screenshot, line, diagram&#10;&#10;Description automatically generated">
            <a:extLst>
              <a:ext uri="{FF2B5EF4-FFF2-40B4-BE49-F238E27FC236}">
                <a16:creationId xmlns:a16="http://schemas.microsoft.com/office/drawing/2014/main" id="{C3979CA3-5ED5-AEAD-701E-38F216858D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9317" y="4212780"/>
            <a:ext cx="2442683" cy="1600379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81B3EB8-AA1C-5629-D4AD-FBEA5B4D106D}"/>
              </a:ext>
            </a:extLst>
          </p:cNvPr>
          <p:cNvCxnSpPr>
            <a:cxnSpLocks/>
          </p:cNvCxnSpPr>
          <p:nvPr/>
        </p:nvCxnSpPr>
        <p:spPr>
          <a:xfrm>
            <a:off x="4749553" y="4864963"/>
            <a:ext cx="4714875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9E513A5A-6AA7-AA2A-F615-AEB2D538A2EF}"/>
              </a:ext>
            </a:extLst>
          </p:cNvPr>
          <p:cNvSpPr/>
          <p:nvPr/>
        </p:nvSpPr>
        <p:spPr>
          <a:xfrm>
            <a:off x="2805344" y="3238564"/>
            <a:ext cx="1926454" cy="2582727"/>
          </a:xfrm>
          <a:prstGeom prst="rect">
            <a:avLst/>
          </a:prstGeom>
          <a:noFill/>
          <a:ln w="762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B47CF9-1691-68C8-EA10-59363EC2BF43}"/>
              </a:ext>
            </a:extLst>
          </p:cNvPr>
          <p:cNvSpPr txBox="1"/>
          <p:nvPr/>
        </p:nvSpPr>
        <p:spPr>
          <a:xfrm>
            <a:off x="6577711" y="4274305"/>
            <a:ext cx="28447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Change loop time</a:t>
            </a:r>
          </a:p>
          <a:p>
            <a:r>
              <a:rPr lang="en-GB" dirty="0"/>
              <a:t>= change tau0 and stuff</a:t>
            </a:r>
          </a:p>
          <a:p>
            <a:r>
              <a:rPr lang="en-GB" dirty="0"/>
              <a:t>= not the same condition</a:t>
            </a:r>
          </a:p>
          <a:p>
            <a:r>
              <a:rPr lang="en-GB" dirty="0"/>
              <a:t>= not a proper way to zoom in graph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300086-D99D-BE74-44F0-3BD946CCB3B7}"/>
              </a:ext>
            </a:extLst>
          </p:cNvPr>
          <p:cNvSpPr txBox="1"/>
          <p:nvPr/>
        </p:nvSpPr>
        <p:spPr>
          <a:xfrm>
            <a:off x="10281064" y="2690388"/>
            <a:ext cx="1750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0.5r0/frame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08313DB-D093-24B6-12FB-6D166D21FC25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11156496" y="3059720"/>
            <a:ext cx="875432" cy="121458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923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FE50F-59E2-F91B-860F-D486549D7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sources of error?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8BBD9-4318-C664-79B4-5DC4019C0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Have not test SOAPY’s SHWFS error</a:t>
            </a:r>
          </a:p>
          <a:p>
            <a:r>
              <a:rPr lang="en-GB" dirty="0"/>
              <a:t>slopes temporal PSD</a:t>
            </a:r>
          </a:p>
          <a:p>
            <a:r>
              <a:rPr lang="en-GB" dirty="0"/>
              <a:t>Effect of varying </a:t>
            </a:r>
            <a:r>
              <a:rPr lang="en-GB" dirty="0" err="1"/>
              <a:t>svd</a:t>
            </a:r>
            <a:r>
              <a:rPr lang="en-GB" dirty="0"/>
              <a:t> on Strehl ratio</a:t>
            </a:r>
          </a:p>
          <a:p>
            <a:endParaRPr lang="en-GB" dirty="0"/>
          </a:p>
          <a:p>
            <a:r>
              <a:rPr lang="en-GB" dirty="0"/>
              <a:t>Grab and </a:t>
            </a:r>
            <a:r>
              <a:rPr lang="en-GB" dirty="0" err="1"/>
              <a:t>analyze</a:t>
            </a:r>
            <a:r>
              <a:rPr lang="en-GB" dirty="0"/>
              <a:t> slopes</a:t>
            </a:r>
          </a:p>
          <a:p>
            <a:pPr lvl="1"/>
            <a:r>
              <a:rPr lang="en-GB" dirty="0"/>
              <a:t>Tip/tilt vs time series </a:t>
            </a:r>
            <a:r>
              <a:rPr lang="en-GB" dirty="0">
                <a:sym typeface="Wingdings" panose="05000000000000000000" pitchFamily="2" charset="2"/>
              </a:rPr>
              <a:t> </a:t>
            </a:r>
            <a:r>
              <a:rPr lang="en-GB" dirty="0"/>
              <a:t>PSD(tip/tilt vs time) </a:t>
            </a:r>
            <a:r>
              <a:rPr lang="en-GB" dirty="0">
                <a:sym typeface="Wingdings" panose="05000000000000000000" pitchFamily="2" charset="2"/>
              </a:rPr>
              <a:t> tip/tilt frequencies</a:t>
            </a:r>
          </a:p>
          <a:p>
            <a:pPr lvl="1"/>
            <a:r>
              <a:rPr lang="en-GB" dirty="0"/>
              <a:t>Slope covariance ?</a:t>
            </a:r>
          </a:p>
          <a:p>
            <a:pPr lvl="1"/>
            <a:r>
              <a:rPr lang="en-GB" dirty="0"/>
              <a:t>TIM B &amp; RICHARD WILSON SLODAR papers</a:t>
            </a:r>
          </a:p>
          <a:p>
            <a:pPr lvl="1"/>
            <a:r>
              <a:rPr lang="en-GB" dirty="0"/>
              <a:t>Time series of 30s for half meter </a:t>
            </a:r>
            <a:r>
              <a:rPr lang="en-GB" dirty="0" err="1"/>
              <a:t>subap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7991577"/>
      </p:ext>
    </p:extLst>
  </p:cSld>
  <p:clrMapOvr>
    <a:masterClrMapping/>
  </p:clrMapOvr>
</p:sld>
</file>

<file path=ppt/theme/theme1.xml><?xml version="1.0" encoding="utf-8"?>
<a:theme xmlns:a="http://schemas.openxmlformats.org/drawingml/2006/main" name="CfAI_adjusted2">
  <a:themeElements>
    <a:clrScheme name="Durham University">
      <a:dk1>
        <a:srgbClr val="002A41"/>
      </a:dk1>
      <a:lt1>
        <a:sysClr val="window" lastClr="FFFFFF"/>
      </a:lt1>
      <a:dk2>
        <a:srgbClr val="54145A"/>
      </a:dk2>
      <a:lt2>
        <a:srgbClr val="CBA8B1"/>
      </a:lt2>
      <a:accent1>
        <a:srgbClr val="00AEEF"/>
      </a:accent1>
      <a:accent2>
        <a:srgbClr val="A5C8D0"/>
      </a:accent2>
      <a:accent3>
        <a:srgbClr val="AFA961"/>
      </a:accent3>
      <a:accent4>
        <a:srgbClr val="B3BDB1"/>
      </a:accent4>
      <a:accent5>
        <a:srgbClr val="FFD53A"/>
      </a:accent5>
      <a:accent6>
        <a:srgbClr val="DACDA2"/>
      </a:accent6>
      <a:hlink>
        <a:srgbClr val="BE1E2D"/>
      </a:hlink>
      <a:folHlink>
        <a:srgbClr val="B6AAA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CfAI_adjusted2" id="{330A87AC-0CCF-4691-82D1-6C0E7B571CC6}" vid="{612D3B6C-4B9C-4F13-BE5E-D04E4ECCB19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CfAI_adjusted2</Template>
  <TotalTime>1997</TotalTime>
  <Words>822</Words>
  <Application>Microsoft Office PowerPoint</Application>
  <PresentationFormat>Widescreen</PresentationFormat>
  <Paragraphs>151</Paragraphs>
  <Slides>20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Cambria Math</vt:lpstr>
      <vt:lpstr>Lucida Grande</vt:lpstr>
      <vt:lpstr>Wingdings</vt:lpstr>
      <vt:lpstr>CfAI_adjusted2</vt:lpstr>
      <vt:lpstr>Checking SOAPY simulation</vt:lpstr>
      <vt:lpstr>Includes</vt:lpstr>
      <vt:lpstr>Summary of two week ago</vt:lpstr>
      <vt:lpstr>Summary of two week ago</vt:lpstr>
      <vt:lpstr>Interaction &amp; control matrix</vt:lpstr>
      <vt:lpstr>Interaction &amp; control matrix</vt:lpstr>
      <vt:lpstr>Interaction &amp; control matrix</vt:lpstr>
      <vt:lpstr>Interaction &amp; control matrix</vt:lpstr>
      <vt:lpstr>Interaction &amp; control matrix</vt:lpstr>
      <vt:lpstr>DM performance</vt:lpstr>
      <vt:lpstr>DM performance</vt:lpstr>
      <vt:lpstr>DM performance</vt:lpstr>
      <vt:lpstr>Temporal error</vt:lpstr>
      <vt:lpstr>Temporal error</vt:lpstr>
      <vt:lpstr>Temporal error</vt:lpstr>
      <vt:lpstr>Temporal error</vt:lpstr>
      <vt:lpstr>PowerPoint Presentation</vt:lpstr>
      <vt:lpstr>Temporal error</vt:lpstr>
      <vt:lpstr>Temporal error</vt:lpstr>
      <vt:lpstr>Other sources of error?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Checking SOAPY simulation</dc:title>
  <dc:creator>KONGKAEW, PUTTIWAT</dc:creator>
  <cp:lastModifiedBy>KONGKAEW, PUTTIWAT</cp:lastModifiedBy>
  <cp:revision>1</cp:revision>
  <dcterms:created xsi:type="dcterms:W3CDTF">2023-05-19T07:23:02Z</dcterms:created>
  <dcterms:modified xsi:type="dcterms:W3CDTF">2025-08-27T11:14:08Z</dcterms:modified>
</cp:coreProperties>
</file>