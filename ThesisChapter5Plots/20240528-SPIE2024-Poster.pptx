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1"/>
  </p:sldMasterIdLst>
  <p:notesMasterIdLst>
    <p:notesMasterId r:id="rId3"/>
  </p:notesMasterIdLst>
  <p:sldIdLst>
    <p:sldId id="256" r:id="rId2"/>
  </p:sldIdLst>
  <p:sldSz cx="30275213" cy="42803763"/>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19E3B23-4406-AFFA-2838-B4512AEC2A77}" name="MORRIS, TIMOTHY J." initials="TM" userId="S::dph1tjm@durham.ac.uk::432ee421-2118-437d-8717-b97aa67d268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33C4E9-686A-4963-B36F-F2F131C594CE}" v="1" dt="2024-05-28T15:40:41.4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068" autoAdjust="0"/>
    <p:restoredTop sz="94306" autoAdjust="0"/>
  </p:normalViewPr>
  <p:slideViewPr>
    <p:cSldViewPr snapToGrid="0">
      <p:cViewPr>
        <p:scale>
          <a:sx n="66" d="100"/>
          <a:sy n="66" d="100"/>
        </p:scale>
        <p:origin x="-1926" y="-5706"/>
      </p:cViewPr>
      <p:guideLst/>
    </p:cSldViewPr>
  </p:slideViewPr>
  <p:notesTextViewPr>
    <p:cViewPr>
      <p:scale>
        <a:sx n="1" d="1"/>
        <a:sy n="1" d="1"/>
      </p:scale>
      <p:origin x="0" y="0"/>
    </p:cViewPr>
  </p:notesTextViewPr>
  <p:notesViewPr>
    <p:cSldViewPr snapToGrid="0" showGuides="1">
      <p:cViewPr>
        <p:scale>
          <a:sx n="400" d="100"/>
          <a:sy n="400" d="100"/>
        </p:scale>
        <p:origin x="-3864" y="-7944"/>
      </p:cViewPr>
      <p:guideLst/>
    </p:cSldViewPr>
  </p:notesViewPr>
  <p:gridSpacing cx="45000" cy="450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10" Type="http://schemas.microsoft.com/office/2018/10/relationships/authors" Target="author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RRIS, TIMOTHY J." userId="432ee421-2118-437d-8717-b97aa67d2683" providerId="ADAL" clId="{BC33C4E9-686A-4963-B36F-F2F131C594CE}"/>
    <pc:docChg chg="modSld">
      <pc:chgData name="MORRIS, TIMOTHY J." userId="432ee421-2118-437d-8717-b97aa67d2683" providerId="ADAL" clId="{BC33C4E9-686A-4963-B36F-F2F131C594CE}" dt="2024-05-28T15:41:05.959" v="617" actId="20577"/>
      <pc:docMkLst>
        <pc:docMk/>
      </pc:docMkLst>
      <pc:sldChg chg="addSp modSp mod modCm">
        <pc:chgData name="MORRIS, TIMOTHY J." userId="432ee421-2118-437d-8717-b97aa67d2683" providerId="ADAL" clId="{BC33C4E9-686A-4963-B36F-F2F131C594CE}" dt="2024-05-28T15:41:05.959" v="617" actId="20577"/>
        <pc:sldMkLst>
          <pc:docMk/>
          <pc:sldMk cId="2683056953" sldId="256"/>
        </pc:sldMkLst>
        <pc:spChg chg="mod">
          <ac:chgData name="MORRIS, TIMOTHY J." userId="432ee421-2118-437d-8717-b97aa67d2683" providerId="ADAL" clId="{BC33C4E9-686A-4963-B36F-F2F131C594CE}" dt="2024-05-28T15:36:44.114" v="79" actId="20577"/>
          <ac:spMkLst>
            <pc:docMk/>
            <pc:sldMk cId="2683056953" sldId="256"/>
            <ac:spMk id="6" creationId="{03B9A9C7-56F3-E2FD-2631-C5316A19153F}"/>
          </ac:spMkLst>
        </pc:spChg>
        <pc:spChg chg="mod">
          <ac:chgData name="MORRIS, TIMOTHY J." userId="432ee421-2118-437d-8717-b97aa67d2683" providerId="ADAL" clId="{BC33C4E9-686A-4963-B36F-F2F131C594CE}" dt="2024-05-28T15:41:05.959" v="617" actId="20577"/>
          <ac:spMkLst>
            <pc:docMk/>
            <pc:sldMk cId="2683056953" sldId="256"/>
            <ac:spMk id="39" creationId="{40907EED-2BC6-5A62-3491-2B8C6C35D3DF}"/>
          </ac:spMkLst>
        </pc:spChg>
        <pc:spChg chg="mod">
          <ac:chgData name="MORRIS, TIMOTHY J." userId="432ee421-2118-437d-8717-b97aa67d2683" providerId="ADAL" clId="{BC33C4E9-686A-4963-B36F-F2F131C594CE}" dt="2024-05-28T15:40:41.496" v="594" actId="164"/>
          <ac:spMkLst>
            <pc:docMk/>
            <pc:sldMk cId="2683056953" sldId="256"/>
            <ac:spMk id="460" creationId="{1689C405-363A-0712-1E14-0B283CC26E0A}"/>
          </ac:spMkLst>
        </pc:spChg>
        <pc:spChg chg="mod">
          <ac:chgData name="MORRIS, TIMOTHY J." userId="432ee421-2118-437d-8717-b97aa67d2683" providerId="ADAL" clId="{BC33C4E9-686A-4963-B36F-F2F131C594CE}" dt="2024-05-28T15:40:41.496" v="594" actId="164"/>
          <ac:spMkLst>
            <pc:docMk/>
            <pc:sldMk cId="2683056953" sldId="256"/>
            <ac:spMk id="471" creationId="{380BBA04-D86A-E4FF-806F-2261F88DD9C0}"/>
          </ac:spMkLst>
        </pc:spChg>
        <pc:spChg chg="mod">
          <ac:chgData name="MORRIS, TIMOTHY J." userId="432ee421-2118-437d-8717-b97aa67d2683" providerId="ADAL" clId="{BC33C4E9-686A-4963-B36F-F2F131C594CE}" dt="2024-05-28T15:40:41.496" v="594" actId="164"/>
          <ac:spMkLst>
            <pc:docMk/>
            <pc:sldMk cId="2683056953" sldId="256"/>
            <ac:spMk id="472" creationId="{3DEBD8BD-61FB-DCAD-14D5-28B48C78B9FD}"/>
          </ac:spMkLst>
        </pc:spChg>
        <pc:spChg chg="mod">
          <ac:chgData name="MORRIS, TIMOTHY J." userId="432ee421-2118-437d-8717-b97aa67d2683" providerId="ADAL" clId="{BC33C4E9-686A-4963-B36F-F2F131C594CE}" dt="2024-05-28T15:38:35.878" v="378" actId="21"/>
          <ac:spMkLst>
            <pc:docMk/>
            <pc:sldMk cId="2683056953" sldId="256"/>
            <ac:spMk id="562" creationId="{492752C7-21D9-F95C-CD6B-8B5D133FA1ED}"/>
          </ac:spMkLst>
        </pc:spChg>
        <pc:grpChg chg="mod">
          <ac:chgData name="MORRIS, TIMOTHY J." userId="432ee421-2118-437d-8717-b97aa67d2683" providerId="ADAL" clId="{BC33C4E9-686A-4963-B36F-F2F131C594CE}" dt="2024-05-28T15:40:41.496" v="594" actId="164"/>
          <ac:grpSpMkLst>
            <pc:docMk/>
            <pc:sldMk cId="2683056953" sldId="256"/>
            <ac:grpSpMk id="57" creationId="{9F4F751F-C843-6C20-A744-C59368E3F53A}"/>
          </ac:grpSpMkLst>
        </pc:grpChg>
        <pc:grpChg chg="mod">
          <ac:chgData name="MORRIS, TIMOTHY J." userId="432ee421-2118-437d-8717-b97aa67d2683" providerId="ADAL" clId="{BC33C4E9-686A-4963-B36F-F2F131C594CE}" dt="2024-05-28T15:40:41.496" v="594" actId="164"/>
          <ac:grpSpMkLst>
            <pc:docMk/>
            <pc:sldMk cId="2683056953" sldId="256"/>
            <ac:grpSpMk id="459" creationId="{29EA581A-795D-D043-ADD7-7F84CAB127C1}"/>
          </ac:grpSpMkLst>
        </pc:grpChg>
        <pc:grpChg chg="mod">
          <ac:chgData name="MORRIS, TIMOTHY J." userId="432ee421-2118-437d-8717-b97aa67d2683" providerId="ADAL" clId="{BC33C4E9-686A-4963-B36F-F2F131C594CE}" dt="2024-05-28T15:40:25.136" v="590" actId="1076"/>
          <ac:grpSpMkLst>
            <pc:docMk/>
            <pc:sldMk cId="2683056953" sldId="256"/>
            <ac:grpSpMk id="518" creationId="{E0F0C241-73DA-0145-385E-29C2555E46FF}"/>
          </ac:grpSpMkLst>
        </pc:grpChg>
        <pc:grpChg chg="add mod">
          <ac:chgData name="MORRIS, TIMOTHY J." userId="432ee421-2118-437d-8717-b97aa67d2683" providerId="ADAL" clId="{BC33C4E9-686A-4963-B36F-F2F131C594CE}" dt="2024-05-28T15:40:41.496" v="594" actId="164"/>
          <ac:grpSpMkLst>
            <pc:docMk/>
            <pc:sldMk cId="2683056953" sldId="256"/>
            <ac:grpSpMk id="564" creationId="{8B52CBE1-E5D3-4A04-D83B-5468108CD9A6}"/>
          </ac:grpSpMkLst>
        </pc:grpChg>
        <pc:extLst>
          <p:ext xmlns:p="http://schemas.openxmlformats.org/presentationml/2006/main" uri="{D6D511B9-2390-475A-947B-AFAB55BFBCF1}">
            <pc226:cmChg xmlns:pc226="http://schemas.microsoft.com/office/powerpoint/2022/06/main/command" chg="mod">
              <pc226:chgData name="MORRIS, TIMOTHY J." userId="432ee421-2118-437d-8717-b97aa67d2683" providerId="ADAL" clId="{BC33C4E9-686A-4963-B36F-F2F131C594CE}" dt="2024-05-28T15:41:05.959" v="617" actId="20577"/>
              <pc2:cmMkLst xmlns:pc2="http://schemas.microsoft.com/office/powerpoint/2019/9/main/command">
                <pc:docMk/>
                <pc:sldMk cId="2683056953" sldId="256"/>
                <pc2:cmMk id="{0BAFE57C-EF03-4FE0-B021-3FBE010A3691}"/>
              </pc2:cmMkLst>
            </pc226:cmChg>
            <pc226:cmChg xmlns:pc226="http://schemas.microsoft.com/office/powerpoint/2022/06/main/command" chg="mod">
              <pc226:chgData name="MORRIS, TIMOTHY J." userId="432ee421-2118-437d-8717-b97aa67d2683" providerId="ADAL" clId="{BC33C4E9-686A-4963-B36F-F2F131C594CE}" dt="2024-05-28T15:41:05.959" v="617" actId="20577"/>
              <pc2:cmMkLst xmlns:pc2="http://schemas.microsoft.com/office/powerpoint/2019/9/main/command">
                <pc:docMk/>
                <pc:sldMk cId="2683056953" sldId="256"/>
                <pc2:cmMk id="{DF88B988-FC1C-4B24-A8EC-A10FAA84000F}"/>
              </pc2:cmMkLst>
            </pc226:cmChg>
          </p:ext>
        </pc:ext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8427" cy="513508"/>
          </a:xfrm>
          <a:prstGeom prst="rect">
            <a:avLst/>
          </a:prstGeom>
        </p:spPr>
        <p:txBody>
          <a:bodyPr vert="horz" lIns="94787" tIns="47393" rIns="94787" bIns="47393" rtlCol="0"/>
          <a:lstStyle>
            <a:lvl1pPr algn="l">
              <a:defRPr sz="1200"/>
            </a:lvl1pPr>
          </a:lstStyle>
          <a:p>
            <a:endParaRPr lang="en-GB"/>
          </a:p>
        </p:txBody>
      </p:sp>
      <p:sp>
        <p:nvSpPr>
          <p:cNvPr id="3" name="Date Placeholder 2"/>
          <p:cNvSpPr>
            <a:spLocks noGrp="1"/>
          </p:cNvSpPr>
          <p:nvPr>
            <p:ph type="dt" idx="1"/>
          </p:nvPr>
        </p:nvSpPr>
        <p:spPr>
          <a:xfrm>
            <a:off x="4023993" y="0"/>
            <a:ext cx="3078427" cy="513508"/>
          </a:xfrm>
          <a:prstGeom prst="rect">
            <a:avLst/>
          </a:prstGeom>
        </p:spPr>
        <p:txBody>
          <a:bodyPr vert="horz" lIns="94787" tIns="47393" rIns="94787" bIns="47393" rtlCol="0"/>
          <a:lstStyle>
            <a:lvl1pPr algn="r">
              <a:defRPr sz="1200"/>
            </a:lvl1pPr>
          </a:lstStyle>
          <a:p>
            <a:fld id="{977C07A3-D561-42A4-B84E-16C8D9248F0B}" type="datetimeFigureOut">
              <a:rPr lang="en-GB" smtClean="0"/>
              <a:t>2024-05-30</a:t>
            </a:fld>
            <a:endParaRPr lang="en-GB"/>
          </a:p>
        </p:txBody>
      </p:sp>
      <p:sp>
        <p:nvSpPr>
          <p:cNvPr id="4" name="Slide Image Placeholder 3"/>
          <p:cNvSpPr>
            <a:spLocks noGrp="1" noRot="1" noChangeAspect="1"/>
          </p:cNvSpPr>
          <p:nvPr>
            <p:ph type="sldImg" idx="2"/>
          </p:nvPr>
        </p:nvSpPr>
        <p:spPr>
          <a:xfrm>
            <a:off x="2330450" y="1279525"/>
            <a:ext cx="2443163" cy="3452813"/>
          </a:xfrm>
          <a:prstGeom prst="rect">
            <a:avLst/>
          </a:prstGeom>
          <a:noFill/>
          <a:ln w="12700">
            <a:solidFill>
              <a:prstClr val="black"/>
            </a:solidFill>
          </a:ln>
        </p:spPr>
        <p:txBody>
          <a:bodyPr vert="horz" lIns="94787" tIns="47393" rIns="94787" bIns="47393" rtlCol="0" anchor="ctr"/>
          <a:lstStyle/>
          <a:p>
            <a:endParaRPr lang="en-GB"/>
          </a:p>
        </p:txBody>
      </p:sp>
      <p:sp>
        <p:nvSpPr>
          <p:cNvPr id="5" name="Notes Placeholder 4"/>
          <p:cNvSpPr>
            <a:spLocks noGrp="1"/>
          </p:cNvSpPr>
          <p:nvPr>
            <p:ph type="body" sz="quarter" idx="3"/>
          </p:nvPr>
        </p:nvSpPr>
        <p:spPr>
          <a:xfrm>
            <a:off x="710407" y="4925408"/>
            <a:ext cx="5683250" cy="4029879"/>
          </a:xfrm>
          <a:prstGeom prst="rect">
            <a:avLst/>
          </a:prstGeom>
        </p:spPr>
        <p:txBody>
          <a:bodyPr vert="horz" lIns="94787" tIns="47393" rIns="94787" bIns="4739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9721106"/>
            <a:ext cx="3078427" cy="513507"/>
          </a:xfrm>
          <a:prstGeom prst="rect">
            <a:avLst/>
          </a:prstGeom>
        </p:spPr>
        <p:txBody>
          <a:bodyPr vert="horz" lIns="94787" tIns="47393" rIns="94787" bIns="47393" rtlCol="0" anchor="b"/>
          <a:lstStyle>
            <a:lvl1pPr algn="l">
              <a:defRPr sz="1200"/>
            </a:lvl1pPr>
          </a:lstStyle>
          <a:p>
            <a:endParaRPr lang="en-GB"/>
          </a:p>
        </p:txBody>
      </p:sp>
      <p:sp>
        <p:nvSpPr>
          <p:cNvPr id="7" name="Slide Number Placeholder 6"/>
          <p:cNvSpPr>
            <a:spLocks noGrp="1"/>
          </p:cNvSpPr>
          <p:nvPr>
            <p:ph type="sldNum" sz="quarter" idx="5"/>
          </p:nvPr>
        </p:nvSpPr>
        <p:spPr>
          <a:xfrm>
            <a:off x="4023993" y="9721106"/>
            <a:ext cx="3078427" cy="513507"/>
          </a:xfrm>
          <a:prstGeom prst="rect">
            <a:avLst/>
          </a:prstGeom>
        </p:spPr>
        <p:txBody>
          <a:bodyPr vert="horz" lIns="94787" tIns="47393" rIns="94787" bIns="47393" rtlCol="0" anchor="b"/>
          <a:lstStyle>
            <a:lvl1pPr algn="r">
              <a:defRPr sz="1200"/>
            </a:lvl1pPr>
          </a:lstStyle>
          <a:p>
            <a:fld id="{F94870EE-F6FB-4874-84E3-172E01687DB7}" type="slidenum">
              <a:rPr lang="en-GB" smtClean="0"/>
              <a:t>‹#›</a:t>
            </a:fld>
            <a:endParaRPr lang="en-GB"/>
          </a:p>
        </p:txBody>
      </p:sp>
    </p:spTree>
    <p:extLst>
      <p:ext uri="{BB962C8B-B14F-4D97-AF65-F5344CB8AC3E}">
        <p14:creationId xmlns:p14="http://schemas.microsoft.com/office/powerpoint/2010/main" val="870765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209" userDrawn="1">
          <p15:clr>
            <a:srgbClr val="F26B43"/>
          </p15:clr>
        </p15:guide>
        <p15:guide id="2" pos="226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94870EE-F6FB-4874-84E3-172E01687DB7}" type="slidenum">
              <a:rPr lang="en-GB" smtClean="0"/>
              <a:t>1</a:t>
            </a:fld>
            <a:endParaRPr lang="en-GB"/>
          </a:p>
        </p:txBody>
      </p:sp>
    </p:spTree>
    <p:extLst>
      <p:ext uri="{BB962C8B-B14F-4D97-AF65-F5344CB8AC3E}">
        <p14:creationId xmlns:p14="http://schemas.microsoft.com/office/powerpoint/2010/main" val="2453723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404599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7622941"/>
      </p:ext>
    </p:extLst>
  </p:cSld>
  <p:clrMap bg1="lt1" tx1="dk1" bg2="lt2" tx2="dk2" accent1="accent1" accent2="accent2" accent3="accent3" accent4="accent4" accent5="accent5" accent6="accent6" hlink="hlink" folHlink="folHlink"/>
  <p:sldLayoutIdLst>
    <p:sldLayoutId id="2147483694" r:id="rId1"/>
  </p:sldLayoutIdLst>
  <p:txStyles>
    <p:titleStyle>
      <a:lvl1pPr algn="ctr" defTabSz="914400" rtl="0" eaLnBrk="1" latinLnBrk="0" hangingPunct="1">
        <a:lnSpc>
          <a:spcPct val="90000"/>
        </a:lnSpc>
        <a:spcBef>
          <a:spcPct val="0"/>
        </a:spcBef>
        <a:buNone/>
        <a:defRPr sz="72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482" userDrawn="1">
          <p15:clr>
            <a:srgbClr val="F26B43"/>
          </p15:clr>
        </p15:guide>
        <p15:guide id="2" pos="9558" userDrawn="1">
          <p15:clr>
            <a:srgbClr val="F26B43"/>
          </p15:clr>
        </p15:guide>
      </p15:sldGuideLst>
    </p:ext>
  </p:extLst>
</p:sldMaster>
</file>

<file path=ppt/slides/_rels/slide1.xml.rels><?xml version="1.0" encoding="UTF-8" standalone="yes"?>
<Relationships xmlns="http://schemas.openxmlformats.org/package/2006/relationships"><Relationship Id="rId39" Type="http://schemas.openxmlformats.org/officeDocument/2006/relationships/image" Target="../media/image26.png"/><Relationship Id="rId34" Type="http://schemas.openxmlformats.org/officeDocument/2006/relationships/image" Target="../media/image21.png"/><Relationship Id="rId42" Type="http://schemas.openxmlformats.org/officeDocument/2006/relationships/image" Target="../media/image30.png"/><Relationship Id="rId47" Type="http://schemas.openxmlformats.org/officeDocument/2006/relationships/image" Target="../media/image35.png"/><Relationship Id="rId50" Type="http://schemas.openxmlformats.org/officeDocument/2006/relationships/image" Target="../media/image6.png"/><Relationship Id="rId55" Type="http://schemas.openxmlformats.org/officeDocument/2006/relationships/image" Target="../media/image7.png"/><Relationship Id="rId63" Type="http://schemas.openxmlformats.org/officeDocument/2006/relationships/image" Target="../media/image37.png"/><Relationship Id="rId68" Type="http://schemas.openxmlformats.org/officeDocument/2006/relationships/image" Target="../media/image41.png"/><Relationship Id="rId76" Type="http://schemas.openxmlformats.org/officeDocument/2006/relationships/image" Target="../media/image50.png"/><Relationship Id="rId7" Type="http://schemas.openxmlformats.org/officeDocument/2006/relationships/image" Target="../media/image3.png"/><Relationship Id="rId71" Type="http://schemas.openxmlformats.org/officeDocument/2006/relationships/image" Target="../media/image43.png"/><Relationship Id="rId2" Type="http://schemas.openxmlformats.org/officeDocument/2006/relationships/notesSlide" Target="../notesSlides/notesSlide1.xml"/><Relationship Id="rId32" Type="http://schemas.openxmlformats.org/officeDocument/2006/relationships/image" Target="../media/image19.png"/><Relationship Id="rId37" Type="http://schemas.openxmlformats.org/officeDocument/2006/relationships/image" Target="../media/image24.png"/><Relationship Id="rId40" Type="http://schemas.openxmlformats.org/officeDocument/2006/relationships/image" Target="../media/image28.png"/><Relationship Id="rId45" Type="http://schemas.openxmlformats.org/officeDocument/2006/relationships/image" Target="../media/image33.png"/><Relationship Id="rId53" Type="http://schemas.openxmlformats.org/officeDocument/2006/relationships/image" Target="../media/image10.png"/><Relationship Id="rId58" Type="http://schemas.openxmlformats.org/officeDocument/2006/relationships/image" Target="../media/image14.png"/><Relationship Id="rId66" Type="http://schemas.openxmlformats.org/officeDocument/2006/relationships/image" Target="../media/image18.png"/><Relationship Id="rId74" Type="http://schemas.openxmlformats.org/officeDocument/2006/relationships/image" Target="../media/image48.png"/><Relationship Id="rId5" Type="http://schemas.openxmlformats.org/officeDocument/2006/relationships/image" Target="../media/image1.jpg"/><Relationship Id="rId61" Type="http://schemas.openxmlformats.org/officeDocument/2006/relationships/image" Target="../media/image17.png"/><Relationship Id="rId44" Type="http://schemas.openxmlformats.org/officeDocument/2006/relationships/image" Target="../media/image32.png"/><Relationship Id="rId52" Type="http://schemas.openxmlformats.org/officeDocument/2006/relationships/image" Target="../media/image9.png"/><Relationship Id="rId60" Type="http://schemas.openxmlformats.org/officeDocument/2006/relationships/image" Target="../media/image16.png"/><Relationship Id="rId65" Type="http://schemas.openxmlformats.org/officeDocument/2006/relationships/image" Target="../media/image39.png"/><Relationship Id="rId73" Type="http://schemas.openxmlformats.org/officeDocument/2006/relationships/image" Target="../media/image47.png"/><Relationship Id="rId4" Type="http://schemas.openxmlformats.org/officeDocument/2006/relationships/image" Target="../media/image1.png"/><Relationship Id="rId35" Type="http://schemas.openxmlformats.org/officeDocument/2006/relationships/image" Target="../media/image22.png"/><Relationship Id="rId43" Type="http://schemas.openxmlformats.org/officeDocument/2006/relationships/image" Target="../media/image31.png"/><Relationship Id="rId48" Type="http://schemas.openxmlformats.org/officeDocument/2006/relationships/image" Target="../media/image36.png"/><Relationship Id="rId56" Type="http://schemas.openxmlformats.org/officeDocument/2006/relationships/image" Target="../media/image12.png"/><Relationship Id="rId64" Type="http://schemas.openxmlformats.org/officeDocument/2006/relationships/image" Target="../media/image38.png"/><Relationship Id="rId69" Type="http://schemas.openxmlformats.org/officeDocument/2006/relationships/image" Target="../media/image42.png"/><Relationship Id="rId8" Type="http://schemas.openxmlformats.org/officeDocument/2006/relationships/image" Target="../media/image4.png"/><Relationship Id="rId51" Type="http://schemas.openxmlformats.org/officeDocument/2006/relationships/image" Target="../media/image8.png"/><Relationship Id="rId72" Type="http://schemas.openxmlformats.org/officeDocument/2006/relationships/image" Target="../media/image45.png"/><Relationship Id="rId3" Type="http://schemas.openxmlformats.org/officeDocument/2006/relationships/hyperlink" Target="https://doi.org/10.1117/12.2560873" TargetMode="External"/><Relationship Id="rId33" Type="http://schemas.openxmlformats.org/officeDocument/2006/relationships/image" Target="../media/image20.png"/><Relationship Id="rId38" Type="http://schemas.openxmlformats.org/officeDocument/2006/relationships/image" Target="../media/image25.png"/><Relationship Id="rId46" Type="http://schemas.openxmlformats.org/officeDocument/2006/relationships/image" Target="../media/image34.png"/><Relationship Id="rId59" Type="http://schemas.openxmlformats.org/officeDocument/2006/relationships/image" Target="../media/image15.png"/><Relationship Id="rId67" Type="http://schemas.openxmlformats.org/officeDocument/2006/relationships/image" Target="../media/image40.png"/><Relationship Id="rId41" Type="http://schemas.openxmlformats.org/officeDocument/2006/relationships/image" Target="../media/image29.png"/><Relationship Id="rId54" Type="http://schemas.openxmlformats.org/officeDocument/2006/relationships/image" Target="../media/image11.png"/><Relationship Id="rId62" Type="http://schemas.openxmlformats.org/officeDocument/2006/relationships/image" Target="../media/image27.png"/><Relationship Id="rId70" Type="http://schemas.openxmlformats.org/officeDocument/2006/relationships/image" Target="../media/image44.png"/><Relationship Id="rId75" Type="http://schemas.openxmlformats.org/officeDocument/2006/relationships/image" Target="../media/image49.png"/><Relationship Id="rId1" Type="http://schemas.openxmlformats.org/officeDocument/2006/relationships/slideLayout" Target="../slideLayouts/slideLayout1.xml"/><Relationship Id="rId6" Type="http://schemas.openxmlformats.org/officeDocument/2006/relationships/image" Target="../media/image2.png"/><Relationship Id="rId36" Type="http://schemas.openxmlformats.org/officeDocument/2006/relationships/image" Target="../media/image23.png"/><Relationship Id="rId49" Type="http://schemas.openxmlformats.org/officeDocument/2006/relationships/image" Target="../media/image5.png"/><Relationship Id="rId57"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 Placeholder 2">
            <a:extLst>
              <a:ext uri="{FF2B5EF4-FFF2-40B4-BE49-F238E27FC236}">
                <a16:creationId xmlns:a16="http://schemas.microsoft.com/office/drawing/2014/main" id="{C5DD6AE0-C1B0-5989-15DE-7FFC1D63CED9}"/>
              </a:ext>
            </a:extLst>
          </p:cNvPr>
          <p:cNvSpPr txBox="1">
            <a:spLocks/>
          </p:cNvSpPr>
          <p:nvPr/>
        </p:nvSpPr>
        <p:spPr>
          <a:xfrm>
            <a:off x="22948490" y="36469682"/>
            <a:ext cx="6654621" cy="5935617"/>
          </a:xfrm>
          <a:prstGeom prst="rect">
            <a:avLst/>
          </a:prstGeom>
          <a:noFill/>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500" b="1" dirty="0">
                <a:solidFill>
                  <a:schemeClr val="tx2"/>
                </a:solidFill>
                <a:latin typeface="Arial" panose="020B0604020202020204" pitchFamily="34" charset="0"/>
                <a:cs typeface="Arial" panose="020B0604020202020204" pitchFamily="34" charset="0"/>
              </a:rPr>
              <a:t>References</a:t>
            </a:r>
          </a:p>
          <a:p>
            <a:pPr marL="0" indent="0">
              <a:lnSpc>
                <a:spcPct val="100000"/>
              </a:lnSpc>
              <a:buNone/>
            </a:pPr>
            <a:r>
              <a:rPr lang="en-US" sz="1500" dirty="0">
                <a:latin typeface="Arial" panose="020B0604020202020204" pitchFamily="34" charset="0"/>
                <a:cs typeface="Arial" panose="020B0604020202020204" pitchFamily="34" charset="0"/>
              </a:rPr>
              <a:t>[1] Marcos A. van Dam, Yolanda Martín Hernando, Miguel </a:t>
            </a:r>
            <a:r>
              <a:rPr lang="en-US" sz="1500" dirty="0" err="1">
                <a:latin typeface="Arial" panose="020B0604020202020204" pitchFamily="34" charset="0"/>
                <a:cs typeface="Arial" panose="020B0604020202020204" pitchFamily="34" charset="0"/>
              </a:rPr>
              <a:t>Núñez</a:t>
            </a:r>
            <a:r>
              <a:rPr lang="en-US" sz="1500" dirty="0">
                <a:latin typeface="Arial" panose="020B0604020202020204" pitchFamily="34" charset="0"/>
                <a:cs typeface="Arial" panose="020B0604020202020204" pitchFamily="34" charset="0"/>
              </a:rPr>
              <a:t> </a:t>
            </a:r>
            <a:r>
              <a:rPr lang="en-US" sz="1500" dirty="0" err="1">
                <a:latin typeface="Arial" panose="020B0604020202020204" pitchFamily="34" charset="0"/>
                <a:cs typeface="Arial" panose="020B0604020202020204" pitchFamily="34" charset="0"/>
              </a:rPr>
              <a:t>Cagigal</a:t>
            </a:r>
            <a:r>
              <a:rPr lang="en-US" sz="1500" dirty="0">
                <a:latin typeface="Arial" panose="020B0604020202020204" pitchFamily="34" charset="0"/>
                <a:cs typeface="Arial" panose="020B0604020202020204" pitchFamily="34" charset="0"/>
              </a:rPr>
              <a:t>, </a:t>
            </a:r>
            <a:r>
              <a:rPr lang="en-US" sz="1500" dirty="0" err="1">
                <a:latin typeface="Arial" panose="020B0604020202020204" pitchFamily="34" charset="0"/>
                <a:cs typeface="Arial" panose="020B0604020202020204" pitchFamily="34" charset="0"/>
              </a:rPr>
              <a:t>Luzma</a:t>
            </a:r>
            <a:r>
              <a:rPr lang="en-US" sz="1500" dirty="0">
                <a:latin typeface="Arial" panose="020B0604020202020204" pitchFamily="34" charset="0"/>
                <a:cs typeface="Arial" panose="020B0604020202020204" pitchFamily="34" charset="0"/>
              </a:rPr>
              <a:t> M. Montoya, "Overcoming the effect of pupil distortion in </a:t>
            </a:r>
            <a:r>
              <a:rPr lang="en-US" sz="1500" dirty="0" err="1">
                <a:latin typeface="Arial" panose="020B0604020202020204" pitchFamily="34" charset="0"/>
                <a:cs typeface="Arial" panose="020B0604020202020204" pitchFamily="34" charset="0"/>
              </a:rPr>
              <a:t>multiconjugate</a:t>
            </a:r>
            <a:r>
              <a:rPr lang="en-US" sz="1500" dirty="0">
                <a:latin typeface="Arial" panose="020B0604020202020204" pitchFamily="34" charset="0"/>
                <a:cs typeface="Arial" panose="020B0604020202020204" pitchFamily="34" charset="0"/>
              </a:rPr>
              <a:t> adaptive optics," Proc. SPIE 11448, Adaptive Optics Systems VII, 114480P (13 December 2020); </a:t>
            </a:r>
            <a:r>
              <a:rPr lang="en-US" sz="1500" dirty="0">
                <a:latin typeface="Arial" panose="020B0604020202020204" pitchFamily="34" charset="0"/>
                <a:cs typeface="Arial" panose="020B0604020202020204" pitchFamily="34" charset="0"/>
                <a:hlinkClick r:id="rId3"/>
              </a:rPr>
              <a:t>https://doi.org/10.1117/12.2560873</a:t>
            </a:r>
            <a:endParaRPr lang="en-US" sz="1500" dirty="0">
              <a:latin typeface="Arial" panose="020B0604020202020204" pitchFamily="34" charset="0"/>
              <a:cs typeface="Arial" panose="020B0604020202020204" pitchFamily="34" charset="0"/>
            </a:endParaRPr>
          </a:p>
          <a:p>
            <a:pPr marL="0" indent="0">
              <a:lnSpc>
                <a:spcPct val="100000"/>
              </a:lnSpc>
              <a:buNone/>
            </a:pPr>
            <a:r>
              <a:rPr lang="en-US" sz="1500" dirty="0">
                <a:latin typeface="Arial" panose="020B0604020202020204" pitchFamily="34" charset="0"/>
                <a:cs typeface="Arial" panose="020B0604020202020204" pitchFamily="34" charset="0"/>
              </a:rPr>
              <a:t>[2] </a:t>
            </a:r>
            <a:r>
              <a:rPr lang="en-GB" sz="1500" dirty="0">
                <a:latin typeface="Arial" panose="020B0604020202020204" pitchFamily="34" charset="0"/>
                <a:cs typeface="Arial" panose="020B0604020202020204" pitchFamily="34" charset="0"/>
              </a:rPr>
              <a:t>Hardy, J. W., [Adaptive Optics for Astronomical Telescopes], Oxford University Press (1998)</a:t>
            </a:r>
          </a:p>
          <a:p>
            <a:pPr marL="0" indent="0">
              <a:lnSpc>
                <a:spcPct val="100000"/>
              </a:lnSpc>
              <a:buNone/>
            </a:pPr>
            <a:r>
              <a:rPr lang="en-GB" sz="1500" dirty="0">
                <a:latin typeface="Arial" panose="020B0604020202020204" pitchFamily="34" charset="0"/>
                <a:cs typeface="Arial" panose="020B0604020202020204" pitchFamily="34" charset="0"/>
              </a:rPr>
              <a:t>[3] </a:t>
            </a:r>
            <a:r>
              <a:rPr lang="en-GB" sz="1500" dirty="0" err="1">
                <a:latin typeface="Arial" panose="020B0604020202020204" pitchFamily="34" charset="0"/>
                <a:cs typeface="Arial" panose="020B0604020202020204" pitchFamily="34" charset="0"/>
              </a:rPr>
              <a:t>Sasiela</a:t>
            </a:r>
            <a:r>
              <a:rPr lang="en-GB" sz="1500" dirty="0">
                <a:latin typeface="Arial" panose="020B0604020202020204" pitchFamily="34" charset="0"/>
                <a:cs typeface="Arial" panose="020B0604020202020204" pitchFamily="34" charset="0"/>
              </a:rPr>
              <a:t>, R. J., [Electromagnetic Wave Propagation in Turbulence: Evaluation and Application of Mellin Transforms, 2nd Ed.], SPIE Press (2007).</a:t>
            </a:r>
            <a:endParaRPr lang="en-US" sz="1500" dirty="0">
              <a:latin typeface="Arial" panose="020B0604020202020204" pitchFamily="34" charset="0"/>
              <a:cs typeface="Arial" panose="020B0604020202020204" pitchFamily="34" charset="0"/>
            </a:endParaRPr>
          </a:p>
          <a:p>
            <a:pPr marL="0" indent="0">
              <a:lnSpc>
                <a:spcPct val="100000"/>
              </a:lnSpc>
              <a:buNone/>
            </a:pPr>
            <a:r>
              <a:rPr lang="en-US" sz="1500" dirty="0">
                <a:latin typeface="Arial" panose="020B0604020202020204" pitchFamily="34" charset="0"/>
                <a:cs typeface="Arial" panose="020B0604020202020204" pitchFamily="34" charset="0"/>
              </a:rPr>
              <a:t>[4] </a:t>
            </a:r>
            <a:r>
              <a:rPr lang="en-US" sz="1500" dirty="0" err="1">
                <a:latin typeface="Arial" panose="020B0604020202020204" pitchFamily="34" charset="0"/>
                <a:cs typeface="Arial" panose="020B0604020202020204" pitchFamily="34" charset="0"/>
              </a:rPr>
              <a:t>Barchers</a:t>
            </a:r>
            <a:r>
              <a:rPr lang="en-US" sz="1500" dirty="0">
                <a:latin typeface="Arial" panose="020B0604020202020204" pitchFamily="34" charset="0"/>
                <a:cs typeface="Arial" panose="020B0604020202020204" pitchFamily="34" charset="0"/>
              </a:rPr>
              <a:t>, J. D., Fried, D. L., Link, D. J., Tyler, G. A., Moretti, W., Brennan, T. J., and Fugate, R. Q., “Performance of wavefront sensors in strong scintillation,” in [Adaptive Optical System Technologies II ], </a:t>
            </a:r>
            <a:r>
              <a:rPr lang="en-US" sz="1500" dirty="0" err="1">
                <a:latin typeface="Arial" panose="020B0604020202020204" pitchFamily="34" charset="0"/>
                <a:cs typeface="Arial" panose="020B0604020202020204" pitchFamily="34" charset="0"/>
              </a:rPr>
              <a:t>Wizinowich</a:t>
            </a:r>
            <a:r>
              <a:rPr lang="en-US" sz="1500" dirty="0">
                <a:latin typeface="Arial" panose="020B0604020202020204" pitchFamily="34" charset="0"/>
                <a:cs typeface="Arial" panose="020B0604020202020204" pitchFamily="34" charset="0"/>
              </a:rPr>
              <a:t>, P. L. and </a:t>
            </a:r>
            <a:r>
              <a:rPr lang="en-US" sz="1500" dirty="0" err="1">
                <a:latin typeface="Arial" panose="020B0604020202020204" pitchFamily="34" charset="0"/>
                <a:cs typeface="Arial" panose="020B0604020202020204" pitchFamily="34" charset="0"/>
              </a:rPr>
              <a:t>Bonaccini</a:t>
            </a:r>
            <a:r>
              <a:rPr lang="en-US" sz="1500" dirty="0">
                <a:latin typeface="Arial" panose="020B0604020202020204" pitchFamily="34" charset="0"/>
                <a:cs typeface="Arial" panose="020B0604020202020204" pitchFamily="34" charset="0"/>
              </a:rPr>
              <a:t>, D., eds., 4839, 217 – 227, International Society for Optics and Photonics, SPIE (2003).</a:t>
            </a:r>
          </a:p>
          <a:p>
            <a:pPr marL="0" indent="0">
              <a:lnSpc>
                <a:spcPct val="100000"/>
              </a:lnSpc>
              <a:buNone/>
            </a:pPr>
            <a:r>
              <a:rPr lang="en-US" sz="1500" dirty="0">
                <a:latin typeface="Arial" panose="020B0604020202020204" pitchFamily="34" charset="0"/>
                <a:cs typeface="Arial" panose="020B0604020202020204" pitchFamily="34" charset="0"/>
              </a:rPr>
              <a:t>[5] </a:t>
            </a:r>
            <a:r>
              <a:rPr lang="en-GB" sz="1500" dirty="0">
                <a:latin typeface="Arial" panose="020B0604020202020204" pitchFamily="34" charset="0"/>
                <a:cs typeface="Arial" panose="020B0604020202020204" pitchFamily="34" charset="0"/>
              </a:rPr>
              <a:t>Hardy, J. W., [Adaptive Optics for Astronomical Telescopes], Oxford University Press (1998).</a:t>
            </a:r>
            <a:endParaRPr lang="en-US" sz="1500" dirty="0">
              <a:latin typeface="Arial" panose="020B0604020202020204" pitchFamily="34" charset="0"/>
              <a:cs typeface="Arial" panose="020B0604020202020204" pitchFamily="34" charset="0"/>
            </a:endParaRPr>
          </a:p>
          <a:p>
            <a:pPr marL="0" indent="0">
              <a:lnSpc>
                <a:spcPct val="100000"/>
              </a:lnSpc>
              <a:buNone/>
            </a:pPr>
            <a:r>
              <a:rPr lang="en-US" sz="1500" dirty="0">
                <a:latin typeface="Arial" panose="020B0604020202020204" pitchFamily="34" charset="0"/>
                <a:cs typeface="Arial" panose="020B0604020202020204" pitchFamily="34" charset="0"/>
              </a:rPr>
              <a:t>[6] R Griffiths, L </a:t>
            </a:r>
            <a:r>
              <a:rPr lang="en-US" sz="1500" dirty="0" err="1">
                <a:latin typeface="Arial" panose="020B0604020202020204" pitchFamily="34" charset="0"/>
                <a:cs typeface="Arial" panose="020B0604020202020204" pitchFamily="34" charset="0"/>
              </a:rPr>
              <a:t>Bardou</a:t>
            </a:r>
            <a:r>
              <a:rPr lang="en-US" sz="1500" dirty="0">
                <a:latin typeface="Arial" panose="020B0604020202020204" pitchFamily="34" charset="0"/>
                <a:cs typeface="Arial" panose="020B0604020202020204" pitchFamily="34" charset="0"/>
              </a:rPr>
              <a:t>, T </a:t>
            </a:r>
            <a:r>
              <a:rPr lang="en-US" sz="1500" dirty="0" err="1">
                <a:latin typeface="Arial" panose="020B0604020202020204" pitchFamily="34" charset="0"/>
                <a:cs typeface="Arial" panose="020B0604020202020204" pitchFamily="34" charset="0"/>
              </a:rPr>
              <a:t>Butterley</a:t>
            </a:r>
            <a:r>
              <a:rPr lang="en-US" sz="1500" dirty="0">
                <a:latin typeface="Arial" panose="020B0604020202020204" pitchFamily="34" charset="0"/>
                <a:cs typeface="Arial" panose="020B0604020202020204" pitchFamily="34" charset="0"/>
              </a:rPr>
              <a:t>, J Osborn, R Wilson, E Bustos, A </a:t>
            </a:r>
            <a:r>
              <a:rPr lang="en-US" sz="1500" dirty="0" err="1">
                <a:latin typeface="Arial" panose="020B0604020202020204" pitchFamily="34" charset="0"/>
                <a:cs typeface="Arial" panose="020B0604020202020204" pitchFamily="34" charset="0"/>
              </a:rPr>
              <a:t>Tokovinin</a:t>
            </a:r>
            <a:r>
              <a:rPr lang="en-US" sz="1500" dirty="0">
                <a:latin typeface="Arial" panose="020B0604020202020204" pitchFamily="34" charset="0"/>
                <a:cs typeface="Arial" panose="020B0604020202020204" pitchFamily="34" charset="0"/>
              </a:rPr>
              <a:t>, M Le </a:t>
            </a:r>
            <a:r>
              <a:rPr lang="en-US" sz="1500" dirty="0" err="1">
                <a:latin typeface="Arial" panose="020B0604020202020204" pitchFamily="34" charset="0"/>
                <a:cs typeface="Arial" panose="020B0604020202020204" pitchFamily="34" charset="0"/>
              </a:rPr>
              <a:t>Louarn</a:t>
            </a:r>
            <a:r>
              <a:rPr lang="en-US" sz="1500" dirty="0">
                <a:latin typeface="Arial" panose="020B0604020202020204" pitchFamily="34" charset="0"/>
                <a:cs typeface="Arial" panose="020B0604020202020204" pitchFamily="34" charset="0"/>
              </a:rPr>
              <a:t>, A </a:t>
            </a:r>
            <a:r>
              <a:rPr lang="en-US" sz="1500" dirty="0" err="1">
                <a:latin typeface="Arial" panose="020B0604020202020204" pitchFamily="34" charset="0"/>
                <a:cs typeface="Arial" panose="020B0604020202020204" pitchFamily="34" charset="0"/>
              </a:rPr>
              <a:t>Otarola</a:t>
            </a:r>
            <a:r>
              <a:rPr lang="en-US" sz="1500" dirty="0">
                <a:latin typeface="Arial" panose="020B0604020202020204" pitchFamily="34" charset="0"/>
                <a:cs typeface="Arial" panose="020B0604020202020204" pitchFamily="34" charset="0"/>
              </a:rPr>
              <a:t>, A comparison of next-generation turbulence profiling instruments at Paranal, Monthly Notices of the Royal Astronomical Society, Volume 529, Issue 1, March 2024, Pages 320–330, https://doi.org/10.1093/mnras/stae434</a:t>
            </a:r>
          </a:p>
          <a:p>
            <a:pPr marL="0" indent="0">
              <a:lnSpc>
                <a:spcPct val="100000"/>
              </a:lnSpc>
              <a:buNone/>
            </a:pPr>
            <a:endParaRPr lang="en-US" sz="15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8" name="Text Placeholder 2">
                <a:extLst>
                  <a:ext uri="{FF2B5EF4-FFF2-40B4-BE49-F238E27FC236}">
                    <a16:creationId xmlns:a16="http://schemas.microsoft.com/office/drawing/2014/main" id="{B0419BE2-B46A-91A4-0EDA-38BFF1554B01}"/>
                  </a:ext>
                </a:extLst>
              </p:cNvPr>
              <p:cNvSpPr txBox="1">
                <a:spLocks/>
              </p:cNvSpPr>
              <p:nvPr/>
            </p:nvSpPr>
            <p:spPr>
              <a:xfrm>
                <a:off x="15506700" y="5236000"/>
                <a:ext cx="6881352" cy="10197571"/>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57200">
                  <a:lnSpc>
                    <a:spcPct val="150000"/>
                  </a:lnSpc>
                  <a:spcBef>
                    <a:spcPts val="0"/>
                  </a:spcBef>
                  <a:buNone/>
                  <a:defRPr/>
                </a:pPr>
                <a:r>
                  <a:rPr lang="en-US" sz="3200" b="1" dirty="0">
                    <a:solidFill>
                      <a:srgbClr val="54145A"/>
                    </a:solidFill>
                    <a:latin typeface="Arial" panose="020B0604020202020204" pitchFamily="34" charset="0"/>
                    <a:cs typeface="Arial" panose="020B0604020202020204" pitchFamily="34" charset="0"/>
                  </a:rPr>
                  <a:t>Regions of Interests</a:t>
                </a:r>
              </a:p>
              <a:p>
                <a:pPr marL="0" indent="0" defTabSz="457200">
                  <a:lnSpc>
                    <a:spcPct val="150000"/>
                  </a:lnSpc>
                  <a:spcBef>
                    <a:spcPts val="0"/>
                  </a:spcBef>
                  <a:buNone/>
                  <a:defRPr/>
                </a:pPr>
                <a:r>
                  <a:rPr lang="en-US" sz="3200" dirty="0">
                    <a:latin typeface="Arial" panose="020B0604020202020204" pitchFamily="34" charset="0"/>
                    <a:cs typeface="Arial" panose="020B0604020202020204" pitchFamily="34" charset="0"/>
                  </a:rPr>
                  <a:t>IMs is expected to be unaffected at </a:t>
                </a:r>
                <a14:m>
                  <m:oMath xmlns:m="http://schemas.openxmlformats.org/officeDocument/2006/math">
                    <m:sSubSup>
                      <m:sSubSupPr>
                        <m:ctrlPr>
                          <a:rPr lang="en-GB" sz="3200" b="0" i="1" smtClean="0">
                            <a:latin typeface="Cambria Math" panose="02040503050406030204" pitchFamily="18" charset="0"/>
                            <a:cs typeface="Arial" panose="020B0604020202020204" pitchFamily="34" charset="0"/>
                          </a:rPr>
                        </m:ctrlPr>
                      </m:sSubSupPr>
                      <m:e>
                        <m:r>
                          <a:rPr lang="en-GB" sz="3200" b="0" i="1" smtClean="0">
                            <a:latin typeface="Cambria Math" panose="02040503050406030204" pitchFamily="18" charset="0"/>
                            <a:cs typeface="Arial" panose="020B0604020202020204" pitchFamily="34" charset="0"/>
                          </a:rPr>
                          <m:t>𝜎</m:t>
                        </m:r>
                      </m:e>
                      <m:sub>
                        <m:r>
                          <a:rPr lang="en-GB" sz="3200" b="0" i="1" smtClean="0">
                            <a:latin typeface="Cambria Math" panose="02040503050406030204" pitchFamily="18" charset="0"/>
                            <a:cs typeface="Arial" panose="020B0604020202020204" pitchFamily="34" charset="0"/>
                          </a:rPr>
                          <m:t>𝜒</m:t>
                        </m:r>
                      </m:sub>
                      <m:sup>
                        <m:r>
                          <a:rPr lang="en-GB" sz="3200" b="0" i="1" smtClean="0">
                            <a:latin typeface="Cambria Math" panose="02040503050406030204" pitchFamily="18" charset="0"/>
                            <a:cs typeface="Arial" panose="020B0604020202020204" pitchFamily="34" charset="0"/>
                          </a:rPr>
                          <m:t>2</m:t>
                        </m:r>
                      </m:sup>
                    </m:sSubSup>
                    <m:r>
                      <a:rPr lang="en-GB" sz="3200" b="0" i="0" smtClean="0">
                        <a:latin typeface="Cambria Math" panose="02040503050406030204" pitchFamily="18" charset="0"/>
                        <a:cs typeface="Arial" panose="020B0604020202020204" pitchFamily="34" charset="0"/>
                      </a:rPr>
                      <m:t>&lt;0.1</m:t>
                    </m:r>
                  </m:oMath>
                </a14:m>
                <a:r>
                  <a:rPr lang="en-US" sz="3200" dirty="0">
                    <a:latin typeface="Arial" panose="020B0604020202020204" pitchFamily="34" charset="0"/>
                    <a:cs typeface="Arial" panose="020B0604020202020204" pitchFamily="34" charset="0"/>
                  </a:rPr>
                  <a:t> &amp; </a:t>
                </a:r>
                <a14:m>
                  <m:oMath xmlns:m="http://schemas.openxmlformats.org/officeDocument/2006/math">
                    <m:r>
                      <a:rPr lang="en-GB" sz="3200" i="1">
                        <a:latin typeface="Cambria Math" panose="02040503050406030204" pitchFamily="18" charset="0"/>
                        <a:cs typeface="Arial" panose="020B0604020202020204" pitchFamily="34" charset="0"/>
                      </a:rPr>
                      <m:t>𝐴𝑆</m:t>
                    </m:r>
                    <m:r>
                      <a:rPr lang="en-GB" sz="3200" i="1">
                        <a:latin typeface="Cambria Math" panose="02040503050406030204" pitchFamily="18" charset="0"/>
                        <a:cs typeface="Arial" panose="020B0604020202020204" pitchFamily="34" charset="0"/>
                      </a:rPr>
                      <m:t>&lt;10%</m:t>
                    </m:r>
                  </m:oMath>
                </a14:m>
                <a:r>
                  <a:rPr lang="en-US" sz="3200" dirty="0">
                    <a:latin typeface="Arial" panose="020B0604020202020204" pitchFamily="34" charset="0"/>
                    <a:cs typeface="Arial" panose="020B0604020202020204" pitchFamily="34" charset="0"/>
                  </a:rPr>
                  <a:t> (blue) and struggling at </a:t>
                </a:r>
                <a14:m>
                  <m:oMath xmlns:m="http://schemas.openxmlformats.org/officeDocument/2006/math">
                    <m:sSubSup>
                      <m:sSubSupPr>
                        <m:ctrlPr>
                          <a:rPr lang="en-GB" sz="3200" i="1">
                            <a:latin typeface="Cambria Math" panose="02040503050406030204" pitchFamily="18" charset="0"/>
                            <a:cs typeface="Arial" panose="020B0604020202020204" pitchFamily="34" charset="0"/>
                          </a:rPr>
                        </m:ctrlPr>
                      </m:sSubSupPr>
                      <m:e>
                        <m:r>
                          <a:rPr lang="en-GB" sz="3200" i="1">
                            <a:latin typeface="Cambria Math" panose="02040503050406030204" pitchFamily="18" charset="0"/>
                            <a:cs typeface="Arial" panose="020B0604020202020204" pitchFamily="34" charset="0"/>
                          </a:rPr>
                          <m:t>𝜎</m:t>
                        </m:r>
                      </m:e>
                      <m:sub>
                        <m:r>
                          <a:rPr lang="en-GB" sz="3200" i="1">
                            <a:latin typeface="Cambria Math" panose="02040503050406030204" pitchFamily="18" charset="0"/>
                            <a:cs typeface="Arial" panose="020B0604020202020204" pitchFamily="34" charset="0"/>
                          </a:rPr>
                          <m:t>𝜒</m:t>
                        </m:r>
                      </m:sub>
                      <m:sup>
                        <m:r>
                          <a:rPr lang="en-GB" sz="3200" i="1">
                            <a:latin typeface="Cambria Math" panose="02040503050406030204" pitchFamily="18" charset="0"/>
                            <a:cs typeface="Arial" panose="020B0604020202020204" pitchFamily="34" charset="0"/>
                          </a:rPr>
                          <m:t>2</m:t>
                        </m:r>
                      </m:sup>
                    </m:sSubSup>
                    <m:r>
                      <a:rPr lang="en-GB" sz="3200">
                        <a:latin typeface="Cambria Math" panose="02040503050406030204" pitchFamily="18" charset="0"/>
                        <a:cs typeface="Arial" panose="020B0604020202020204" pitchFamily="34" charset="0"/>
                      </a:rPr>
                      <m:t>&gt;0.6</m:t>
                    </m:r>
                  </m:oMath>
                </a14:m>
                <a:r>
                  <a:rPr lang="en-US" sz="3200" dirty="0">
                    <a:latin typeface="Arial" panose="020B0604020202020204" pitchFamily="34" charset="0"/>
                    <a:cs typeface="Arial" panose="020B0604020202020204" pitchFamily="34" charset="0"/>
                  </a:rPr>
                  <a:t> or </a:t>
                </a:r>
                <a14:m>
                  <m:oMath xmlns:m="http://schemas.openxmlformats.org/officeDocument/2006/math">
                    <m:r>
                      <a:rPr lang="en-GB" sz="3200" i="1">
                        <a:latin typeface="Cambria Math" panose="02040503050406030204" pitchFamily="18" charset="0"/>
                        <a:cs typeface="Arial" panose="020B0604020202020204" pitchFamily="34" charset="0"/>
                      </a:rPr>
                      <m:t>𝐴𝑆</m:t>
                    </m:r>
                    <m:r>
                      <a:rPr lang="en-GB" sz="3200" i="1">
                        <a:latin typeface="Cambria Math" panose="02040503050406030204" pitchFamily="18" charset="0"/>
                        <a:cs typeface="Arial" panose="020B0604020202020204" pitchFamily="34" charset="0"/>
                      </a:rPr>
                      <m:t>&gt;100%</m:t>
                    </m:r>
                  </m:oMath>
                </a14:m>
                <a:r>
                  <a:rPr lang="en-US" sz="3200" dirty="0">
                    <a:latin typeface="Arial" panose="020B0604020202020204" pitchFamily="34" charset="0"/>
                    <a:cs typeface="Arial" panose="020B0604020202020204" pitchFamily="34" charset="0"/>
                  </a:rPr>
                  <a:t> (red) in Figure 3 based on [4,5]. Further analysis is needed. Most MCAO with DM2 as HADM at 10km might degrade on common bad conditions, especially when looking down. Optical communication in cities will have strong error. If DM2 is GLDM, the ‘turbulence profile’ will be flipped, causing DM2 to be in a lot stronger distortion region.</a:t>
                </a:r>
              </a:p>
            </p:txBody>
          </p:sp>
        </mc:Choice>
        <mc:Fallback xmlns="">
          <p:sp>
            <p:nvSpPr>
              <p:cNvPr id="68" name="Text Placeholder 2">
                <a:extLst>
                  <a:ext uri="{FF2B5EF4-FFF2-40B4-BE49-F238E27FC236}">
                    <a16:creationId xmlns:a16="http://schemas.microsoft.com/office/drawing/2014/main" id="{B0419BE2-B46A-91A4-0EDA-38BFF1554B01}"/>
                  </a:ext>
                </a:extLst>
              </p:cNvPr>
              <p:cNvSpPr txBox="1">
                <a:spLocks noRot="1" noChangeAspect="1" noMove="1" noResize="1" noEditPoints="1" noAdjustHandles="1" noChangeArrowheads="1" noChangeShapeType="1" noTextEdit="1"/>
              </p:cNvSpPr>
              <p:nvPr/>
            </p:nvSpPr>
            <p:spPr>
              <a:xfrm>
                <a:off x="15506700" y="5236000"/>
                <a:ext cx="6881352" cy="10197571"/>
              </a:xfrm>
              <a:prstGeom prst="rect">
                <a:avLst/>
              </a:prstGeom>
              <a:blipFill>
                <a:blip r:embed="rId4"/>
                <a:stretch>
                  <a:fillRect l="-2303" r="-2569" b="-3945"/>
                </a:stretch>
              </a:blipFill>
            </p:spPr>
            <p:txBody>
              <a:bodyPr/>
              <a:lstStyle/>
              <a:p>
                <a:r>
                  <a:rPr lang="en-GB">
                    <a:noFill/>
                  </a:rPr>
                  <a:t> </a:t>
                </a:r>
              </a:p>
            </p:txBody>
          </p:sp>
        </mc:Fallback>
      </mc:AlternateContent>
      <p:pic>
        <p:nvPicPr>
          <p:cNvPr id="14" name="Picture 13" descr="A logo for a university&#10;&#10;Description automatically generated">
            <a:extLst>
              <a:ext uri="{FF2B5EF4-FFF2-40B4-BE49-F238E27FC236}">
                <a16:creationId xmlns:a16="http://schemas.microsoft.com/office/drawing/2014/main" id="{15D88DD2-1909-E87A-4E1E-306366398643}"/>
              </a:ext>
            </a:extLst>
          </p:cNvPr>
          <p:cNvPicPr>
            <a:picLocks noChangeAspect="1"/>
          </p:cNvPicPr>
          <p:nvPr/>
        </p:nvPicPr>
        <p:blipFill rotWithShape="1">
          <a:blip r:embed="rId5">
            <a:extLst>
              <a:ext uri="{28A0092B-C50C-407E-A947-70E740481C1C}">
                <a14:useLocalDpi xmlns:a14="http://schemas.microsoft.com/office/drawing/2010/main" val="0"/>
              </a:ext>
            </a:extLst>
          </a:blip>
          <a:srcRect l="13737" t="24385" r="14958" b="23534"/>
          <a:stretch/>
        </p:blipFill>
        <p:spPr>
          <a:xfrm>
            <a:off x="638091" y="993069"/>
            <a:ext cx="4562411" cy="1964974"/>
          </a:xfrm>
          <a:prstGeom prst="rect">
            <a:avLst/>
          </a:prstGeom>
        </p:spPr>
      </p:pic>
      <p:sp>
        <p:nvSpPr>
          <p:cNvPr id="7" name="Title Placeholder 1">
            <a:extLst>
              <a:ext uri="{FF2B5EF4-FFF2-40B4-BE49-F238E27FC236}">
                <a16:creationId xmlns:a16="http://schemas.microsoft.com/office/drawing/2014/main" id="{363BC6E8-B27D-C95F-4FB2-2261CA3878C1}"/>
              </a:ext>
            </a:extLst>
          </p:cNvPr>
          <p:cNvSpPr txBox="1">
            <a:spLocks/>
          </p:cNvSpPr>
          <p:nvPr/>
        </p:nvSpPr>
        <p:spPr>
          <a:xfrm>
            <a:off x="736005" y="59900"/>
            <a:ext cx="28803200" cy="144016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7200" b="1" kern="1200">
                <a:solidFill>
                  <a:schemeClr val="tx2"/>
                </a:solidFill>
                <a:latin typeface="+mj-lt"/>
                <a:ea typeface="+mj-ea"/>
                <a:cs typeface="+mj-cs"/>
              </a:defRPr>
            </a:lvl1pPr>
          </a:lstStyle>
          <a:p>
            <a:pPr>
              <a:lnSpc>
                <a:spcPct val="100000"/>
              </a:lnSpc>
              <a:tabLst>
                <a:tab pos="623888" algn="l"/>
              </a:tabLst>
            </a:pPr>
            <a:r>
              <a:rPr lang="en-US" sz="5400" dirty="0">
                <a:latin typeface="Arial" panose="020B0604020202020204" pitchFamily="34" charset="0"/>
                <a:cs typeface="Arial" panose="020B0604020202020204" pitchFamily="34" charset="0"/>
              </a:rPr>
              <a:t>Distortion of Visible Daytime Multi-Conjugate Adaptive Optics Control</a:t>
            </a:r>
            <a:endParaRPr lang="en-GB" sz="5400" dirty="0">
              <a:latin typeface="Arial" panose="020B0604020202020204" pitchFamily="34" charset="0"/>
              <a:cs typeface="Arial" panose="020B0604020202020204" pitchFamily="34" charset="0"/>
            </a:endParaRPr>
          </a:p>
        </p:txBody>
      </p:sp>
      <p:sp>
        <p:nvSpPr>
          <p:cNvPr id="12" name="Text Placeholder 2">
            <a:extLst>
              <a:ext uri="{FF2B5EF4-FFF2-40B4-BE49-F238E27FC236}">
                <a16:creationId xmlns:a16="http://schemas.microsoft.com/office/drawing/2014/main" id="{0C24E127-B0E1-34A2-D0BA-4724424F0C43}"/>
              </a:ext>
            </a:extLst>
          </p:cNvPr>
          <p:cNvSpPr txBox="1">
            <a:spLocks/>
          </p:cNvSpPr>
          <p:nvPr/>
        </p:nvSpPr>
        <p:spPr>
          <a:xfrm>
            <a:off x="1456086" y="1095390"/>
            <a:ext cx="27363040" cy="2156816"/>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3200" b="0" i="1" dirty="0">
                <a:solidFill>
                  <a:schemeClr val="tx2"/>
                </a:solidFill>
                <a:effectLst/>
                <a:latin typeface="Arial" panose="020B0604020202020204" pitchFamily="34" charset="0"/>
                <a:cs typeface="Arial" panose="020B0604020202020204" pitchFamily="34" charset="0"/>
              </a:rPr>
              <a:t>Puttiwat Kongkaew, Timothy Morris, James Osborn</a:t>
            </a:r>
            <a:endParaRPr lang="en-GB" sz="3200" i="1" dirty="0">
              <a:solidFill>
                <a:schemeClr val="tx2"/>
              </a:solidFill>
              <a:latin typeface="Arial" panose="020B0604020202020204" pitchFamily="34" charset="0"/>
              <a:cs typeface="Arial" panose="020B0604020202020204" pitchFamily="34" charset="0"/>
            </a:endParaRPr>
          </a:p>
          <a:p>
            <a:pPr algn="ctr"/>
            <a:r>
              <a:rPr lang="en-GB" sz="3200" i="1" dirty="0">
                <a:solidFill>
                  <a:schemeClr val="tx2"/>
                </a:solidFill>
                <a:latin typeface="Arial" panose="020B0604020202020204" pitchFamily="34" charset="0"/>
                <a:cs typeface="Arial" panose="020B0604020202020204" pitchFamily="34" charset="0"/>
              </a:rPr>
              <a:t>Centre for Advanced Instrumentation (CfAI), Department of Physics, Durham University, UK</a:t>
            </a:r>
          </a:p>
          <a:p>
            <a:pPr algn="ctr"/>
            <a:r>
              <a:rPr lang="en-GB" sz="3200" i="1" dirty="0">
                <a:solidFill>
                  <a:schemeClr val="tx2"/>
                </a:solidFill>
                <a:latin typeface="Arial" panose="020B0604020202020204" pitchFamily="34" charset="0"/>
                <a:cs typeface="Arial" panose="020B0604020202020204" pitchFamily="34" charset="0"/>
              </a:rPr>
              <a:t>Email: puttiwat.kongkaew@durham.ac.uk</a:t>
            </a:r>
            <a:endParaRPr lang="en-GB" sz="3200" b="0" i="1" dirty="0">
              <a:solidFill>
                <a:schemeClr val="tx2"/>
              </a:solidFill>
              <a:effectLst/>
              <a:latin typeface="Arial" panose="020B0604020202020204" pitchFamily="34" charset="0"/>
              <a:cs typeface="Arial" panose="020B0604020202020204" pitchFamily="34" charset="0"/>
            </a:endParaRPr>
          </a:p>
        </p:txBody>
      </p:sp>
      <p:cxnSp>
        <p:nvCxnSpPr>
          <p:cNvPr id="33" name="Straight Connector 32">
            <a:extLst>
              <a:ext uri="{FF2B5EF4-FFF2-40B4-BE49-F238E27FC236}">
                <a16:creationId xmlns:a16="http://schemas.microsoft.com/office/drawing/2014/main" id="{15DC23F5-EBD2-ABC3-2411-A72466880361}"/>
              </a:ext>
            </a:extLst>
          </p:cNvPr>
          <p:cNvCxnSpPr>
            <a:cxnSpLocks/>
          </p:cNvCxnSpPr>
          <p:nvPr/>
        </p:nvCxnSpPr>
        <p:spPr>
          <a:xfrm flipV="1">
            <a:off x="15137606" y="6295009"/>
            <a:ext cx="0" cy="36000000"/>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pic>
        <p:nvPicPr>
          <p:cNvPr id="10" name="Picture 9" descr="A white rectangular sign with purple text&#10;&#10;Description automatically generated">
            <a:extLst>
              <a:ext uri="{FF2B5EF4-FFF2-40B4-BE49-F238E27FC236}">
                <a16:creationId xmlns:a16="http://schemas.microsoft.com/office/drawing/2014/main" id="{A253A796-B64D-A40E-8C2A-C9721A488AB8}"/>
              </a:ext>
            </a:extLst>
          </p:cNvPr>
          <p:cNvPicPr>
            <a:picLocks noChangeAspect="1"/>
          </p:cNvPicPr>
          <p:nvPr/>
        </p:nvPicPr>
        <p:blipFill rotWithShape="1">
          <a:blip r:embed="rId6">
            <a:extLst>
              <a:ext uri="{28A0092B-C50C-407E-A947-70E740481C1C}">
                <a14:useLocalDpi xmlns:a14="http://schemas.microsoft.com/office/drawing/2010/main" val="0"/>
              </a:ext>
            </a:extLst>
          </a:blip>
          <a:srcRect l="2128" t="22420" r="2453" b="22322"/>
          <a:stretch/>
        </p:blipFill>
        <p:spPr>
          <a:xfrm>
            <a:off x="25466617" y="1320592"/>
            <a:ext cx="4563315" cy="1483935"/>
          </a:xfrm>
          <a:prstGeom prst="rect">
            <a:avLst/>
          </a:prstGeom>
        </p:spPr>
      </p:pic>
      <p:sp>
        <p:nvSpPr>
          <p:cNvPr id="23" name="Text Placeholder 2">
            <a:extLst>
              <a:ext uri="{FF2B5EF4-FFF2-40B4-BE49-F238E27FC236}">
                <a16:creationId xmlns:a16="http://schemas.microsoft.com/office/drawing/2014/main" id="{B658FEDB-F067-8BE2-5EEE-8ABACE9B7235}"/>
              </a:ext>
            </a:extLst>
          </p:cNvPr>
          <p:cNvSpPr txBox="1">
            <a:spLocks/>
          </p:cNvSpPr>
          <p:nvPr/>
        </p:nvSpPr>
        <p:spPr>
          <a:xfrm>
            <a:off x="15525750" y="30054336"/>
            <a:ext cx="14013456" cy="65806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457200" rtl="0" eaLnBrk="1" fontAlgn="auto" latinLnBrk="0" hangingPunct="1">
              <a:lnSpc>
                <a:spcPct val="150000"/>
              </a:lnSpc>
              <a:spcBef>
                <a:spcPts val="0"/>
              </a:spcBef>
              <a:spcAft>
                <a:spcPts val="0"/>
              </a:spcAft>
              <a:buClrTx/>
              <a:buSzTx/>
              <a:buFontTx/>
              <a:buNone/>
              <a:tabLst/>
              <a:defRPr/>
            </a:pPr>
            <a:r>
              <a:rPr lang="en-US" sz="3200" b="1" dirty="0">
                <a:solidFill>
                  <a:schemeClr val="tx2"/>
                </a:solidFill>
                <a:latin typeface="Arial" panose="020B0604020202020204" pitchFamily="34" charset="0"/>
                <a:cs typeface="Arial" panose="020B0604020202020204" pitchFamily="34" charset="0"/>
              </a:rPr>
              <a:t>Conclusion</a:t>
            </a:r>
          </a:p>
          <a:p>
            <a:pPr marL="0" marR="0" lvl="0" indent="0" algn="l" defTabSz="457200" rtl="0" eaLnBrk="1" fontAlgn="auto" latinLnBrk="0" hangingPunct="1">
              <a:lnSpc>
                <a:spcPct val="150000"/>
              </a:lnSpc>
              <a:spcBef>
                <a:spcPts val="0"/>
              </a:spcBef>
              <a:spcAft>
                <a:spcPts val="0"/>
              </a:spcAft>
              <a:buClrTx/>
              <a:buSzTx/>
              <a:buFontTx/>
              <a:buNone/>
              <a:tabLst/>
              <a:defRPr/>
            </a:pPr>
            <a:r>
              <a:rPr lang="en-US" sz="3200" dirty="0">
                <a:latin typeface="Arial" panose="020B0604020202020204" pitchFamily="34" charset="0"/>
                <a:cs typeface="Arial" panose="020B0604020202020204" pitchFamily="34" charset="0"/>
              </a:rPr>
              <a:t>The impact of distortion and propagation effects on nighttime AO performance is not normally considered, but becomes a dominant error source for solar and optical communication where Rytov numbers&gt; 0.3 can be observed. MCAO control with strong distortion has no correction, as expected. MCAO with HADM as DM2 at 10-20km on a general bad day at good site will have approximately 10% degradation on Strehl ratio. Question arises: if DM2 is a GLDM, would it be much worse? Can distorted IMs be updated?</a:t>
            </a:r>
          </a:p>
        </p:txBody>
      </p:sp>
      <p:sp>
        <p:nvSpPr>
          <p:cNvPr id="590" name="Text Placeholder 2">
            <a:extLst>
              <a:ext uri="{FF2B5EF4-FFF2-40B4-BE49-F238E27FC236}">
                <a16:creationId xmlns:a16="http://schemas.microsoft.com/office/drawing/2014/main" id="{204BE264-B0C2-B049-2149-FBCCC224B88A}"/>
              </a:ext>
            </a:extLst>
          </p:cNvPr>
          <p:cNvSpPr txBox="1">
            <a:spLocks/>
          </p:cNvSpPr>
          <p:nvPr/>
        </p:nvSpPr>
        <p:spPr>
          <a:xfrm>
            <a:off x="560440" y="2678791"/>
            <a:ext cx="29349290" cy="2880320"/>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Aft>
                <a:spcPts val="800"/>
              </a:spcAft>
            </a:pPr>
            <a:r>
              <a:rPr lang="en-GB" sz="2400" b="1" kern="100" dirty="0">
                <a:solidFill>
                  <a:schemeClr val="tx2"/>
                </a:solidFill>
                <a:effectLst/>
                <a:latin typeface="Arial" panose="020B0604020202020204" pitchFamily="34" charset="0"/>
                <a:ea typeface="Calibri" panose="020F0502020204030204" pitchFamily="34" charset="0"/>
                <a:cs typeface="Cordia New" panose="020B0304020202020204" pitchFamily="34" charset="-34"/>
              </a:rPr>
              <a:t>ABSTRACT:</a:t>
            </a:r>
            <a:r>
              <a:rPr lang="en-GB" sz="2400" kern="100" dirty="0">
                <a:effectLst/>
                <a:latin typeface="Arial" panose="020B0604020202020204" pitchFamily="34" charset="0"/>
                <a:ea typeface="Calibri" panose="020F0502020204030204" pitchFamily="34" charset="0"/>
                <a:cs typeface="Cordia New" panose="020B0304020202020204" pitchFamily="34" charset="-34"/>
              </a:rPr>
              <a:t> Daytime wide-field optical observations, including solar telescopes and optical communications, experience strong turbulence and scintillation. Such condition may cause control problems in MCAO due to DM distortions. Consider an MCAO configuration with two DM. When MCAO control is ‘active’, the second DM in the path distorts images and control of the first DM. Scintillation and statistical shift of DM’s actuators as detected by WFSs are hypothesized to be major sources of errors. An end-to-end Monte Carlo simulation is chosen as the mode of study. Interaction matrices of the first DM conjugated to ground are measured through </a:t>
            </a:r>
            <a:r>
              <a:rPr lang="en-GB" sz="2400" kern="100" dirty="0">
                <a:latin typeface="Arial" panose="020B0604020202020204" pitchFamily="34" charset="0"/>
                <a:ea typeface="Calibri" panose="020F0502020204030204" pitchFamily="34" charset="0"/>
                <a:cs typeface="Cordia New" panose="020B0304020202020204" pitchFamily="34" charset="-34"/>
              </a:rPr>
              <a:t>the</a:t>
            </a:r>
            <a:r>
              <a:rPr lang="en-GB" sz="2400" kern="100" dirty="0">
                <a:effectLst/>
                <a:latin typeface="Arial" panose="020B0604020202020204" pitchFamily="34" charset="0"/>
                <a:ea typeface="Calibri" panose="020F0502020204030204" pitchFamily="34" charset="0"/>
                <a:cs typeface="Cordia New" panose="020B0304020202020204" pitchFamily="34" charset="-34"/>
              </a:rPr>
              <a:t> active second DM conjugated to high altitude, inverted to control matrices, and used in AO control. To single out control error only the first DM and its turbulence layer are active during the control test.</a:t>
            </a:r>
            <a:endParaRPr lang="en-GB" sz="2400" kern="100" dirty="0">
              <a:effectLst/>
              <a:latin typeface="Calibri" panose="020F0502020204030204" pitchFamily="34" charset="0"/>
              <a:ea typeface="Calibri" panose="020F0502020204030204" pitchFamily="34" charset="0"/>
              <a:cs typeface="Cordia New" panose="020B0304020202020204" pitchFamily="34" charset="-34"/>
            </a:endParaRPr>
          </a:p>
        </p:txBody>
      </p:sp>
      <p:sp>
        <p:nvSpPr>
          <p:cNvPr id="78" name="Text Placeholder 2">
            <a:extLst>
              <a:ext uri="{FF2B5EF4-FFF2-40B4-BE49-F238E27FC236}">
                <a16:creationId xmlns:a16="http://schemas.microsoft.com/office/drawing/2014/main" id="{1007B0A4-7B7E-39C0-14E5-9F6944CD57CE}"/>
              </a:ext>
            </a:extLst>
          </p:cNvPr>
          <p:cNvSpPr txBox="1">
            <a:spLocks/>
          </p:cNvSpPr>
          <p:nvPr/>
        </p:nvSpPr>
        <p:spPr>
          <a:xfrm>
            <a:off x="15506700" y="26417967"/>
            <a:ext cx="14032506" cy="37203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3200" b="1" i="0" u="none" strike="noStrike" kern="1200" cap="none" normalizeH="0" baseline="0" noProof="0" dirty="0">
                <a:ln>
                  <a:noFill/>
                </a:ln>
                <a:solidFill>
                  <a:srgbClr val="54145A"/>
                </a:solidFill>
                <a:effectLst/>
                <a:uLnTx/>
                <a:uFillTx/>
                <a:latin typeface="Arial" panose="020B0604020202020204" pitchFamily="34" charset="0"/>
                <a:ea typeface="+mn-ea"/>
                <a:cs typeface="Arial" panose="020B0604020202020204" pitchFamily="34" charset="0"/>
              </a:rPr>
              <a:t>Closed-loop </a:t>
            </a:r>
            <a:r>
              <a:rPr lang="en-US" sz="3200" b="1" dirty="0">
                <a:solidFill>
                  <a:srgbClr val="54145A"/>
                </a:solidFill>
                <a:latin typeface="Arial" panose="020B0604020202020204" pitchFamily="34" charset="0"/>
                <a:cs typeface="Arial" panose="020B0604020202020204" pitchFamily="34" charset="0"/>
              </a:rPr>
              <a:t>results</a:t>
            </a:r>
            <a:r>
              <a:rPr kumimoji="0" lang="en-US" sz="3200" b="1" i="0" u="none" strike="noStrike" kern="1200" cap="none" normalizeH="0" baseline="0" noProof="0" dirty="0">
                <a:ln>
                  <a:noFill/>
                </a:ln>
                <a:solidFill>
                  <a:srgbClr val="54145A"/>
                </a:solidFill>
                <a:effectLst/>
                <a:uLnTx/>
                <a:uFillTx/>
                <a:latin typeface="Arial" panose="020B0604020202020204" pitchFamily="34" charset="0"/>
                <a:ea typeface="+mn-ea"/>
                <a:cs typeface="Arial" panose="020B0604020202020204" pitchFamily="34" charset="0"/>
              </a:rPr>
              <a:t> on static turbulence</a:t>
            </a:r>
          </a:p>
          <a:p>
            <a:pPr marL="0" lvl="0" indent="0" defTabSz="457200">
              <a:lnSpc>
                <a:spcPct val="150000"/>
              </a:lnSpc>
              <a:spcBef>
                <a:spcPts val="0"/>
              </a:spcBef>
              <a:buNone/>
              <a:defRPr/>
            </a:pPr>
            <a:r>
              <a:rPr lang="en-US" sz="3200" dirty="0">
                <a:latin typeface="Arial" panose="020B0604020202020204" pitchFamily="34" charset="0"/>
                <a:cs typeface="Arial" panose="020B0604020202020204" pitchFamily="34" charset="0"/>
              </a:rPr>
              <a:t>Figure 5 shows the corrected instantaneous Strehl ratio when distorted and undistorted control matrices are used to control the SCAO correction of a static phase screen with an r</a:t>
            </a:r>
            <a:r>
              <a:rPr lang="en-US" sz="3200" baseline="-25000" dirty="0">
                <a:latin typeface="Arial" panose="020B0604020202020204" pitchFamily="34" charset="0"/>
                <a:cs typeface="Arial" panose="020B0604020202020204" pitchFamily="34" charset="0"/>
              </a:rPr>
              <a:t>0</a:t>
            </a:r>
            <a:r>
              <a:rPr lang="en-US" sz="3200" dirty="0">
                <a:latin typeface="Arial" panose="020B0604020202020204" pitchFamily="34" charset="0"/>
                <a:cs typeface="Arial" panose="020B0604020202020204" pitchFamily="34" charset="0"/>
              </a:rPr>
              <a:t> of 5cm. As expected, AO correction degrades with increasing stronger distortions.</a:t>
            </a:r>
          </a:p>
        </p:txBody>
      </p:sp>
      <p:sp>
        <p:nvSpPr>
          <p:cNvPr id="116" name="Text Placeholder 2">
            <a:extLst>
              <a:ext uri="{FF2B5EF4-FFF2-40B4-BE49-F238E27FC236}">
                <a16:creationId xmlns:a16="http://schemas.microsoft.com/office/drawing/2014/main" id="{218D4D70-3243-828A-2D6F-F0F624124AA9}"/>
              </a:ext>
            </a:extLst>
          </p:cNvPr>
          <p:cNvSpPr txBox="1">
            <a:spLocks/>
          </p:cNvSpPr>
          <p:nvPr/>
        </p:nvSpPr>
        <p:spPr>
          <a:xfrm>
            <a:off x="631186" y="5201732"/>
            <a:ext cx="14433061" cy="6904644"/>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3200" b="1" i="0" u="none" strike="noStrike" kern="1200" cap="none" normalizeH="0" baseline="0" noProof="0" dirty="0">
                <a:ln>
                  <a:noFill/>
                </a:ln>
                <a:solidFill>
                  <a:srgbClr val="54145A"/>
                </a:solidFill>
                <a:effectLst/>
                <a:uLnTx/>
                <a:uFillTx/>
                <a:latin typeface="Arial" panose="020B0604020202020204" pitchFamily="34" charset="0"/>
                <a:ea typeface="+mn-ea"/>
                <a:cs typeface="Arial" panose="020B0604020202020204" pitchFamily="34" charset="0"/>
              </a:rPr>
              <a:t>Problem</a:t>
            </a:r>
          </a:p>
          <a:p>
            <a:pPr marL="0" marR="0" lvl="0" indent="0" algn="l" defTabSz="457200" rtl="0" eaLnBrk="1" fontAlgn="auto" latinLnBrk="0" hangingPunct="1">
              <a:lnSpc>
                <a:spcPct val="150000"/>
              </a:lnSpc>
              <a:spcBef>
                <a:spcPts val="0"/>
              </a:spcBef>
              <a:spcAft>
                <a:spcPts val="0"/>
              </a:spcAft>
              <a:buClrTx/>
              <a:buSzTx/>
              <a:buFontTx/>
              <a:buNone/>
              <a:tabLst/>
              <a:defRPr/>
            </a:pPr>
            <a:r>
              <a:rPr lang="en-US" sz="3200" dirty="0">
                <a:latin typeface="Arial" panose="020B0604020202020204" pitchFamily="34" charset="0"/>
                <a:cs typeface="Arial" panose="020B0604020202020204" pitchFamily="34" charset="0"/>
              </a:rPr>
              <a:t>Multi-conjugate AO system utilizes several deformable mirrors in series to provide correction over a wide field. In strong turbulence conditions this can introduce optical distortions between the wavefront sensors and deformable mirrors that can impact performance[1]. Here we investigate how distortion of interaction (and therefore control) matrices (IM&amp;CM) by an intermediate deformable mirror can impact AO system performance with optical propagation effects between DMs and WFS included. We provide some initial system and atmospheric boundary conditions in which this situation may be encountered.</a:t>
            </a:r>
            <a:endParaRPr kumimoji="0" lang="en-US" sz="3200" i="0" u="none" strike="noStrike" kern="1200" cap="none" normalizeH="0" baseline="0" noProof="0" dirty="0">
              <a:ln>
                <a:noFill/>
              </a:ln>
              <a:effectLst/>
              <a:uLnTx/>
              <a:uFillTx/>
              <a:latin typeface="Arial" panose="020B0604020202020204" pitchFamily="34" charset="0"/>
              <a:ea typeface="+mn-ea"/>
              <a:cs typeface="Arial" panose="020B0604020202020204" pitchFamily="34" charset="0"/>
            </a:endParaRPr>
          </a:p>
        </p:txBody>
      </p:sp>
      <p:sp>
        <p:nvSpPr>
          <p:cNvPr id="11" name="Text Placeholder 2">
            <a:extLst>
              <a:ext uri="{FF2B5EF4-FFF2-40B4-BE49-F238E27FC236}">
                <a16:creationId xmlns:a16="http://schemas.microsoft.com/office/drawing/2014/main" id="{C0B4A43E-62D2-6AD8-7425-2E1D152C4034}"/>
              </a:ext>
            </a:extLst>
          </p:cNvPr>
          <p:cNvSpPr txBox="1">
            <a:spLocks/>
          </p:cNvSpPr>
          <p:nvPr/>
        </p:nvSpPr>
        <p:spPr>
          <a:xfrm>
            <a:off x="632664" y="11798642"/>
            <a:ext cx="14440188" cy="4350322"/>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57200">
              <a:lnSpc>
                <a:spcPct val="150000"/>
              </a:lnSpc>
              <a:spcBef>
                <a:spcPts val="0"/>
              </a:spcBef>
              <a:buNone/>
              <a:defRPr/>
            </a:pPr>
            <a:r>
              <a:rPr lang="en-US" sz="3200" b="1" dirty="0">
                <a:solidFill>
                  <a:srgbClr val="54145A"/>
                </a:solidFill>
                <a:latin typeface="Arial" panose="020B0604020202020204" pitchFamily="34" charset="0"/>
                <a:cs typeface="Arial" panose="020B0604020202020204" pitchFamily="34" charset="0"/>
              </a:rPr>
              <a:t>Control Matrix distortion</a:t>
            </a:r>
            <a:endParaRPr lang="en-US" sz="3200" dirty="0">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50000"/>
              </a:lnSpc>
              <a:spcBef>
                <a:spcPts val="0"/>
              </a:spcBef>
              <a:spcAft>
                <a:spcPts val="0"/>
              </a:spcAft>
              <a:buClrTx/>
              <a:buSzTx/>
              <a:buFontTx/>
              <a:buNone/>
              <a:tabLst/>
              <a:defRPr/>
            </a:pPr>
            <a:r>
              <a:rPr lang="en-US" sz="3200" dirty="0">
                <a:latin typeface="Arial" panose="020B0604020202020204" pitchFamily="34" charset="0"/>
                <a:cs typeface="Arial" panose="020B0604020202020204" pitchFamily="34" charset="0"/>
              </a:rPr>
              <a:t>During MCAO system calibration, an IM is a measure that links the response of each actuator in the system to the WFS. In the presence of large static aberrations or a large phase correction on the intermediate DM (DM2 in Figure 1) the geometry between DM1 and the WFS can become distorted, introducing errors in the CM.</a:t>
            </a:r>
            <a:endParaRPr kumimoji="0" lang="en-US" sz="3200" i="0" u="none" strike="noStrike" kern="1200" cap="none" normalizeH="0" baseline="0" noProof="0" dirty="0">
              <a:ln>
                <a:noFill/>
              </a:ln>
              <a:effectLst/>
              <a:uLnTx/>
              <a:uFillTx/>
              <a:latin typeface="Arial" panose="020B0604020202020204" pitchFamily="34" charset="0"/>
              <a:ea typeface="+mn-ea"/>
              <a:cs typeface="Arial" panose="020B0604020202020204" pitchFamily="34" charset="0"/>
            </a:endParaRPr>
          </a:p>
        </p:txBody>
      </p:sp>
      <p:sp>
        <p:nvSpPr>
          <p:cNvPr id="39" name="Text Placeholder 2">
            <a:extLst>
              <a:ext uri="{FF2B5EF4-FFF2-40B4-BE49-F238E27FC236}">
                <a16:creationId xmlns:a16="http://schemas.microsoft.com/office/drawing/2014/main" id="{40907EED-2BC6-5A62-3491-2B8C6C35D3DF}"/>
              </a:ext>
            </a:extLst>
          </p:cNvPr>
          <p:cNvSpPr txBox="1">
            <a:spLocks/>
          </p:cNvSpPr>
          <p:nvPr/>
        </p:nvSpPr>
        <p:spPr>
          <a:xfrm>
            <a:off x="683554" y="38742334"/>
            <a:ext cx="14406414" cy="3703524"/>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457200">
              <a:lnSpc>
                <a:spcPct val="150000"/>
              </a:lnSpc>
              <a:spcBef>
                <a:spcPts val="0"/>
              </a:spcBef>
              <a:buNone/>
              <a:defRPr/>
            </a:pPr>
            <a:r>
              <a:rPr lang="en-US" sz="3200" dirty="0">
                <a:latin typeface="Arial" panose="020B0604020202020204" pitchFamily="34" charset="0"/>
                <a:cs typeface="Arial" panose="020B0604020202020204" pitchFamily="34" charset="0"/>
              </a:rPr>
              <a:t>DM1 and DM2 is conjugated to ground and altitude, respectively. Distorted IMs are measured by ‘calibrating’ DM1 through a random static DM2 applying Kolmogorov turbulence with only spatial frequency lower than half frequency of SHWFS. Then DM1’s distorted IMs are tested to correct 5cm-r</a:t>
            </a:r>
            <a:r>
              <a:rPr lang="en-US" sz="3200" baseline="-25000" dirty="0">
                <a:latin typeface="Arial" panose="020B0604020202020204" pitchFamily="34" charset="0"/>
                <a:cs typeface="Arial" panose="020B0604020202020204" pitchFamily="34" charset="0"/>
              </a:rPr>
              <a:t>0</a:t>
            </a:r>
            <a:r>
              <a:rPr lang="en-US" sz="3200" dirty="0">
                <a:latin typeface="Arial" panose="020B0604020202020204" pitchFamily="34" charset="0"/>
                <a:cs typeface="Arial" panose="020B0604020202020204" pitchFamily="34" charset="0"/>
              </a:rPr>
              <a:t> ground turbulence with flatten DM2. WFS with 5cm subaperture.at 500nm is used.</a:t>
            </a:r>
          </a:p>
        </p:txBody>
      </p:sp>
      <p:grpSp>
        <p:nvGrpSpPr>
          <p:cNvPr id="75" name="Group 74">
            <a:extLst>
              <a:ext uri="{FF2B5EF4-FFF2-40B4-BE49-F238E27FC236}">
                <a16:creationId xmlns:a16="http://schemas.microsoft.com/office/drawing/2014/main" id="{AE6F35B3-7F30-BBB0-4D19-DDE889B3D1EB}"/>
              </a:ext>
            </a:extLst>
          </p:cNvPr>
          <p:cNvGrpSpPr/>
          <p:nvPr/>
        </p:nvGrpSpPr>
        <p:grpSpPr>
          <a:xfrm>
            <a:off x="22388052" y="5307536"/>
            <a:ext cx="7401233" cy="10902988"/>
            <a:chOff x="22391841" y="9429712"/>
            <a:chExt cx="7283144" cy="10902988"/>
          </a:xfrm>
        </p:grpSpPr>
        <p:sp>
          <p:nvSpPr>
            <p:cNvPr id="477" name="TextBox 476">
              <a:extLst>
                <a:ext uri="{FF2B5EF4-FFF2-40B4-BE49-F238E27FC236}">
                  <a16:creationId xmlns:a16="http://schemas.microsoft.com/office/drawing/2014/main" id="{5F9267FF-ACE9-C635-DAD0-9889790A9567}"/>
                </a:ext>
              </a:extLst>
            </p:cNvPr>
            <p:cNvSpPr txBox="1"/>
            <p:nvPr/>
          </p:nvSpPr>
          <p:spPr>
            <a:xfrm>
              <a:off x="22836035" y="16849278"/>
              <a:ext cx="6838950" cy="3483422"/>
            </a:xfrm>
            <a:prstGeom prst="rect">
              <a:avLst/>
            </a:prstGeom>
            <a:noFill/>
          </p:spPr>
          <p:txBody>
            <a:bodyPr wrap="square" rtlCol="0">
              <a:noAutofit/>
            </a:bodyPr>
            <a:lstStyle/>
            <a:p>
              <a:r>
                <a:rPr kumimoji="0" lang="en-GB" sz="2000" b="1" i="0" u="none" strike="noStrike" kern="1200" cap="none" spc="0" normalizeH="0" baseline="0" noProof="0" dirty="0">
                  <a:ln>
                    <a:noFill/>
                  </a:ln>
                  <a:effectLst/>
                  <a:uLnTx/>
                  <a:uFillTx/>
                  <a:latin typeface="Arial" panose="020B0604020202020204" pitchFamily="34" charset="0"/>
                  <a:cs typeface="Arial" panose="020B0604020202020204" pitchFamily="34" charset="0"/>
                </a:rPr>
                <a:t>Figure 3: </a:t>
              </a:r>
              <a:r>
                <a:rPr lang="en-GB" sz="2000" dirty="0">
                  <a:latin typeface="Arial" panose="020B0604020202020204" pitchFamily="34" charset="0"/>
                  <a:cs typeface="Arial" panose="020B0604020202020204" pitchFamily="34" charset="0"/>
                </a:rPr>
                <a:t>Shows region of AO operations expected to have negligible (blue shaded) and strong distortion (red shaded). Values are calculated for 5cm-subaperture geometry at 500nm. </a:t>
              </a:r>
              <a:r>
                <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rPr>
                <a:t>X-axis shows turbulence strength being corrected by DM2. Y-axis shows altitude difference between DM1 and DM2. Contour plots of scintillation indices and relative actuator shift are overlaid.</a:t>
              </a:r>
              <a:r>
                <a:rPr lang="en-GB" sz="2000" baseline="0" dirty="0">
                  <a:latin typeface="Arial" panose="020B0604020202020204" pitchFamily="34" charset="0"/>
                  <a:cs typeface="Arial" panose="020B0604020202020204" pitchFamily="34" charset="0"/>
                </a:rPr>
                <a:t> </a:t>
              </a:r>
              <a:r>
                <a:rPr kumimoji="0" lang="en-GB" sz="2000" i="0" u="none" strike="noStrike" kern="1200" cap="none" spc="0" normalizeH="0" noProof="0" dirty="0">
                  <a:ln>
                    <a:noFill/>
                  </a:ln>
                  <a:effectLst/>
                  <a:uLnTx/>
                  <a:uFillTx/>
                  <a:latin typeface="Arial" panose="020B0604020202020204" pitchFamily="34" charset="0"/>
                  <a:cs typeface="Arial" panose="020B0604020202020204" pitchFamily="34" charset="0"/>
                </a:rPr>
                <a:t>Turbulence</a:t>
              </a:r>
              <a:r>
                <a:rPr lang="en-GB" sz="2000" dirty="0">
                  <a:latin typeface="Arial" panose="020B0604020202020204" pitchFamily="34" charset="0"/>
                  <a:cs typeface="Arial" panose="020B0604020202020204" pitchFamily="34" charset="0"/>
                </a:rPr>
                <a:t> profiles of the stronger 3</a:t>
              </a:r>
              <a:r>
                <a:rPr lang="en-GB" sz="2000" baseline="30000" dirty="0">
                  <a:latin typeface="Arial" panose="020B0604020202020204" pitchFamily="34" charset="0"/>
                  <a:cs typeface="Arial" panose="020B0604020202020204" pitchFamily="34" charset="0"/>
                </a:rPr>
                <a:t>rd</a:t>
              </a:r>
              <a:r>
                <a:rPr lang="en-GB" sz="2000" dirty="0">
                  <a:latin typeface="Arial" panose="020B0604020202020204" pitchFamily="34" charset="0"/>
                  <a:cs typeface="Arial" panose="020B0604020202020204" pitchFamily="34" charset="0"/>
                </a:rPr>
                <a:t> Quartile </a:t>
              </a:r>
              <a:r>
                <a:rPr kumimoji="0" lang="en-GB" sz="2000" i="0" u="none" strike="noStrike" kern="1200" cap="none" spc="0" normalizeH="0" noProof="0" dirty="0">
                  <a:ln>
                    <a:noFill/>
                  </a:ln>
                  <a:effectLst/>
                  <a:uLnTx/>
                  <a:uFillTx/>
                  <a:latin typeface="Arial" panose="020B0604020202020204" pitchFamily="34" charset="0"/>
                  <a:cs typeface="Arial" panose="020B0604020202020204" pitchFamily="34" charset="0"/>
                </a:rPr>
                <a:t>from 24hSHIMM data at Paranal [</a:t>
              </a:r>
              <a:r>
                <a:rPr lang="en-GB" sz="2000" dirty="0">
                  <a:latin typeface="Arial" panose="020B0604020202020204" pitchFamily="34" charset="0"/>
                  <a:cs typeface="Arial" panose="020B0604020202020204" pitchFamily="34" charset="0"/>
                </a:rPr>
                <a:t>6</a:t>
              </a:r>
              <a:r>
                <a:rPr kumimoji="0" lang="en-GB" sz="2000" i="0" u="none" strike="noStrike" kern="1200" cap="none" spc="0" normalizeH="0" noProof="0" dirty="0">
                  <a:ln>
                    <a:noFill/>
                  </a:ln>
                  <a:effectLst/>
                  <a:uLnTx/>
                  <a:uFillTx/>
                  <a:latin typeface="Arial" panose="020B0604020202020204" pitchFamily="34" charset="0"/>
                  <a:cs typeface="Arial" panose="020B0604020202020204" pitchFamily="34" charset="0"/>
                </a:rPr>
                <a:t>] both during the night and the day and looking up and down are shown for comparison.</a:t>
              </a:r>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531" name="Group 530">
              <a:extLst>
                <a:ext uri="{FF2B5EF4-FFF2-40B4-BE49-F238E27FC236}">
                  <a16:creationId xmlns:a16="http://schemas.microsoft.com/office/drawing/2014/main" id="{02C1B77A-EB0A-64D4-3739-3F0D6F38C54D}"/>
                </a:ext>
              </a:extLst>
            </p:cNvPr>
            <p:cNvGrpSpPr/>
            <p:nvPr/>
          </p:nvGrpSpPr>
          <p:grpSpPr>
            <a:xfrm>
              <a:off x="22391841" y="9429712"/>
              <a:ext cx="7170150" cy="7370755"/>
              <a:chOff x="15607583" y="10738636"/>
              <a:chExt cx="7170150" cy="7370755"/>
            </a:xfrm>
          </p:grpSpPr>
          <p:pic>
            <p:nvPicPr>
              <p:cNvPr id="111" name="Picture 110" descr="A screen shot of a computer&#10;&#10;Description automatically generated">
                <a:extLst>
                  <a:ext uri="{FF2B5EF4-FFF2-40B4-BE49-F238E27FC236}">
                    <a16:creationId xmlns:a16="http://schemas.microsoft.com/office/drawing/2014/main" id="{AED7A4D7-19C8-D137-AECA-2B5C1421A52D}"/>
                  </a:ext>
                </a:extLst>
              </p:cNvPr>
              <p:cNvPicPr>
                <a:picLocks noChangeAspect="1"/>
              </p:cNvPicPr>
              <p:nvPr/>
            </p:nvPicPr>
            <p:blipFill rotWithShape="1">
              <a:blip r:embed="rId7">
                <a:extLst>
                  <a:ext uri="{28A0092B-C50C-407E-A947-70E740481C1C}">
                    <a14:useLocalDpi xmlns:a14="http://schemas.microsoft.com/office/drawing/2010/main" val="0"/>
                  </a:ext>
                </a:extLst>
              </a:blip>
              <a:srcRect l="70339" t="39537" r="22400" b="43701"/>
              <a:stretch/>
            </p:blipFill>
            <p:spPr>
              <a:xfrm>
                <a:off x="16542398" y="15810525"/>
                <a:ext cx="615285" cy="1390085"/>
              </a:xfrm>
              <a:prstGeom prst="rect">
                <a:avLst/>
              </a:prstGeom>
              <a:ln>
                <a:noFill/>
              </a:ln>
            </p:spPr>
          </p:pic>
          <p:pic>
            <p:nvPicPr>
              <p:cNvPr id="73" name="Picture 72" descr="A graph of lines and arrows&#10;&#10;Description automatically generated with medium confidence">
                <a:extLst>
                  <a:ext uri="{FF2B5EF4-FFF2-40B4-BE49-F238E27FC236}">
                    <a16:creationId xmlns:a16="http://schemas.microsoft.com/office/drawing/2014/main" id="{B05849D9-0863-6222-1C85-582F04FC103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334195" y="11353801"/>
                <a:ext cx="6119367" cy="6081876"/>
              </a:xfrm>
              <a:prstGeom prst="rect">
                <a:avLst/>
              </a:prstGeom>
            </p:spPr>
          </p:pic>
          <p:sp>
            <p:nvSpPr>
              <p:cNvPr id="524" name="Freeform: Shape 523">
                <a:extLst>
                  <a:ext uri="{FF2B5EF4-FFF2-40B4-BE49-F238E27FC236}">
                    <a16:creationId xmlns:a16="http://schemas.microsoft.com/office/drawing/2014/main" id="{C21D671A-C2EC-86E1-7C34-91ED03E17DBF}"/>
                  </a:ext>
                </a:extLst>
              </p:cNvPr>
              <p:cNvSpPr/>
              <p:nvPr/>
            </p:nvSpPr>
            <p:spPr>
              <a:xfrm>
                <a:off x="16516350" y="13182600"/>
                <a:ext cx="4486275" cy="4076700"/>
              </a:xfrm>
              <a:custGeom>
                <a:avLst/>
                <a:gdLst>
                  <a:gd name="connsiteX0" fmla="*/ 0 w 4486275"/>
                  <a:gd name="connsiteY0" fmla="*/ 0 h 4076700"/>
                  <a:gd name="connsiteX1" fmla="*/ 4486275 w 4486275"/>
                  <a:gd name="connsiteY1" fmla="*/ 4076700 h 4076700"/>
                  <a:gd name="connsiteX2" fmla="*/ 9525 w 4486275"/>
                  <a:gd name="connsiteY2" fmla="*/ 4076700 h 4076700"/>
                  <a:gd name="connsiteX3" fmla="*/ 0 w 4486275"/>
                  <a:gd name="connsiteY3" fmla="*/ 0 h 4076700"/>
                </a:gdLst>
                <a:ahLst/>
                <a:cxnLst>
                  <a:cxn ang="0">
                    <a:pos x="connsiteX0" y="connsiteY0"/>
                  </a:cxn>
                  <a:cxn ang="0">
                    <a:pos x="connsiteX1" y="connsiteY1"/>
                  </a:cxn>
                  <a:cxn ang="0">
                    <a:pos x="connsiteX2" y="connsiteY2"/>
                  </a:cxn>
                  <a:cxn ang="0">
                    <a:pos x="connsiteX3" y="connsiteY3"/>
                  </a:cxn>
                </a:cxnLst>
                <a:rect l="l" t="t" r="r" b="b"/>
                <a:pathLst>
                  <a:path w="4486275" h="4076700">
                    <a:moveTo>
                      <a:pt x="0" y="0"/>
                    </a:moveTo>
                    <a:lnTo>
                      <a:pt x="4486275" y="4076700"/>
                    </a:lnTo>
                    <a:lnTo>
                      <a:pt x="9525" y="4076700"/>
                    </a:lnTo>
                    <a:lnTo>
                      <a:pt x="0" y="0"/>
                    </a:lnTo>
                    <a:close/>
                  </a:path>
                </a:pathLst>
              </a:custGeom>
              <a:solidFill>
                <a:schemeClr val="accent1">
                  <a:alpha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522" name="Freeform: Shape 521">
                <a:extLst>
                  <a:ext uri="{FF2B5EF4-FFF2-40B4-BE49-F238E27FC236}">
                    <a16:creationId xmlns:a16="http://schemas.microsoft.com/office/drawing/2014/main" id="{2C07E730-ED89-4F10-70AA-4A32750CE712}"/>
                  </a:ext>
                </a:extLst>
              </p:cNvPr>
              <p:cNvSpPr/>
              <p:nvPr/>
            </p:nvSpPr>
            <p:spPr>
              <a:xfrm>
                <a:off x="17192625" y="11468100"/>
                <a:ext cx="5143500" cy="5791200"/>
              </a:xfrm>
              <a:custGeom>
                <a:avLst/>
                <a:gdLst>
                  <a:gd name="connsiteX0" fmla="*/ 0 w 5143500"/>
                  <a:gd name="connsiteY0" fmla="*/ 9525 h 5791200"/>
                  <a:gd name="connsiteX1" fmla="*/ 5143500 w 5143500"/>
                  <a:gd name="connsiteY1" fmla="*/ 0 h 5791200"/>
                  <a:gd name="connsiteX2" fmla="*/ 5143500 w 5143500"/>
                  <a:gd name="connsiteY2" fmla="*/ 5772150 h 5791200"/>
                  <a:gd name="connsiteX3" fmla="*/ 4791075 w 5143500"/>
                  <a:gd name="connsiteY3" fmla="*/ 5791200 h 5791200"/>
                  <a:gd name="connsiteX4" fmla="*/ 3676650 w 5143500"/>
                  <a:gd name="connsiteY4" fmla="*/ 3314700 h 5791200"/>
                  <a:gd name="connsiteX5" fmla="*/ 0 w 5143500"/>
                  <a:gd name="connsiteY5" fmla="*/ 9525 h 579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3500" h="5791200">
                    <a:moveTo>
                      <a:pt x="0" y="9525"/>
                    </a:moveTo>
                    <a:lnTo>
                      <a:pt x="5143500" y="0"/>
                    </a:lnTo>
                    <a:lnTo>
                      <a:pt x="5143500" y="5772150"/>
                    </a:lnTo>
                    <a:lnTo>
                      <a:pt x="4791075" y="5791200"/>
                    </a:lnTo>
                    <a:lnTo>
                      <a:pt x="3676650" y="3314700"/>
                    </a:lnTo>
                    <a:lnTo>
                      <a:pt x="0" y="9525"/>
                    </a:lnTo>
                    <a:close/>
                  </a:path>
                </a:pathLst>
              </a:custGeom>
              <a:solidFill>
                <a:srgbClr val="FF0000">
                  <a:alpha val="25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grpSp>
            <p:nvGrpSpPr>
              <p:cNvPr id="97" name="Group 96">
                <a:extLst>
                  <a:ext uri="{FF2B5EF4-FFF2-40B4-BE49-F238E27FC236}">
                    <a16:creationId xmlns:a16="http://schemas.microsoft.com/office/drawing/2014/main" id="{26EB4C1F-640D-B90E-EBE3-73E996DA334C}"/>
                  </a:ext>
                </a:extLst>
              </p:cNvPr>
              <p:cNvGrpSpPr/>
              <p:nvPr/>
            </p:nvGrpSpPr>
            <p:grpSpPr>
              <a:xfrm>
                <a:off x="15607583" y="10738636"/>
                <a:ext cx="7170150" cy="7370755"/>
                <a:chOff x="15601415" y="10903155"/>
                <a:chExt cx="5243357" cy="5390053"/>
              </a:xfrm>
            </p:grpSpPr>
            <p:grpSp>
              <p:nvGrpSpPr>
                <p:cNvPr id="81" name="Group 80">
                  <a:extLst>
                    <a:ext uri="{FF2B5EF4-FFF2-40B4-BE49-F238E27FC236}">
                      <a16:creationId xmlns:a16="http://schemas.microsoft.com/office/drawing/2014/main" id="{B1322884-EF88-785C-723E-78685AD05132}"/>
                    </a:ext>
                  </a:extLst>
                </p:cNvPr>
                <p:cNvGrpSpPr/>
                <p:nvPr/>
              </p:nvGrpSpPr>
              <p:grpSpPr>
                <a:xfrm>
                  <a:off x="15601415" y="10903155"/>
                  <a:ext cx="5243357" cy="5390053"/>
                  <a:chOff x="15601415" y="10903155"/>
                  <a:chExt cx="5243357" cy="5390053"/>
                </a:xfrm>
              </p:grpSpPr>
              <p:grpSp>
                <p:nvGrpSpPr>
                  <p:cNvPr id="66" name="Group 65">
                    <a:extLst>
                      <a:ext uri="{FF2B5EF4-FFF2-40B4-BE49-F238E27FC236}">
                        <a16:creationId xmlns:a16="http://schemas.microsoft.com/office/drawing/2014/main" id="{18422349-A9AB-7E77-8EC6-5DF33C3BEA7E}"/>
                      </a:ext>
                    </a:extLst>
                  </p:cNvPr>
                  <p:cNvGrpSpPr/>
                  <p:nvPr/>
                </p:nvGrpSpPr>
                <p:grpSpPr>
                  <a:xfrm>
                    <a:off x="15781022" y="11173379"/>
                    <a:ext cx="5063750" cy="4881630"/>
                    <a:chOff x="15864842" y="10929539"/>
                    <a:chExt cx="5063750" cy="4881630"/>
                  </a:xfrm>
                </p:grpSpPr>
                <p:sp>
                  <p:nvSpPr>
                    <p:cNvPr id="486" name="TextBox 485">
                      <a:extLst>
                        <a:ext uri="{FF2B5EF4-FFF2-40B4-BE49-F238E27FC236}">
                          <a16:creationId xmlns:a16="http://schemas.microsoft.com/office/drawing/2014/main" id="{8793AF89-E8BB-EA07-B0FF-3D7FBCAF47D5}"/>
                        </a:ext>
                      </a:extLst>
                    </p:cNvPr>
                    <p:cNvSpPr txBox="1"/>
                    <p:nvPr/>
                  </p:nvSpPr>
                  <p:spPr>
                    <a:xfrm>
                      <a:off x="16226996" y="10929539"/>
                      <a:ext cx="239371"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rPr>
                        <a:t>5</a:t>
                      </a:r>
                    </a:p>
                  </p:txBody>
                </p:sp>
                <p:sp>
                  <p:nvSpPr>
                    <p:cNvPr id="487" name="TextBox 486">
                      <a:extLst>
                        <a:ext uri="{FF2B5EF4-FFF2-40B4-BE49-F238E27FC236}">
                          <a16:creationId xmlns:a16="http://schemas.microsoft.com/office/drawing/2014/main" id="{0625C8B6-1898-FCF7-0A21-5329CDCC0C57}"/>
                        </a:ext>
                      </a:extLst>
                    </p:cNvPr>
                    <p:cNvSpPr txBox="1"/>
                    <p:nvPr/>
                  </p:nvSpPr>
                  <p:spPr>
                    <a:xfrm>
                      <a:off x="16849186" y="10929539"/>
                      <a:ext cx="239371"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rPr>
                        <a:t>2</a:t>
                      </a:r>
                    </a:p>
                  </p:txBody>
                </p:sp>
                <p:sp>
                  <p:nvSpPr>
                    <p:cNvPr id="488" name="TextBox 487">
                      <a:extLst>
                        <a:ext uri="{FF2B5EF4-FFF2-40B4-BE49-F238E27FC236}">
                          <a16:creationId xmlns:a16="http://schemas.microsoft.com/office/drawing/2014/main" id="{17C9EDB4-8B41-7FE1-C7EB-B2D7064C26CC}"/>
                        </a:ext>
                      </a:extLst>
                    </p:cNvPr>
                    <p:cNvSpPr txBox="1"/>
                    <p:nvPr/>
                  </p:nvSpPr>
                  <p:spPr>
                    <a:xfrm>
                      <a:off x="17331385" y="10929539"/>
                      <a:ext cx="239371"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lang="en-GB" sz="2000" dirty="0">
                          <a:latin typeface="Arial" panose="020B0604020202020204" pitchFamily="34" charset="0"/>
                          <a:cs typeface="Arial" panose="020B0604020202020204" pitchFamily="34" charset="0"/>
                        </a:rPr>
                        <a:t>1</a:t>
                      </a:r>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489" name="TextBox 488">
                      <a:extLst>
                        <a:ext uri="{FF2B5EF4-FFF2-40B4-BE49-F238E27FC236}">
                          <a16:creationId xmlns:a16="http://schemas.microsoft.com/office/drawing/2014/main" id="{CE7D12A5-408F-6314-FCED-C2AB385BBE20}"/>
                        </a:ext>
                      </a:extLst>
                    </p:cNvPr>
                    <p:cNvSpPr txBox="1"/>
                    <p:nvPr/>
                  </p:nvSpPr>
                  <p:spPr>
                    <a:xfrm>
                      <a:off x="17734504" y="10929539"/>
                      <a:ext cx="395279"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lang="en-GB" sz="2000" dirty="0">
                          <a:latin typeface="Arial" panose="020B0604020202020204" pitchFamily="34" charset="0"/>
                          <a:cs typeface="Arial" panose="020B0604020202020204" pitchFamily="34" charset="0"/>
                        </a:rPr>
                        <a:t>0.5</a:t>
                      </a:r>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490" name="TextBox 489">
                      <a:extLst>
                        <a:ext uri="{FF2B5EF4-FFF2-40B4-BE49-F238E27FC236}">
                          <a16:creationId xmlns:a16="http://schemas.microsoft.com/office/drawing/2014/main" id="{EF3EB3E7-478D-8641-2872-2B8CB0306BF6}"/>
                        </a:ext>
                      </a:extLst>
                    </p:cNvPr>
                    <p:cNvSpPr txBox="1"/>
                    <p:nvPr/>
                  </p:nvSpPr>
                  <p:spPr>
                    <a:xfrm>
                      <a:off x="18373276" y="10929539"/>
                      <a:ext cx="395279"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lang="en-GB" sz="2000" dirty="0">
                          <a:latin typeface="Arial" panose="020B0604020202020204" pitchFamily="34" charset="0"/>
                          <a:cs typeface="Arial" panose="020B0604020202020204" pitchFamily="34" charset="0"/>
                        </a:rPr>
                        <a:t>0.2</a:t>
                      </a:r>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491" name="TextBox 490">
                      <a:extLst>
                        <a:ext uri="{FF2B5EF4-FFF2-40B4-BE49-F238E27FC236}">
                          <a16:creationId xmlns:a16="http://schemas.microsoft.com/office/drawing/2014/main" id="{942E8753-F1C3-D8E3-8276-87786AAC130E}"/>
                        </a:ext>
                      </a:extLst>
                    </p:cNvPr>
                    <p:cNvSpPr txBox="1"/>
                    <p:nvPr/>
                  </p:nvSpPr>
                  <p:spPr>
                    <a:xfrm>
                      <a:off x="18828336" y="10929539"/>
                      <a:ext cx="395279"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lang="en-GB" sz="2000" dirty="0">
                          <a:latin typeface="Arial" panose="020B0604020202020204" pitchFamily="34" charset="0"/>
                          <a:cs typeface="Arial" panose="020B0604020202020204" pitchFamily="34" charset="0"/>
                        </a:rPr>
                        <a:t>0.1</a:t>
                      </a:r>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492" name="TextBox 491">
                      <a:extLst>
                        <a:ext uri="{FF2B5EF4-FFF2-40B4-BE49-F238E27FC236}">
                          <a16:creationId xmlns:a16="http://schemas.microsoft.com/office/drawing/2014/main" id="{9B8096D1-0659-CF79-5D52-B3C26EBF9E38}"/>
                        </a:ext>
                      </a:extLst>
                    </p:cNvPr>
                    <p:cNvSpPr txBox="1"/>
                    <p:nvPr/>
                  </p:nvSpPr>
                  <p:spPr>
                    <a:xfrm>
                      <a:off x="19276366" y="10929539"/>
                      <a:ext cx="499608"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lang="en-GB" sz="2000" dirty="0">
                          <a:latin typeface="Arial" panose="020B0604020202020204" pitchFamily="34" charset="0"/>
                          <a:cs typeface="Arial" panose="020B0604020202020204" pitchFamily="34" charset="0"/>
                        </a:rPr>
                        <a:t>0.05</a:t>
                      </a:r>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493" name="TextBox 492">
                      <a:extLst>
                        <a:ext uri="{FF2B5EF4-FFF2-40B4-BE49-F238E27FC236}">
                          <a16:creationId xmlns:a16="http://schemas.microsoft.com/office/drawing/2014/main" id="{7EB69023-49AA-AC9F-208D-67EB4407950F}"/>
                        </a:ext>
                      </a:extLst>
                    </p:cNvPr>
                    <p:cNvSpPr txBox="1"/>
                    <p:nvPr/>
                  </p:nvSpPr>
                  <p:spPr>
                    <a:xfrm>
                      <a:off x="19900064" y="10929539"/>
                      <a:ext cx="499608"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lang="en-GB" sz="2000" dirty="0">
                          <a:latin typeface="Arial" panose="020B0604020202020204" pitchFamily="34" charset="0"/>
                          <a:cs typeface="Arial" panose="020B0604020202020204" pitchFamily="34" charset="0"/>
                        </a:rPr>
                        <a:t>0.02</a:t>
                      </a:r>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494" name="TextBox 493">
                      <a:extLst>
                        <a:ext uri="{FF2B5EF4-FFF2-40B4-BE49-F238E27FC236}">
                          <a16:creationId xmlns:a16="http://schemas.microsoft.com/office/drawing/2014/main" id="{73EE7397-969F-ABD6-5C22-7485D8A0D416}"/>
                        </a:ext>
                      </a:extLst>
                    </p:cNvPr>
                    <p:cNvSpPr txBox="1"/>
                    <p:nvPr/>
                  </p:nvSpPr>
                  <p:spPr>
                    <a:xfrm>
                      <a:off x="20428984" y="10929539"/>
                      <a:ext cx="499608"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lang="en-GB" sz="2000" dirty="0">
                          <a:latin typeface="Arial" panose="020B0604020202020204" pitchFamily="34" charset="0"/>
                          <a:cs typeface="Arial" panose="020B0604020202020204" pitchFamily="34" charset="0"/>
                        </a:rPr>
                        <a:t>0.01</a:t>
                      </a:r>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95" name="TextBox 494">
                          <a:extLst>
                            <a:ext uri="{FF2B5EF4-FFF2-40B4-BE49-F238E27FC236}">
                              <a16:creationId xmlns:a16="http://schemas.microsoft.com/office/drawing/2014/main" id="{E725480E-F98A-CFC9-145C-A7FCEEA69882}"/>
                            </a:ext>
                          </a:extLst>
                        </p:cNvPr>
                        <p:cNvSpPr txBox="1"/>
                        <p:nvPr/>
                      </p:nvSpPr>
                      <p:spPr>
                        <a:xfrm>
                          <a:off x="15971522" y="15515999"/>
                          <a:ext cx="662126" cy="295170"/>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p>
                                  <m:sSupPr>
                                    <m:ctrlP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ctrlPr>
                                  </m:sSupPr>
                                  <m:e>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10</m:t>
                                    </m:r>
                                  </m:e>
                                  <m:sup>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−15</m:t>
                                    </m:r>
                                  </m:sup>
                                </m:sSup>
                              </m:oMath>
                            </m:oMathPara>
                          </a14:m>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mc:Choice>
                  <mc:Fallback xmlns="">
                    <p:sp>
                      <p:nvSpPr>
                        <p:cNvPr id="495" name="TextBox 494">
                          <a:extLst>
                            <a:ext uri="{FF2B5EF4-FFF2-40B4-BE49-F238E27FC236}">
                              <a16:creationId xmlns:a16="http://schemas.microsoft.com/office/drawing/2014/main" id="{E725480E-F98A-CFC9-145C-A7FCEEA69882}"/>
                            </a:ext>
                          </a:extLst>
                        </p:cNvPr>
                        <p:cNvSpPr txBox="1">
                          <a:spLocks noRot="1" noChangeAspect="1" noMove="1" noResize="1" noEditPoints="1" noAdjustHandles="1" noChangeArrowheads="1" noChangeShapeType="1" noTextEdit="1"/>
                        </p:cNvSpPr>
                        <p:nvPr/>
                      </p:nvSpPr>
                      <p:spPr>
                        <a:xfrm>
                          <a:off x="15971522" y="15515999"/>
                          <a:ext cx="662126" cy="295170"/>
                        </a:xfrm>
                        <a:prstGeom prst="rect">
                          <a:avLst/>
                        </a:prstGeom>
                        <a:blipFill>
                          <a:blip r:embed="rId3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6" name="TextBox 495">
                          <a:extLst>
                            <a:ext uri="{FF2B5EF4-FFF2-40B4-BE49-F238E27FC236}">
                              <a16:creationId xmlns:a16="http://schemas.microsoft.com/office/drawing/2014/main" id="{0591FC4D-388B-E279-EFAF-CEF5EB250F43}"/>
                            </a:ext>
                          </a:extLst>
                        </p:cNvPr>
                        <p:cNvSpPr txBox="1"/>
                        <p:nvPr/>
                      </p:nvSpPr>
                      <p:spPr>
                        <a:xfrm>
                          <a:off x="16916402" y="15515999"/>
                          <a:ext cx="662126"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p>
                                  <m:sSupPr>
                                    <m:ctrlP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ctrlPr>
                                  </m:sSupPr>
                                  <m:e>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10</m:t>
                                    </m:r>
                                  </m:e>
                                  <m:sup>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−14</m:t>
                                    </m:r>
                                  </m:sup>
                                </m:sSup>
                              </m:oMath>
                            </m:oMathPara>
                          </a14:m>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mc:Choice>
                  <mc:Fallback xmlns="">
                    <p:sp>
                      <p:nvSpPr>
                        <p:cNvPr id="496" name="TextBox 495">
                          <a:extLst>
                            <a:ext uri="{FF2B5EF4-FFF2-40B4-BE49-F238E27FC236}">
                              <a16:creationId xmlns:a16="http://schemas.microsoft.com/office/drawing/2014/main" id="{0591FC4D-388B-E279-EFAF-CEF5EB250F43}"/>
                            </a:ext>
                          </a:extLst>
                        </p:cNvPr>
                        <p:cNvSpPr txBox="1">
                          <a:spLocks noRot="1" noChangeAspect="1" noMove="1" noResize="1" noEditPoints="1" noAdjustHandles="1" noChangeArrowheads="1" noChangeShapeType="1" noTextEdit="1"/>
                        </p:cNvSpPr>
                        <p:nvPr/>
                      </p:nvSpPr>
                      <p:spPr>
                        <a:xfrm>
                          <a:off x="16916402" y="15515999"/>
                          <a:ext cx="662126" cy="292591"/>
                        </a:xfrm>
                        <a:prstGeom prst="rect">
                          <a:avLst/>
                        </a:prstGeom>
                        <a:blipFill>
                          <a:blip r:embed="rId3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7" name="TextBox 496">
                          <a:extLst>
                            <a:ext uri="{FF2B5EF4-FFF2-40B4-BE49-F238E27FC236}">
                              <a16:creationId xmlns:a16="http://schemas.microsoft.com/office/drawing/2014/main" id="{3EEB6787-D04E-9320-3C8E-D9333BA84912}"/>
                            </a:ext>
                          </a:extLst>
                        </p:cNvPr>
                        <p:cNvSpPr txBox="1"/>
                        <p:nvPr/>
                      </p:nvSpPr>
                      <p:spPr>
                        <a:xfrm>
                          <a:off x="17861282" y="15515999"/>
                          <a:ext cx="662126"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p>
                                  <m:sSupPr>
                                    <m:ctrlP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ctrlPr>
                                  </m:sSupPr>
                                  <m:e>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10</m:t>
                                    </m:r>
                                  </m:e>
                                  <m:sup>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−13</m:t>
                                    </m:r>
                                  </m:sup>
                                </m:sSup>
                              </m:oMath>
                            </m:oMathPara>
                          </a14:m>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mc:Choice>
                  <mc:Fallback xmlns="">
                    <p:sp>
                      <p:nvSpPr>
                        <p:cNvPr id="497" name="TextBox 496">
                          <a:extLst>
                            <a:ext uri="{FF2B5EF4-FFF2-40B4-BE49-F238E27FC236}">
                              <a16:creationId xmlns:a16="http://schemas.microsoft.com/office/drawing/2014/main" id="{3EEB6787-D04E-9320-3C8E-D9333BA84912}"/>
                            </a:ext>
                          </a:extLst>
                        </p:cNvPr>
                        <p:cNvSpPr txBox="1">
                          <a:spLocks noRot="1" noChangeAspect="1" noMove="1" noResize="1" noEditPoints="1" noAdjustHandles="1" noChangeArrowheads="1" noChangeShapeType="1" noTextEdit="1"/>
                        </p:cNvSpPr>
                        <p:nvPr/>
                      </p:nvSpPr>
                      <p:spPr>
                        <a:xfrm>
                          <a:off x="17861282" y="15515999"/>
                          <a:ext cx="662126" cy="292591"/>
                        </a:xfrm>
                        <a:prstGeom prst="rect">
                          <a:avLst/>
                        </a:prstGeom>
                        <a:blipFill>
                          <a:blip r:embed="rId3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8" name="TextBox 497">
                          <a:extLst>
                            <a:ext uri="{FF2B5EF4-FFF2-40B4-BE49-F238E27FC236}">
                              <a16:creationId xmlns:a16="http://schemas.microsoft.com/office/drawing/2014/main" id="{BAC55575-BC1E-E808-0CDB-AAE501486C14}"/>
                            </a:ext>
                          </a:extLst>
                        </p:cNvPr>
                        <p:cNvSpPr txBox="1"/>
                        <p:nvPr/>
                      </p:nvSpPr>
                      <p:spPr>
                        <a:xfrm>
                          <a:off x="18806163" y="15515999"/>
                          <a:ext cx="662126"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p>
                                  <m:sSupPr>
                                    <m:ctrlP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ctrlPr>
                                  </m:sSupPr>
                                  <m:e>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10</m:t>
                                    </m:r>
                                  </m:e>
                                  <m:sup>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−12</m:t>
                                    </m:r>
                                  </m:sup>
                                </m:sSup>
                              </m:oMath>
                            </m:oMathPara>
                          </a14:m>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mc:Choice>
                  <mc:Fallback xmlns="">
                    <p:sp>
                      <p:nvSpPr>
                        <p:cNvPr id="498" name="TextBox 497">
                          <a:extLst>
                            <a:ext uri="{FF2B5EF4-FFF2-40B4-BE49-F238E27FC236}">
                              <a16:creationId xmlns:a16="http://schemas.microsoft.com/office/drawing/2014/main" id="{BAC55575-BC1E-E808-0CDB-AAE501486C14}"/>
                            </a:ext>
                          </a:extLst>
                        </p:cNvPr>
                        <p:cNvSpPr txBox="1">
                          <a:spLocks noRot="1" noChangeAspect="1" noMove="1" noResize="1" noEditPoints="1" noAdjustHandles="1" noChangeArrowheads="1" noChangeShapeType="1" noTextEdit="1"/>
                        </p:cNvSpPr>
                        <p:nvPr/>
                      </p:nvSpPr>
                      <p:spPr>
                        <a:xfrm>
                          <a:off x="18806163" y="15515999"/>
                          <a:ext cx="662126" cy="292591"/>
                        </a:xfrm>
                        <a:prstGeom prst="rect">
                          <a:avLst/>
                        </a:prstGeom>
                        <a:blipFill>
                          <a:blip r:embed="rId3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9" name="TextBox 498">
                          <a:extLst>
                            <a:ext uri="{FF2B5EF4-FFF2-40B4-BE49-F238E27FC236}">
                              <a16:creationId xmlns:a16="http://schemas.microsoft.com/office/drawing/2014/main" id="{9D0EC3AF-87B6-35CA-32E1-CBB418B319D2}"/>
                            </a:ext>
                          </a:extLst>
                        </p:cNvPr>
                        <p:cNvSpPr txBox="1"/>
                        <p:nvPr/>
                      </p:nvSpPr>
                      <p:spPr>
                        <a:xfrm>
                          <a:off x="19758663" y="15515999"/>
                          <a:ext cx="662126"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p>
                                  <m:sSupPr>
                                    <m:ctrlP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ctrlPr>
                                  </m:sSupPr>
                                  <m:e>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10</m:t>
                                    </m:r>
                                  </m:e>
                                  <m:sup>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−11</m:t>
                                    </m:r>
                                  </m:sup>
                                </m:sSup>
                              </m:oMath>
                            </m:oMathPara>
                          </a14:m>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mc:Choice>
                  <mc:Fallback xmlns="">
                    <p:sp>
                      <p:nvSpPr>
                        <p:cNvPr id="499" name="TextBox 498">
                          <a:extLst>
                            <a:ext uri="{FF2B5EF4-FFF2-40B4-BE49-F238E27FC236}">
                              <a16:creationId xmlns:a16="http://schemas.microsoft.com/office/drawing/2014/main" id="{9D0EC3AF-87B6-35CA-32E1-CBB418B319D2}"/>
                            </a:ext>
                          </a:extLst>
                        </p:cNvPr>
                        <p:cNvSpPr txBox="1">
                          <a:spLocks noRot="1" noChangeAspect="1" noMove="1" noResize="1" noEditPoints="1" noAdjustHandles="1" noChangeArrowheads="1" noChangeShapeType="1" noTextEdit="1"/>
                        </p:cNvSpPr>
                        <p:nvPr/>
                      </p:nvSpPr>
                      <p:spPr>
                        <a:xfrm>
                          <a:off x="19758663" y="15515999"/>
                          <a:ext cx="662126" cy="292591"/>
                        </a:xfrm>
                        <a:prstGeom prst="rect">
                          <a:avLst/>
                        </a:prstGeom>
                        <a:blipFill>
                          <a:blip r:embed="rId36"/>
                          <a:stretch>
                            <a:fillRect/>
                          </a:stretch>
                        </a:blipFill>
                      </p:spPr>
                      <p:txBody>
                        <a:bodyPr/>
                        <a:lstStyle/>
                        <a:p>
                          <a:r>
                            <a:rPr lang="en-GB">
                              <a:noFill/>
                            </a:rPr>
                            <a:t> </a:t>
                          </a:r>
                        </a:p>
                      </p:txBody>
                    </p:sp>
                  </mc:Fallback>
                </mc:AlternateContent>
                <p:sp>
                  <p:nvSpPr>
                    <p:cNvPr id="501" name="TextBox 500">
                      <a:extLst>
                        <a:ext uri="{FF2B5EF4-FFF2-40B4-BE49-F238E27FC236}">
                          <a16:creationId xmlns:a16="http://schemas.microsoft.com/office/drawing/2014/main" id="{E3465AA8-DC4F-595D-7F3B-6FDB8118B711}"/>
                        </a:ext>
                      </a:extLst>
                    </p:cNvPr>
                    <p:cNvSpPr txBox="1"/>
                    <p:nvPr/>
                  </p:nvSpPr>
                  <p:spPr>
                    <a:xfrm>
                      <a:off x="15864842" y="11848605"/>
                      <a:ext cx="448029"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rPr>
                        <a:t>100</a:t>
                      </a:r>
                    </a:p>
                  </p:txBody>
                </p:sp>
                <p:sp>
                  <p:nvSpPr>
                    <p:cNvPr id="503" name="TextBox 502">
                      <a:extLst>
                        <a:ext uri="{FF2B5EF4-FFF2-40B4-BE49-F238E27FC236}">
                          <a16:creationId xmlns:a16="http://schemas.microsoft.com/office/drawing/2014/main" id="{816B8D30-A0B8-AD70-8A5A-F4F52EFB2538}"/>
                        </a:ext>
                      </a:extLst>
                    </p:cNvPr>
                    <p:cNvSpPr txBox="1"/>
                    <p:nvPr/>
                  </p:nvSpPr>
                  <p:spPr>
                    <a:xfrm>
                      <a:off x="15918182" y="13557534"/>
                      <a:ext cx="343700"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rPr>
                        <a:t>10</a:t>
                      </a:r>
                    </a:p>
                  </p:txBody>
                </p:sp>
                <p:sp>
                  <p:nvSpPr>
                    <p:cNvPr id="64" name="TextBox 63">
                      <a:extLst>
                        <a:ext uri="{FF2B5EF4-FFF2-40B4-BE49-F238E27FC236}">
                          <a16:creationId xmlns:a16="http://schemas.microsoft.com/office/drawing/2014/main" id="{5EB1D863-8A3C-2B48-C4F6-4F0A70820E03}"/>
                        </a:ext>
                      </a:extLst>
                    </p:cNvPr>
                    <p:cNvSpPr txBox="1"/>
                    <p:nvPr/>
                  </p:nvSpPr>
                  <p:spPr>
                    <a:xfrm>
                      <a:off x="15986762" y="15251221"/>
                      <a:ext cx="239371"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rPr>
                        <a:t>1</a:t>
                      </a:r>
                    </a:p>
                  </p:txBody>
                </p:sp>
              </p:gr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A32D9A49-4739-A8F5-3047-7332CF02D052}"/>
                          </a:ext>
                        </a:extLst>
                      </p:cNvPr>
                      <p:cNvSpPr txBox="1"/>
                      <p:nvPr/>
                    </p:nvSpPr>
                    <p:spPr>
                      <a:xfrm>
                        <a:off x="17922243" y="10903155"/>
                        <a:ext cx="694293"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
                                <m:sSubPr>
                                  <m:ctrlP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ctrlPr>
                                </m:sSubPr>
                                <m:e>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𝑟</m:t>
                                  </m:r>
                                </m:e>
                                <m:sub>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0</m:t>
                                  </m:r>
                                </m:sub>
                              </m:sSub>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 (</m:t>
                              </m:r>
                              <m:r>
                                <m:rPr>
                                  <m:sty m:val="p"/>
                                </m:rP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m</m:t>
                              </m:r>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m:t>
                              </m:r>
                            </m:oMath>
                          </m:oMathPara>
                        </a14:m>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mc:Choice>
                <mc:Fallback xmlns="">
                  <p:sp>
                    <p:nvSpPr>
                      <p:cNvPr id="74" name="TextBox 73">
                        <a:extLst>
                          <a:ext uri="{FF2B5EF4-FFF2-40B4-BE49-F238E27FC236}">
                            <a16:creationId xmlns:a16="http://schemas.microsoft.com/office/drawing/2014/main" id="{A32D9A49-4739-A8F5-3047-7332CF02D052}"/>
                          </a:ext>
                        </a:extLst>
                      </p:cNvPr>
                      <p:cNvSpPr txBox="1">
                        <a:spLocks noRot="1" noChangeAspect="1" noMove="1" noResize="1" noEditPoints="1" noAdjustHandles="1" noChangeArrowheads="1" noChangeShapeType="1" noTextEdit="1"/>
                      </p:cNvSpPr>
                      <p:nvPr/>
                    </p:nvSpPr>
                    <p:spPr>
                      <a:xfrm>
                        <a:off x="17922243" y="10903155"/>
                        <a:ext cx="694293" cy="292591"/>
                      </a:xfrm>
                      <a:prstGeom prst="rect">
                        <a:avLst/>
                      </a:prstGeom>
                      <a:blipFill>
                        <a:blip r:embed="rId37"/>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F53C34FB-66DE-9182-E3BB-ACF83C03425F}"/>
                          </a:ext>
                        </a:extLst>
                      </p:cNvPr>
                      <p:cNvSpPr txBox="1"/>
                      <p:nvPr/>
                    </p:nvSpPr>
                    <p:spPr>
                      <a:xfrm>
                        <a:off x="17487902" y="15992178"/>
                        <a:ext cx="1539335" cy="301030"/>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Sup>
                                <m:sSubSupPr>
                                  <m:ctrlP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ctrlPr>
                                </m:sSubSupPr>
                                <m:e>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𝐶</m:t>
                                  </m:r>
                                </m:e>
                                <m:sub>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𝑛</m:t>
                                  </m:r>
                                </m:sub>
                                <m:sup>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2</m:t>
                                  </m:r>
                                </m:sup>
                              </m:sSubSup>
                              <m:r>
                                <m:rPr>
                                  <m:sty m:val="p"/>
                                </m:rP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sec</m:t>
                              </m:r>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𝜁</m:t>
                              </m:r>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𝑑h</m:t>
                              </m:r>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 (</m:t>
                              </m:r>
                              <m:sSup>
                                <m:sSupPr>
                                  <m:ctrlP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ctrlPr>
                                </m:sSupPr>
                                <m:e>
                                  <m:r>
                                    <m:rPr>
                                      <m:sty m:val="p"/>
                                    </m:rP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m</m:t>
                                  </m:r>
                                </m:e>
                                <m:sup>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1/3</m:t>
                                  </m:r>
                                </m:sup>
                              </m:sSup>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m:t>
                              </m:r>
                            </m:oMath>
                          </m:oMathPara>
                        </a14:m>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mc:Choice>
                <mc:Fallback xmlns="">
                  <p:sp>
                    <p:nvSpPr>
                      <p:cNvPr id="76" name="TextBox 75">
                        <a:extLst>
                          <a:ext uri="{FF2B5EF4-FFF2-40B4-BE49-F238E27FC236}">
                            <a16:creationId xmlns:a16="http://schemas.microsoft.com/office/drawing/2014/main" id="{F53C34FB-66DE-9182-E3BB-ACF83C03425F}"/>
                          </a:ext>
                        </a:extLst>
                      </p:cNvPr>
                      <p:cNvSpPr txBox="1">
                        <a:spLocks noRot="1" noChangeAspect="1" noMove="1" noResize="1" noEditPoints="1" noAdjustHandles="1" noChangeArrowheads="1" noChangeShapeType="1" noTextEdit="1"/>
                      </p:cNvSpPr>
                      <p:nvPr/>
                    </p:nvSpPr>
                    <p:spPr>
                      <a:xfrm>
                        <a:off x="17487902" y="15992178"/>
                        <a:ext cx="1539335" cy="301030"/>
                      </a:xfrm>
                      <a:prstGeom prst="rect">
                        <a:avLst/>
                      </a:prstGeom>
                      <a:blipFill>
                        <a:blip r:embed="rId38"/>
                        <a:stretch>
                          <a:fillRect b="-1617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CC14EA29-3856-4938-ACF8-467956D7E803}"/>
                          </a:ext>
                        </a:extLst>
                      </p:cNvPr>
                      <p:cNvSpPr txBox="1"/>
                      <p:nvPr/>
                    </p:nvSpPr>
                    <p:spPr>
                      <a:xfrm rot="16200000">
                        <a:off x="15201190" y="13489907"/>
                        <a:ext cx="1093041"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h</m:t>
                              </m:r>
                              <m:r>
                                <m:rPr>
                                  <m:sty m:val="p"/>
                                </m:rP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sec</m:t>
                              </m:r>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𝜁</m:t>
                              </m:r>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 (</m:t>
                              </m:r>
                              <m:r>
                                <m:rPr>
                                  <m:sty m:val="p"/>
                                </m:rP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km</m:t>
                              </m:r>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m:t>
                              </m:r>
                            </m:oMath>
                          </m:oMathPara>
                        </a14:m>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mc:Choice>
                <mc:Fallback xmlns="">
                  <p:sp>
                    <p:nvSpPr>
                      <p:cNvPr id="80" name="TextBox 79">
                        <a:extLst>
                          <a:ext uri="{FF2B5EF4-FFF2-40B4-BE49-F238E27FC236}">
                            <a16:creationId xmlns:a16="http://schemas.microsoft.com/office/drawing/2014/main" id="{CC14EA29-3856-4938-ACF8-467956D7E803}"/>
                          </a:ext>
                        </a:extLst>
                      </p:cNvPr>
                      <p:cNvSpPr txBox="1">
                        <a:spLocks noRot="1" noChangeAspect="1" noMove="1" noResize="1" noEditPoints="1" noAdjustHandles="1" noChangeArrowheads="1" noChangeShapeType="1" noTextEdit="1"/>
                      </p:cNvSpPr>
                      <p:nvPr/>
                    </p:nvSpPr>
                    <p:spPr>
                      <a:xfrm rot="16200000">
                        <a:off x="15201190" y="13489907"/>
                        <a:ext cx="1093041" cy="292591"/>
                      </a:xfrm>
                      <a:prstGeom prst="rect">
                        <a:avLst/>
                      </a:prstGeom>
                      <a:blipFill>
                        <a:blip r:embed="rId39"/>
                        <a:stretch>
                          <a:fillRect r="-18182"/>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E4EDAFD9-D286-CEDA-8FD6-46A005EC2FBE}"/>
                        </a:ext>
                      </a:extLst>
                    </p:cNvPr>
                    <p:cNvSpPr txBox="1"/>
                    <p:nvPr/>
                  </p:nvSpPr>
                  <p:spPr>
                    <a:xfrm rot="3884819">
                      <a:off x="18190180" y="11688948"/>
                      <a:ext cx="887524" cy="316973"/>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Sup>
                              <m:sSubSupPr>
                                <m:ctrlP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ctrlPr>
                              </m:sSubSupPr>
                              <m:e>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𝜎</m:t>
                                </m:r>
                              </m:e>
                              <m:sub>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𝜒</m:t>
                                </m:r>
                              </m:sub>
                              <m:sup>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2</m:t>
                                </m:r>
                              </m:sup>
                            </m:sSubSup>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=0.6</m:t>
                            </m:r>
                          </m:oMath>
                        </m:oMathPara>
                      </a14:m>
                      <a:endParaRPr kumimoji="0" lang="en-GB" sz="2000" i="0" u="none" strike="noStrike" kern="1200" cap="none" spc="0" normalizeH="0" baseline="0" noProof="0" dirty="0">
                        <a:ln>
                          <a:noFill/>
                        </a:ln>
                        <a:solidFill>
                          <a:srgbClr val="FF0000"/>
                        </a:solidFill>
                        <a:effectLst/>
                        <a:uLnTx/>
                        <a:uFillTx/>
                        <a:latin typeface="Arial" panose="020B0604020202020204" pitchFamily="34" charset="0"/>
                        <a:cs typeface="Arial" panose="020B0604020202020204" pitchFamily="34" charset="0"/>
                      </a:endParaRPr>
                    </a:p>
                  </p:txBody>
                </p:sp>
              </mc:Choice>
              <mc:Fallback xmlns="">
                <p:sp>
                  <p:nvSpPr>
                    <p:cNvPr id="82" name="TextBox 81">
                      <a:extLst>
                        <a:ext uri="{FF2B5EF4-FFF2-40B4-BE49-F238E27FC236}">
                          <a16:creationId xmlns:a16="http://schemas.microsoft.com/office/drawing/2014/main" id="{E4EDAFD9-D286-CEDA-8FD6-46A005EC2FBE}"/>
                        </a:ext>
                      </a:extLst>
                    </p:cNvPr>
                    <p:cNvSpPr txBox="1">
                      <a:spLocks noRot="1" noChangeAspect="1" noMove="1" noResize="1" noEditPoints="1" noAdjustHandles="1" noChangeArrowheads="1" noChangeShapeType="1" noTextEdit="1"/>
                    </p:cNvSpPr>
                    <p:nvPr/>
                  </p:nvSpPr>
                  <p:spPr>
                    <a:xfrm rot="3884819">
                      <a:off x="18190180" y="11688948"/>
                      <a:ext cx="887524" cy="316973"/>
                    </a:xfrm>
                    <a:prstGeom prst="rect">
                      <a:avLst/>
                    </a:prstGeom>
                    <a:blipFill>
                      <a:blip r:embed="rId4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6F6C01E3-3F81-426E-8385-01EEE564BEA3}"/>
                        </a:ext>
                      </a:extLst>
                    </p:cNvPr>
                    <p:cNvSpPr txBox="1"/>
                    <p:nvPr/>
                  </p:nvSpPr>
                  <p:spPr>
                    <a:xfrm rot="3884819">
                      <a:off x="17915329" y="11705864"/>
                      <a:ext cx="835945" cy="316973"/>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14:m>
                        <m:oMath xmlns:m="http://schemas.openxmlformats.org/officeDocument/2006/math">
                          <m:sSubSup>
                            <m:sSubSupPr>
                              <m:ctrlP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ctrlPr>
                            </m:sSubSupPr>
                            <m:e>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𝜎</m:t>
                              </m:r>
                            </m:e>
                            <m:sub>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𝜒</m:t>
                              </m:r>
                            </m:sub>
                            <m:sup>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2</m:t>
                              </m:r>
                            </m:sup>
                          </m:sSubSup>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=0.</m:t>
                          </m:r>
                        </m:oMath>
                      </a14:m>
                      <a:r>
                        <a:rPr kumimoji="0" lang="en-GB" sz="2000" i="0" u="none" strike="noStrike" kern="1200" cap="none" spc="0" normalizeH="0" baseline="0" noProof="0" dirty="0">
                          <a:ln>
                            <a:noFill/>
                          </a:ln>
                          <a:solidFill>
                            <a:srgbClr val="FF0000"/>
                          </a:solidFill>
                          <a:effectLst/>
                          <a:uLnTx/>
                          <a:uFillTx/>
                          <a:latin typeface="Arial" panose="020B0604020202020204" pitchFamily="34" charset="0"/>
                          <a:cs typeface="Arial" panose="020B0604020202020204" pitchFamily="34" charset="0"/>
                        </a:rPr>
                        <a:t>3</a:t>
                      </a:r>
                    </a:p>
                  </p:txBody>
                </p:sp>
              </mc:Choice>
              <mc:Fallback xmlns="">
                <p:sp>
                  <p:nvSpPr>
                    <p:cNvPr id="83" name="TextBox 82">
                      <a:extLst>
                        <a:ext uri="{FF2B5EF4-FFF2-40B4-BE49-F238E27FC236}">
                          <a16:creationId xmlns:a16="http://schemas.microsoft.com/office/drawing/2014/main" id="{6F6C01E3-3F81-426E-8385-01EEE564BEA3}"/>
                        </a:ext>
                      </a:extLst>
                    </p:cNvPr>
                    <p:cNvSpPr txBox="1">
                      <a:spLocks noRot="1" noChangeAspect="1" noMove="1" noResize="1" noEditPoints="1" noAdjustHandles="1" noChangeArrowheads="1" noChangeShapeType="1" noTextEdit="1"/>
                    </p:cNvSpPr>
                    <p:nvPr/>
                  </p:nvSpPr>
                  <p:spPr>
                    <a:xfrm rot="3884819">
                      <a:off x="17915329" y="11705864"/>
                      <a:ext cx="835945" cy="316973"/>
                    </a:xfrm>
                    <a:prstGeom prst="rect">
                      <a:avLst/>
                    </a:prstGeom>
                    <a:blipFill>
                      <a:blip r:embed="rId41"/>
                      <a:stretch>
                        <a:fillRect r="-4795" b="-646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6FEE8BB2-3530-71FF-E9AB-846113832145}"/>
                        </a:ext>
                      </a:extLst>
                    </p:cNvPr>
                    <p:cNvSpPr txBox="1"/>
                    <p:nvPr/>
                  </p:nvSpPr>
                  <p:spPr>
                    <a:xfrm rot="3884819">
                      <a:off x="17439438" y="11693934"/>
                      <a:ext cx="887524" cy="316973"/>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Sup>
                              <m:sSubSupPr>
                                <m:ctrlP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ctrlPr>
                              </m:sSubSupPr>
                              <m:e>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𝜎</m:t>
                                </m:r>
                              </m:e>
                              <m:sub>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𝜒</m:t>
                                </m:r>
                              </m:sub>
                              <m:sup>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2</m:t>
                                </m:r>
                              </m:sup>
                            </m:sSubSup>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=0.1</m:t>
                            </m:r>
                          </m:oMath>
                        </m:oMathPara>
                      </a14:m>
                      <a:endParaRPr kumimoji="0" lang="en-GB" sz="2000" i="0" u="none" strike="noStrike" kern="1200" cap="none" spc="0" normalizeH="0" baseline="0" noProof="0" dirty="0">
                        <a:ln>
                          <a:noFill/>
                        </a:ln>
                        <a:solidFill>
                          <a:srgbClr val="FF0000"/>
                        </a:solidFill>
                        <a:effectLst/>
                        <a:uLnTx/>
                        <a:uFillTx/>
                        <a:latin typeface="Arial" panose="020B0604020202020204" pitchFamily="34" charset="0"/>
                        <a:cs typeface="Arial" panose="020B0604020202020204" pitchFamily="34" charset="0"/>
                      </a:endParaRPr>
                    </a:p>
                  </p:txBody>
                </p:sp>
              </mc:Choice>
              <mc:Fallback xmlns="">
                <p:sp>
                  <p:nvSpPr>
                    <p:cNvPr id="84" name="TextBox 83">
                      <a:extLst>
                        <a:ext uri="{FF2B5EF4-FFF2-40B4-BE49-F238E27FC236}">
                          <a16:creationId xmlns:a16="http://schemas.microsoft.com/office/drawing/2014/main" id="{6FEE8BB2-3530-71FF-E9AB-846113832145}"/>
                        </a:ext>
                      </a:extLst>
                    </p:cNvPr>
                    <p:cNvSpPr txBox="1">
                      <a:spLocks noRot="1" noChangeAspect="1" noMove="1" noResize="1" noEditPoints="1" noAdjustHandles="1" noChangeArrowheads="1" noChangeShapeType="1" noTextEdit="1"/>
                    </p:cNvSpPr>
                    <p:nvPr/>
                  </p:nvSpPr>
                  <p:spPr>
                    <a:xfrm rot="3884819">
                      <a:off x="17439438" y="11693934"/>
                      <a:ext cx="887524" cy="316973"/>
                    </a:xfrm>
                    <a:prstGeom prst="rect">
                      <a:avLst/>
                    </a:prstGeom>
                    <a:blipFill>
                      <a:blip r:embed="rId4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5376FF71-4BC8-6F96-26EC-CE54885D453D}"/>
                        </a:ext>
                      </a:extLst>
                    </p:cNvPr>
                    <p:cNvSpPr txBox="1"/>
                    <p:nvPr/>
                  </p:nvSpPr>
                  <p:spPr>
                    <a:xfrm rot="3884819">
                      <a:off x="17115798" y="11731343"/>
                      <a:ext cx="991853" cy="316973"/>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Sup>
                              <m:sSubSupPr>
                                <m:ctrlP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ctrlPr>
                              </m:sSubSupPr>
                              <m:e>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𝜎</m:t>
                                </m:r>
                              </m:e>
                              <m:sub>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𝜒</m:t>
                                </m:r>
                              </m:sub>
                              <m:sup>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2</m:t>
                                </m:r>
                              </m:sup>
                            </m:sSubSup>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=0.05</m:t>
                            </m:r>
                          </m:oMath>
                        </m:oMathPara>
                      </a14:m>
                      <a:endParaRPr kumimoji="0" lang="en-GB" sz="2000" i="0" u="none" strike="noStrike" kern="1200" cap="none" spc="0" normalizeH="0" baseline="0" noProof="0" dirty="0">
                        <a:ln>
                          <a:noFill/>
                        </a:ln>
                        <a:solidFill>
                          <a:srgbClr val="FF0000"/>
                        </a:solidFill>
                        <a:effectLst/>
                        <a:uLnTx/>
                        <a:uFillTx/>
                        <a:latin typeface="Arial" panose="020B0604020202020204" pitchFamily="34" charset="0"/>
                        <a:cs typeface="Arial" panose="020B0604020202020204" pitchFamily="34" charset="0"/>
                      </a:endParaRPr>
                    </a:p>
                  </p:txBody>
                </p:sp>
              </mc:Choice>
              <mc:Fallback xmlns="">
                <p:sp>
                  <p:nvSpPr>
                    <p:cNvPr id="86" name="TextBox 85">
                      <a:extLst>
                        <a:ext uri="{FF2B5EF4-FFF2-40B4-BE49-F238E27FC236}">
                          <a16:creationId xmlns:a16="http://schemas.microsoft.com/office/drawing/2014/main" id="{5376FF71-4BC8-6F96-26EC-CE54885D453D}"/>
                        </a:ext>
                      </a:extLst>
                    </p:cNvPr>
                    <p:cNvSpPr txBox="1">
                      <a:spLocks noRot="1" noChangeAspect="1" noMove="1" noResize="1" noEditPoints="1" noAdjustHandles="1" noChangeArrowheads="1" noChangeShapeType="1" noTextEdit="1"/>
                    </p:cNvSpPr>
                    <p:nvPr/>
                  </p:nvSpPr>
                  <p:spPr>
                    <a:xfrm rot="3884819">
                      <a:off x="17115798" y="11731343"/>
                      <a:ext cx="991853" cy="316973"/>
                    </a:xfrm>
                    <a:prstGeom prst="rect">
                      <a:avLst/>
                    </a:prstGeom>
                    <a:blipFill>
                      <a:blip r:embed="rId4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F0EBBDB9-44C4-8F9D-DA7A-DE9599CBA317}"/>
                        </a:ext>
                      </a:extLst>
                    </p:cNvPr>
                    <p:cNvSpPr txBox="1"/>
                    <p:nvPr/>
                  </p:nvSpPr>
                  <p:spPr>
                    <a:xfrm rot="3884819">
                      <a:off x="16513863" y="11836483"/>
                      <a:ext cx="991853" cy="316973"/>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sSubSup>
                              <m:sSubSupPr>
                                <m:ctrlP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ctrlPr>
                              </m:sSubSupPr>
                              <m:e>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𝜎</m:t>
                                </m:r>
                              </m:e>
                              <m:sub>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𝜒</m:t>
                                </m:r>
                              </m:sub>
                              <m:sup>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2</m:t>
                                </m:r>
                              </m:sup>
                            </m:sSubSup>
                            <m:r>
                              <a:rPr kumimoji="0" lang="en-GB" sz="2000" b="0" i="1" u="none" strike="noStrike" kern="1200" cap="none" spc="0" normalizeH="0" baseline="0" noProof="0" smtClean="0">
                                <a:ln>
                                  <a:noFill/>
                                </a:ln>
                                <a:solidFill>
                                  <a:srgbClr val="FF0000"/>
                                </a:solidFill>
                                <a:effectLst/>
                                <a:uLnTx/>
                                <a:uFillTx/>
                                <a:latin typeface="Cambria Math" panose="02040503050406030204" pitchFamily="18" charset="0"/>
                                <a:cs typeface="Arial" panose="020B0604020202020204" pitchFamily="34" charset="0"/>
                              </a:rPr>
                              <m:t>=0.01</m:t>
                            </m:r>
                          </m:oMath>
                        </m:oMathPara>
                      </a14:m>
                      <a:endParaRPr kumimoji="0" lang="en-GB" sz="2000" i="0" u="none" strike="noStrike" kern="1200" cap="none" spc="0" normalizeH="0" baseline="0" noProof="0" dirty="0">
                        <a:ln>
                          <a:noFill/>
                        </a:ln>
                        <a:solidFill>
                          <a:srgbClr val="FF0000"/>
                        </a:solidFill>
                        <a:effectLst/>
                        <a:uLnTx/>
                        <a:uFillTx/>
                        <a:latin typeface="Arial" panose="020B0604020202020204" pitchFamily="34" charset="0"/>
                        <a:cs typeface="Arial" panose="020B0604020202020204" pitchFamily="34" charset="0"/>
                      </a:endParaRPr>
                    </a:p>
                  </p:txBody>
                </p:sp>
              </mc:Choice>
              <mc:Fallback xmlns="">
                <p:sp>
                  <p:nvSpPr>
                    <p:cNvPr id="87" name="TextBox 86">
                      <a:extLst>
                        <a:ext uri="{FF2B5EF4-FFF2-40B4-BE49-F238E27FC236}">
                          <a16:creationId xmlns:a16="http://schemas.microsoft.com/office/drawing/2014/main" id="{F0EBBDB9-44C4-8F9D-DA7A-DE9599CBA317}"/>
                        </a:ext>
                      </a:extLst>
                    </p:cNvPr>
                    <p:cNvSpPr txBox="1">
                      <a:spLocks noRot="1" noChangeAspect="1" noMove="1" noResize="1" noEditPoints="1" noAdjustHandles="1" noChangeArrowheads="1" noChangeShapeType="1" noTextEdit="1"/>
                    </p:cNvSpPr>
                    <p:nvPr/>
                  </p:nvSpPr>
                  <p:spPr>
                    <a:xfrm rot="3884819">
                      <a:off x="16513863" y="11836483"/>
                      <a:ext cx="991853" cy="316973"/>
                    </a:xfrm>
                    <a:prstGeom prst="rect">
                      <a:avLst/>
                    </a:prstGeom>
                    <a:blipFill>
                      <a:blip r:embed="rId44"/>
                      <a:stretch>
                        <a:fillRect/>
                      </a:stretch>
                    </a:blipFill>
                  </p:spPr>
                  <p:txBody>
                    <a:bodyPr/>
                    <a:lstStyle/>
                    <a:p>
                      <a:r>
                        <a:rPr lang="en-GB">
                          <a:noFill/>
                        </a:rPr>
                        <a:t> </a:t>
                      </a:r>
                    </a:p>
                  </p:txBody>
                </p:sp>
              </mc:Fallback>
            </mc:AlternateContent>
            <p:sp>
              <p:nvSpPr>
                <p:cNvPr id="88" name="TextBox 87">
                  <a:extLst>
                    <a:ext uri="{FF2B5EF4-FFF2-40B4-BE49-F238E27FC236}">
                      <a16:creationId xmlns:a16="http://schemas.microsoft.com/office/drawing/2014/main" id="{FD291B97-9854-13A4-6B6E-D77B7CDA2126}"/>
                    </a:ext>
                  </a:extLst>
                </p:cNvPr>
                <p:cNvSpPr txBox="1"/>
                <p:nvPr/>
              </p:nvSpPr>
              <p:spPr>
                <a:xfrm rot="2496175">
                  <a:off x="19519278" y="14062469"/>
                  <a:ext cx="1088071"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lang="en-GB" sz="2000" dirty="0">
                      <a:solidFill>
                        <a:srgbClr val="0000FF"/>
                      </a:solidFill>
                      <a:latin typeface="Arial" panose="020B0604020202020204" pitchFamily="34" charset="0"/>
                      <a:cs typeface="Arial" panose="020B0604020202020204" pitchFamily="34" charset="0"/>
                    </a:rPr>
                    <a:t>AS = 100%</a:t>
                  </a:r>
                  <a:endParaRPr kumimoji="0" lang="en-GB" sz="2000" i="0" u="none" strike="noStrike" kern="1200" cap="none" spc="0" normalizeH="0" baseline="0" noProof="0" dirty="0">
                    <a:ln>
                      <a:noFill/>
                    </a:ln>
                    <a:solidFill>
                      <a:srgbClr val="0000FF"/>
                    </a:solidFill>
                    <a:effectLst/>
                    <a:uLnTx/>
                    <a:uFillTx/>
                    <a:latin typeface="Arial" panose="020B0604020202020204" pitchFamily="34" charset="0"/>
                    <a:cs typeface="Arial" panose="020B0604020202020204" pitchFamily="34" charset="0"/>
                  </a:endParaRPr>
                </a:p>
              </p:txBody>
            </p:sp>
            <p:sp>
              <p:nvSpPr>
                <p:cNvPr id="91" name="TextBox 90">
                  <a:extLst>
                    <a:ext uri="{FF2B5EF4-FFF2-40B4-BE49-F238E27FC236}">
                      <a16:creationId xmlns:a16="http://schemas.microsoft.com/office/drawing/2014/main" id="{66F23A93-82BB-BFA0-9E7B-34E5C4E1B602}"/>
                    </a:ext>
                  </a:extLst>
                </p:cNvPr>
                <p:cNvSpPr txBox="1"/>
                <p:nvPr/>
              </p:nvSpPr>
              <p:spPr>
                <a:xfrm rot="2496175">
                  <a:off x="19622399" y="14670756"/>
                  <a:ext cx="983741"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lang="en-GB" sz="2000" dirty="0">
                      <a:solidFill>
                        <a:srgbClr val="0000FF"/>
                      </a:solidFill>
                      <a:latin typeface="Arial" panose="020B0604020202020204" pitchFamily="34" charset="0"/>
                      <a:cs typeface="Arial" panose="020B0604020202020204" pitchFamily="34" charset="0"/>
                    </a:rPr>
                    <a:t>AS = 50%</a:t>
                  </a:r>
                  <a:endParaRPr kumimoji="0" lang="en-GB" sz="2000" i="0" u="none" strike="noStrike" kern="1200" cap="none" spc="0" normalizeH="0" baseline="0" noProof="0" dirty="0">
                    <a:ln>
                      <a:noFill/>
                    </a:ln>
                    <a:solidFill>
                      <a:srgbClr val="0000FF"/>
                    </a:solidFill>
                    <a:effectLst/>
                    <a:uLnTx/>
                    <a:uFillTx/>
                    <a:latin typeface="Arial" panose="020B0604020202020204" pitchFamily="34" charset="0"/>
                    <a:cs typeface="Arial" panose="020B0604020202020204" pitchFamily="34" charset="0"/>
                  </a:endParaRPr>
                </a:p>
              </p:txBody>
            </p:sp>
            <p:sp>
              <p:nvSpPr>
                <p:cNvPr id="92" name="TextBox 91">
                  <a:extLst>
                    <a:ext uri="{FF2B5EF4-FFF2-40B4-BE49-F238E27FC236}">
                      <a16:creationId xmlns:a16="http://schemas.microsoft.com/office/drawing/2014/main" id="{3924EAD9-D539-2556-91FC-076AE109288E}"/>
                    </a:ext>
                  </a:extLst>
                </p:cNvPr>
                <p:cNvSpPr txBox="1"/>
                <p:nvPr/>
              </p:nvSpPr>
              <p:spPr>
                <a:xfrm rot="2496175">
                  <a:off x="19377268" y="15127985"/>
                  <a:ext cx="983741"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lang="en-GB" sz="2000" dirty="0">
                      <a:solidFill>
                        <a:srgbClr val="0000FF"/>
                      </a:solidFill>
                      <a:latin typeface="Arial" panose="020B0604020202020204" pitchFamily="34" charset="0"/>
                      <a:cs typeface="Arial" panose="020B0604020202020204" pitchFamily="34" charset="0"/>
                    </a:rPr>
                    <a:t>AS = 20%</a:t>
                  </a:r>
                  <a:endParaRPr kumimoji="0" lang="en-GB" sz="2000" i="0" u="none" strike="noStrike" kern="1200" cap="none" spc="0" normalizeH="0" baseline="0" noProof="0" dirty="0">
                    <a:ln>
                      <a:noFill/>
                    </a:ln>
                    <a:solidFill>
                      <a:srgbClr val="0000FF"/>
                    </a:solidFill>
                    <a:effectLst/>
                    <a:uLnTx/>
                    <a:uFillTx/>
                    <a:latin typeface="Arial" panose="020B0604020202020204" pitchFamily="34" charset="0"/>
                    <a:cs typeface="Arial" panose="020B0604020202020204" pitchFamily="34" charset="0"/>
                  </a:endParaRPr>
                </a:p>
              </p:txBody>
            </p:sp>
            <p:sp>
              <p:nvSpPr>
                <p:cNvPr id="94" name="TextBox 93">
                  <a:extLst>
                    <a:ext uri="{FF2B5EF4-FFF2-40B4-BE49-F238E27FC236}">
                      <a16:creationId xmlns:a16="http://schemas.microsoft.com/office/drawing/2014/main" id="{6BD3DCE7-4AD0-E510-33BB-C438F8910197}"/>
                    </a:ext>
                  </a:extLst>
                </p:cNvPr>
                <p:cNvSpPr txBox="1"/>
                <p:nvPr/>
              </p:nvSpPr>
              <p:spPr>
                <a:xfrm rot="2496175">
                  <a:off x="18833252" y="15133594"/>
                  <a:ext cx="983741"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lang="en-GB" sz="2000" dirty="0">
                      <a:solidFill>
                        <a:srgbClr val="0000FF"/>
                      </a:solidFill>
                      <a:latin typeface="Arial" panose="020B0604020202020204" pitchFamily="34" charset="0"/>
                      <a:cs typeface="Arial" panose="020B0604020202020204" pitchFamily="34" charset="0"/>
                    </a:rPr>
                    <a:t>AS = 10%</a:t>
                  </a:r>
                  <a:endParaRPr kumimoji="0" lang="en-GB" sz="2000" i="0" u="none" strike="noStrike" kern="1200" cap="none" spc="0" normalizeH="0" baseline="0" noProof="0" dirty="0">
                    <a:ln>
                      <a:noFill/>
                    </a:ln>
                    <a:solidFill>
                      <a:srgbClr val="0000FF"/>
                    </a:solidFill>
                    <a:effectLst/>
                    <a:uLnTx/>
                    <a:uFillTx/>
                    <a:latin typeface="Arial" panose="020B0604020202020204" pitchFamily="34" charset="0"/>
                    <a:cs typeface="Arial" panose="020B0604020202020204" pitchFamily="34" charset="0"/>
                  </a:endParaRPr>
                </a:p>
              </p:txBody>
            </p:sp>
            <p:sp>
              <p:nvSpPr>
                <p:cNvPr id="95" name="TextBox 94">
                  <a:extLst>
                    <a:ext uri="{FF2B5EF4-FFF2-40B4-BE49-F238E27FC236}">
                      <a16:creationId xmlns:a16="http://schemas.microsoft.com/office/drawing/2014/main" id="{63306DF1-84DA-905F-6473-5661D490956E}"/>
                    </a:ext>
                  </a:extLst>
                </p:cNvPr>
                <p:cNvSpPr txBox="1"/>
                <p:nvPr/>
              </p:nvSpPr>
              <p:spPr>
                <a:xfrm rot="2496175">
                  <a:off x="18316552" y="15158794"/>
                  <a:ext cx="879413" cy="292591"/>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lang="en-GB" sz="2000" dirty="0">
                      <a:solidFill>
                        <a:srgbClr val="0000FF"/>
                      </a:solidFill>
                      <a:latin typeface="Arial" panose="020B0604020202020204" pitchFamily="34" charset="0"/>
                      <a:cs typeface="Arial" panose="020B0604020202020204" pitchFamily="34" charset="0"/>
                    </a:rPr>
                    <a:t>AS = 5%</a:t>
                  </a:r>
                  <a:endParaRPr kumimoji="0" lang="en-GB" sz="2000" i="0" u="none" strike="noStrike" kern="1200" cap="none" spc="0" normalizeH="0" baseline="0" noProof="0" dirty="0">
                    <a:ln>
                      <a:noFill/>
                    </a:ln>
                    <a:solidFill>
                      <a:srgbClr val="0000FF"/>
                    </a:solidFill>
                    <a:effectLst/>
                    <a:uLnTx/>
                    <a:uFillTx/>
                    <a:latin typeface="Arial" panose="020B0604020202020204" pitchFamily="34" charset="0"/>
                    <a:cs typeface="Arial" panose="020B0604020202020204" pitchFamily="34" charset="0"/>
                  </a:endParaRPr>
                </a:p>
              </p:txBody>
            </p:sp>
          </p:grpSp>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7736E3B0-52E8-B11C-3CF7-781094CE1B0E}"/>
                      </a:ext>
                    </a:extLst>
                  </p:cNvPr>
                  <p:cNvSpPr txBox="1"/>
                  <p:nvPr/>
                </p:nvSpPr>
                <p:spPr>
                  <a:xfrm>
                    <a:off x="17027186" y="15773222"/>
                    <a:ext cx="1628587" cy="400110"/>
                  </a:xfrm>
                  <a:prstGeom prst="rect">
                    <a:avLst/>
                  </a:prstGeom>
                  <a:noFill/>
                  <a:ln>
                    <a:noFill/>
                  </a:ln>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kumimoji="0" lang="en-GB" sz="2000" b="0" u="none" strike="noStrike" kern="1200" cap="none" spc="0" normalizeH="0" baseline="0" noProof="0" dirty="0">
                        <a:ln>
                          <a:noFill/>
                        </a:ln>
                        <a:effectLst/>
                        <a:uLnTx/>
                        <a:uFillTx/>
                        <a:latin typeface="Arial" panose="020B0604020202020204" pitchFamily="34" charset="0"/>
                        <a:cs typeface="Arial" panose="020B0604020202020204" pitchFamily="34" charset="0"/>
                      </a:rPr>
                      <a:t>Night, </a:t>
                    </a:r>
                    <a14:m>
                      <m:oMath xmlns:m="http://schemas.openxmlformats.org/officeDocument/2006/math">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𝜁</m:t>
                        </m:r>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m:t>
                        </m:r>
                        <m:sSup>
                          <m:sSupPr>
                            <m:ctrlP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ctrlPr>
                          </m:sSupPr>
                          <m:e>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0</m:t>
                            </m:r>
                          </m:e>
                          <m:sup>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m:t>
                            </m:r>
                          </m:sup>
                        </m:sSup>
                      </m:oMath>
                    </a14:m>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mc:Choice>
            <mc:Fallback xmlns="">
              <p:sp>
                <p:nvSpPr>
                  <p:cNvPr id="115" name="TextBox 114">
                    <a:extLst>
                      <a:ext uri="{FF2B5EF4-FFF2-40B4-BE49-F238E27FC236}">
                        <a16:creationId xmlns:a16="http://schemas.microsoft.com/office/drawing/2014/main" id="{7736E3B0-52E8-B11C-3CF7-781094CE1B0E}"/>
                      </a:ext>
                    </a:extLst>
                  </p:cNvPr>
                  <p:cNvSpPr txBox="1">
                    <a:spLocks noRot="1" noChangeAspect="1" noMove="1" noResize="1" noEditPoints="1" noAdjustHandles="1" noChangeArrowheads="1" noChangeShapeType="1" noTextEdit="1"/>
                  </p:cNvSpPr>
                  <p:nvPr/>
                </p:nvSpPr>
                <p:spPr>
                  <a:xfrm>
                    <a:off x="17027186" y="15773222"/>
                    <a:ext cx="1628587" cy="400110"/>
                  </a:xfrm>
                  <a:prstGeom prst="rect">
                    <a:avLst/>
                  </a:prstGeom>
                  <a:blipFill>
                    <a:blip r:embed="rId45"/>
                    <a:stretch>
                      <a:fillRect l="-3745" t="-7692" b="-29231"/>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F45D01A9-3A81-A3BF-6AD3-504D7B0101FE}"/>
                      </a:ext>
                    </a:extLst>
                  </p:cNvPr>
                  <p:cNvSpPr txBox="1"/>
                  <p:nvPr/>
                </p:nvSpPr>
                <p:spPr>
                  <a:xfrm>
                    <a:off x="17037110" y="16128175"/>
                    <a:ext cx="1771254" cy="400110"/>
                  </a:xfrm>
                  <a:prstGeom prst="rect">
                    <a:avLst/>
                  </a:prstGeom>
                  <a:noFill/>
                  <a:ln>
                    <a:noFill/>
                  </a:ln>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kumimoji="0" lang="en-GB" sz="2000" b="0" u="none" strike="noStrike" kern="1200" cap="none" spc="0" normalizeH="0" baseline="0" noProof="0" dirty="0">
                        <a:ln>
                          <a:noFill/>
                        </a:ln>
                        <a:effectLst/>
                        <a:uLnTx/>
                        <a:uFillTx/>
                        <a:latin typeface="Arial" panose="020B0604020202020204" pitchFamily="34" charset="0"/>
                        <a:cs typeface="Arial" panose="020B0604020202020204" pitchFamily="34" charset="0"/>
                      </a:rPr>
                      <a:t>Night, </a:t>
                    </a:r>
                    <a14:m>
                      <m:oMath xmlns:m="http://schemas.openxmlformats.org/officeDocument/2006/math">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𝜁</m:t>
                        </m:r>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m:t>
                        </m:r>
                        <m:sSup>
                          <m:sSupPr>
                            <m:ctrlP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ctrlPr>
                          </m:sSupPr>
                          <m:e>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70</m:t>
                            </m:r>
                          </m:e>
                          <m:sup>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m:t>
                            </m:r>
                          </m:sup>
                        </m:sSup>
                      </m:oMath>
                    </a14:m>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mc:Choice>
            <mc:Fallback xmlns="">
              <p:sp>
                <p:nvSpPr>
                  <p:cNvPr id="117" name="TextBox 116">
                    <a:extLst>
                      <a:ext uri="{FF2B5EF4-FFF2-40B4-BE49-F238E27FC236}">
                        <a16:creationId xmlns:a16="http://schemas.microsoft.com/office/drawing/2014/main" id="{F45D01A9-3A81-A3BF-6AD3-504D7B0101FE}"/>
                      </a:ext>
                    </a:extLst>
                  </p:cNvPr>
                  <p:cNvSpPr txBox="1">
                    <a:spLocks noRot="1" noChangeAspect="1" noMove="1" noResize="1" noEditPoints="1" noAdjustHandles="1" noChangeArrowheads="1" noChangeShapeType="1" noTextEdit="1"/>
                  </p:cNvSpPr>
                  <p:nvPr/>
                </p:nvSpPr>
                <p:spPr>
                  <a:xfrm>
                    <a:off x="17037110" y="16128175"/>
                    <a:ext cx="1771254" cy="400110"/>
                  </a:xfrm>
                  <a:prstGeom prst="rect">
                    <a:avLst/>
                  </a:prstGeom>
                  <a:blipFill>
                    <a:blip r:embed="rId46"/>
                    <a:stretch>
                      <a:fillRect l="-3793" t="-7576" b="-27273"/>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1E275113-19CB-7F0B-8F2C-ED45406730A7}"/>
                      </a:ext>
                    </a:extLst>
                  </p:cNvPr>
                  <p:cNvSpPr txBox="1"/>
                  <p:nvPr/>
                </p:nvSpPr>
                <p:spPr>
                  <a:xfrm>
                    <a:off x="17169103" y="16498372"/>
                    <a:ext cx="1466876" cy="400110"/>
                  </a:xfrm>
                  <a:prstGeom prst="rect">
                    <a:avLst/>
                  </a:prstGeom>
                  <a:noFill/>
                  <a:ln>
                    <a:noFill/>
                  </a:ln>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kumimoji="0" lang="en-GB" sz="2000" b="0" u="none" strike="noStrike" kern="1200" cap="none" spc="0" normalizeH="0" baseline="0" noProof="0" dirty="0">
                        <a:ln>
                          <a:noFill/>
                        </a:ln>
                        <a:effectLst/>
                        <a:uLnTx/>
                        <a:uFillTx/>
                        <a:latin typeface="Arial" panose="020B0604020202020204" pitchFamily="34" charset="0"/>
                        <a:cs typeface="Arial" panose="020B0604020202020204" pitchFamily="34" charset="0"/>
                      </a:rPr>
                      <a:t>Day, </a:t>
                    </a:r>
                    <a14:m>
                      <m:oMath xmlns:m="http://schemas.openxmlformats.org/officeDocument/2006/math">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𝜁</m:t>
                        </m:r>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m:t>
                        </m:r>
                        <m:sSup>
                          <m:sSupPr>
                            <m:ctrlP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ctrlPr>
                          </m:sSupPr>
                          <m:e>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0</m:t>
                            </m:r>
                          </m:e>
                          <m:sup>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m:t>
                            </m:r>
                          </m:sup>
                        </m:sSup>
                      </m:oMath>
                    </a14:m>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mc:Choice>
            <mc:Fallback xmlns="">
              <p:sp>
                <p:nvSpPr>
                  <p:cNvPr id="118" name="TextBox 117">
                    <a:extLst>
                      <a:ext uri="{FF2B5EF4-FFF2-40B4-BE49-F238E27FC236}">
                        <a16:creationId xmlns:a16="http://schemas.microsoft.com/office/drawing/2014/main" id="{1E275113-19CB-7F0B-8F2C-ED45406730A7}"/>
                      </a:ext>
                    </a:extLst>
                  </p:cNvPr>
                  <p:cNvSpPr txBox="1">
                    <a:spLocks noRot="1" noChangeAspect="1" noMove="1" noResize="1" noEditPoints="1" noAdjustHandles="1" noChangeArrowheads="1" noChangeShapeType="1" noTextEdit="1"/>
                  </p:cNvSpPr>
                  <p:nvPr/>
                </p:nvSpPr>
                <p:spPr>
                  <a:xfrm>
                    <a:off x="17169103" y="16498372"/>
                    <a:ext cx="1466876" cy="400110"/>
                  </a:xfrm>
                  <a:prstGeom prst="rect">
                    <a:avLst/>
                  </a:prstGeom>
                  <a:blipFill>
                    <a:blip r:embed="rId47"/>
                    <a:stretch>
                      <a:fillRect l="-4149" t="-7692" b="-29231"/>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40C71D11-E925-BEDD-86AF-B1C56F0F2EAC}"/>
                      </a:ext>
                    </a:extLst>
                  </p:cNvPr>
                  <p:cNvSpPr txBox="1"/>
                  <p:nvPr/>
                </p:nvSpPr>
                <p:spPr>
                  <a:xfrm>
                    <a:off x="17178032" y="16847128"/>
                    <a:ext cx="1609543" cy="400110"/>
                  </a:xfrm>
                  <a:prstGeom prst="rect">
                    <a:avLst/>
                  </a:prstGeom>
                  <a:noFill/>
                  <a:ln>
                    <a:noFill/>
                  </a:ln>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kumimoji="0" lang="en-GB" sz="2000" b="0" u="none" strike="noStrike" kern="1200" cap="none" spc="0" normalizeH="0" baseline="0" noProof="0" dirty="0">
                        <a:ln>
                          <a:noFill/>
                        </a:ln>
                        <a:effectLst/>
                        <a:uLnTx/>
                        <a:uFillTx/>
                        <a:latin typeface="Arial" panose="020B0604020202020204" pitchFamily="34" charset="0"/>
                        <a:cs typeface="Arial" panose="020B0604020202020204" pitchFamily="34" charset="0"/>
                      </a:rPr>
                      <a:t>Day, </a:t>
                    </a:r>
                    <a14:m>
                      <m:oMath xmlns:m="http://schemas.openxmlformats.org/officeDocument/2006/math">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𝜁</m:t>
                        </m:r>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m:t>
                        </m:r>
                        <m:sSup>
                          <m:sSupPr>
                            <m:ctrlP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ctrlPr>
                          </m:sSupPr>
                          <m:e>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70</m:t>
                            </m:r>
                          </m:e>
                          <m:sup>
                            <m:r>
                              <a:rPr kumimoji="0" lang="en-GB" sz="2000" b="0" i="1" u="none" strike="noStrike" kern="1200" cap="none" spc="0" normalizeH="0" baseline="0" noProof="0" smtClean="0">
                                <a:ln>
                                  <a:noFill/>
                                </a:ln>
                                <a:effectLst/>
                                <a:uLnTx/>
                                <a:uFillTx/>
                                <a:latin typeface="Cambria Math" panose="02040503050406030204" pitchFamily="18" charset="0"/>
                                <a:cs typeface="Arial" panose="020B0604020202020204" pitchFamily="34" charset="0"/>
                              </a:rPr>
                              <m:t>∘</m:t>
                            </m:r>
                          </m:sup>
                        </m:sSup>
                      </m:oMath>
                    </a14:m>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mc:Choice>
            <mc:Fallback xmlns="">
              <p:sp>
                <p:nvSpPr>
                  <p:cNvPr id="119" name="TextBox 118">
                    <a:extLst>
                      <a:ext uri="{FF2B5EF4-FFF2-40B4-BE49-F238E27FC236}">
                        <a16:creationId xmlns:a16="http://schemas.microsoft.com/office/drawing/2014/main" id="{40C71D11-E925-BEDD-86AF-B1C56F0F2EAC}"/>
                      </a:ext>
                    </a:extLst>
                  </p:cNvPr>
                  <p:cNvSpPr txBox="1">
                    <a:spLocks noRot="1" noChangeAspect="1" noMove="1" noResize="1" noEditPoints="1" noAdjustHandles="1" noChangeArrowheads="1" noChangeShapeType="1" noTextEdit="1"/>
                  </p:cNvSpPr>
                  <p:nvPr/>
                </p:nvSpPr>
                <p:spPr>
                  <a:xfrm>
                    <a:off x="17178032" y="16847128"/>
                    <a:ext cx="1609543" cy="400110"/>
                  </a:xfrm>
                  <a:prstGeom prst="rect">
                    <a:avLst/>
                  </a:prstGeom>
                  <a:blipFill>
                    <a:blip r:embed="rId48"/>
                    <a:stretch>
                      <a:fillRect l="-4167" t="-7576" b="-27273"/>
                    </a:stretch>
                  </a:blipFill>
                  <a:ln>
                    <a:noFill/>
                  </a:ln>
                </p:spPr>
                <p:txBody>
                  <a:bodyPr/>
                  <a:lstStyle/>
                  <a:p>
                    <a:r>
                      <a:rPr lang="en-GB">
                        <a:noFill/>
                      </a:rPr>
                      <a:t> </a:t>
                    </a:r>
                  </a:p>
                </p:txBody>
              </p:sp>
            </mc:Fallback>
          </mc:AlternateContent>
        </p:grpSp>
      </p:grpSp>
      <mc:AlternateContent xmlns:mc="http://schemas.openxmlformats.org/markup-compatibility/2006">
        <mc:Choice xmlns:a14="http://schemas.microsoft.com/office/drawing/2010/main" Requires="a14">
          <p:sp>
            <p:nvSpPr>
              <p:cNvPr id="476" name="Text Placeholder 2">
                <a:extLst>
                  <a:ext uri="{FF2B5EF4-FFF2-40B4-BE49-F238E27FC236}">
                    <a16:creationId xmlns:a16="http://schemas.microsoft.com/office/drawing/2014/main" id="{CA0D3F82-7AD6-AE7A-2D36-88D7E32214CD}"/>
                  </a:ext>
                </a:extLst>
              </p:cNvPr>
              <p:cNvSpPr txBox="1">
                <a:spLocks/>
              </p:cNvSpPr>
              <p:nvPr/>
            </p:nvSpPr>
            <p:spPr>
              <a:xfrm>
                <a:off x="15506699" y="15735971"/>
                <a:ext cx="14037239" cy="3053474"/>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3200" b="1" i="0" u="none" strike="noStrike" kern="1200" cap="none" normalizeH="0" baseline="0" noProof="0" dirty="0">
                    <a:ln>
                      <a:noFill/>
                    </a:ln>
                    <a:solidFill>
                      <a:srgbClr val="54145A"/>
                    </a:solidFill>
                    <a:effectLst/>
                    <a:uLnTx/>
                    <a:uFillTx/>
                    <a:latin typeface="Arial" panose="020B0604020202020204" pitchFamily="34" charset="0"/>
                    <a:ea typeface="+mn-ea"/>
                    <a:cs typeface="Arial" panose="020B0604020202020204" pitchFamily="34" charset="0"/>
                  </a:rPr>
                  <a:t>Distortion of Interaction Matrices</a:t>
                </a:r>
                <a:endParaRPr kumimoji="0" lang="en-US" sz="3200" b="1" i="0" u="none" strike="noStrike" kern="1200" cap="none"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a:p>
                <a:pPr marL="0" indent="0" defTabSz="457200">
                  <a:lnSpc>
                    <a:spcPct val="150000"/>
                  </a:lnSpc>
                  <a:spcBef>
                    <a:spcPts val="0"/>
                  </a:spcBef>
                  <a:buNone/>
                  <a:defRPr/>
                </a:pPr>
                <a:r>
                  <a:rPr lang="en-GB" sz="3200" dirty="0">
                    <a:latin typeface="Arial" panose="020B0604020202020204" pitchFamily="34" charset="0"/>
                    <a:cs typeface="Arial" panose="020B0604020202020204" pitchFamily="34" charset="0"/>
                  </a:rPr>
                  <a:t>IMs are sampled on </a:t>
                </a:r>
                <a14:m>
                  <m:oMath xmlns:m="http://schemas.openxmlformats.org/officeDocument/2006/math">
                    <m:sSubSup>
                      <m:sSubSupPr>
                        <m:ctrlPr>
                          <a:rPr lang="en-GB" sz="3200" b="0" i="1" smtClean="0">
                            <a:latin typeface="Cambria Math" panose="02040503050406030204" pitchFamily="18" charset="0"/>
                            <a:cs typeface="Arial" panose="020B0604020202020204" pitchFamily="34" charset="0"/>
                          </a:rPr>
                        </m:ctrlPr>
                      </m:sSubSupPr>
                      <m:e>
                        <m:r>
                          <a:rPr lang="en-GB" sz="3200" b="0" i="1" smtClean="0">
                            <a:latin typeface="Cambria Math" panose="02040503050406030204" pitchFamily="18" charset="0"/>
                            <a:cs typeface="Arial" panose="020B0604020202020204" pitchFamily="34" charset="0"/>
                          </a:rPr>
                          <m:t>𝜎</m:t>
                        </m:r>
                      </m:e>
                      <m:sub>
                        <m:r>
                          <a:rPr lang="en-GB" sz="3200" b="0" i="1" smtClean="0">
                            <a:latin typeface="Cambria Math" panose="02040503050406030204" pitchFamily="18" charset="0"/>
                            <a:cs typeface="Arial" panose="020B0604020202020204" pitchFamily="34" charset="0"/>
                          </a:rPr>
                          <m:t>𝜒</m:t>
                        </m:r>
                      </m:sub>
                      <m:sup>
                        <m:r>
                          <a:rPr lang="en-GB" sz="3200" b="0" i="1" smtClean="0">
                            <a:latin typeface="Cambria Math" panose="02040503050406030204" pitchFamily="18" charset="0"/>
                            <a:cs typeface="Arial" panose="020B0604020202020204" pitchFamily="34" charset="0"/>
                          </a:rPr>
                          <m:t>2</m:t>
                        </m:r>
                      </m:sup>
                    </m:sSubSup>
                  </m:oMath>
                </a14:m>
                <a:r>
                  <a:rPr lang="en-GB" sz="3200" dirty="0">
                    <a:latin typeface="Arial" panose="020B0604020202020204" pitchFamily="34" charset="0"/>
                    <a:cs typeface="Arial" panose="020B0604020202020204" pitchFamily="34" charset="0"/>
                  </a:rPr>
                  <a:t> &amp; </a:t>
                </a:r>
                <a14:m>
                  <m:oMath xmlns:m="http://schemas.openxmlformats.org/officeDocument/2006/math">
                    <m:r>
                      <a:rPr lang="en-GB" sz="3200" i="1">
                        <a:latin typeface="Cambria Math" panose="02040503050406030204" pitchFamily="18" charset="0"/>
                        <a:cs typeface="Arial" panose="020B0604020202020204" pitchFamily="34" charset="0"/>
                      </a:rPr>
                      <m:t>𝐴𝑆</m:t>
                    </m:r>
                  </m:oMath>
                </a14:m>
                <a:r>
                  <a:rPr lang="en-GB" sz="3200" dirty="0">
                    <a:latin typeface="Arial" panose="020B0604020202020204" pitchFamily="34" charset="0"/>
                    <a:cs typeface="Arial" panose="020B0604020202020204" pitchFamily="34" charset="0"/>
                  </a:rPr>
                  <a:t> spaces. Provisional results are sampled as shown in Figure 4, increasing one parameter at a time. Considering only the main responses, case b), c), and d) have 11, 34, and 46% error, respectively.</a:t>
                </a:r>
              </a:p>
            </p:txBody>
          </p:sp>
        </mc:Choice>
        <mc:Fallback>
          <p:sp>
            <p:nvSpPr>
              <p:cNvPr id="476" name="Text Placeholder 2">
                <a:extLst>
                  <a:ext uri="{FF2B5EF4-FFF2-40B4-BE49-F238E27FC236}">
                    <a16:creationId xmlns:a16="http://schemas.microsoft.com/office/drawing/2014/main" id="{CA0D3F82-7AD6-AE7A-2D36-88D7E32214CD}"/>
                  </a:ext>
                </a:extLst>
              </p:cNvPr>
              <p:cNvSpPr txBox="1">
                <a:spLocks noRot="1" noChangeAspect="1" noMove="1" noResize="1" noEditPoints="1" noAdjustHandles="1" noChangeArrowheads="1" noChangeShapeType="1" noTextEdit="1"/>
              </p:cNvSpPr>
              <p:nvPr/>
            </p:nvSpPr>
            <p:spPr>
              <a:xfrm>
                <a:off x="15506699" y="15735971"/>
                <a:ext cx="14037239" cy="3053474"/>
              </a:xfrm>
              <a:prstGeom prst="rect">
                <a:avLst/>
              </a:prstGeom>
              <a:blipFill>
                <a:blip r:embed="rId49"/>
                <a:stretch>
                  <a:fillRect l="-1129" r="-695" b="-4990"/>
                </a:stretch>
              </a:blipFill>
            </p:spPr>
            <p:txBody>
              <a:bodyPr/>
              <a:lstStyle/>
              <a:p>
                <a:r>
                  <a:rPr lang="en-GB">
                    <a:noFill/>
                  </a:rPr>
                  <a:t> </a:t>
                </a:r>
              </a:p>
            </p:txBody>
          </p:sp>
        </mc:Fallback>
      </mc:AlternateContent>
      <p:sp>
        <p:nvSpPr>
          <p:cNvPr id="532" name="TextBox 531">
            <a:extLst>
              <a:ext uri="{FF2B5EF4-FFF2-40B4-BE49-F238E27FC236}">
                <a16:creationId xmlns:a16="http://schemas.microsoft.com/office/drawing/2014/main" id="{AE85CFAA-531E-902F-8F71-2A85FA5D58F8}"/>
              </a:ext>
            </a:extLst>
          </p:cNvPr>
          <p:cNvSpPr txBox="1"/>
          <p:nvPr/>
        </p:nvSpPr>
        <p:spPr>
          <a:xfrm>
            <a:off x="15163800" y="41362241"/>
            <a:ext cx="7899399" cy="1015663"/>
          </a:xfrm>
          <a:prstGeom prst="rect">
            <a:avLst/>
          </a:prstGeom>
          <a:noFill/>
        </p:spPr>
        <p:txBody>
          <a:bodyPr wrap="square" rtlCol="0">
            <a:spAutoFit/>
          </a:bodyPr>
          <a:lstStyle/>
          <a:p>
            <a:pPr marL="0" marR="0" indent="0" algn="l" defTabSz="457200" rtl="0" eaLnBrk="1" fontAlgn="auto" latinLnBrk="0" hangingPunct="1">
              <a:spcBef>
                <a:spcPts val="0"/>
              </a:spcBef>
              <a:spcAft>
                <a:spcPts val="0"/>
              </a:spcAft>
              <a:buClrTx/>
              <a:buSzTx/>
              <a:buFontTx/>
              <a:buNone/>
              <a:tabLst/>
            </a:pPr>
            <a:r>
              <a:rPr kumimoji="0" lang="en-GB" sz="2000" b="1"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Figure 5:</a:t>
            </a:r>
            <a:r>
              <a:rPr kumimoji="0" lang="en-GB" sz="200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 Mean instantaneous Strehl ratio from using distorted interaction matrices of DM1 to correct static 5cm-r0 turbulences</a:t>
            </a:r>
            <a:r>
              <a:rPr lang="en-GB" sz="2000" dirty="0">
                <a:latin typeface="Arial" panose="020B0604020202020204" pitchFamily="34" charset="0"/>
                <a:cs typeface="Arial" panose="020B0604020202020204" pitchFamily="34" charset="0"/>
              </a:rPr>
              <a:t>. Error bar shows standard error of the mean from 100 simulations.</a:t>
            </a:r>
            <a:endParaRPr kumimoji="0" lang="en-GB" sz="200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endParaRPr>
          </a:p>
        </p:txBody>
      </p:sp>
      <p:grpSp>
        <p:nvGrpSpPr>
          <p:cNvPr id="69" name="Group 68">
            <a:extLst>
              <a:ext uri="{FF2B5EF4-FFF2-40B4-BE49-F238E27FC236}">
                <a16:creationId xmlns:a16="http://schemas.microsoft.com/office/drawing/2014/main" id="{41F33013-9992-FDE1-537B-48A9C45332BF}"/>
              </a:ext>
            </a:extLst>
          </p:cNvPr>
          <p:cNvGrpSpPr/>
          <p:nvPr/>
        </p:nvGrpSpPr>
        <p:grpSpPr>
          <a:xfrm>
            <a:off x="15531191" y="18850433"/>
            <a:ext cx="14056895" cy="7533817"/>
            <a:chOff x="15531191" y="19917233"/>
            <a:chExt cx="14056895" cy="7533817"/>
          </a:xfrm>
        </p:grpSpPr>
        <p:sp>
          <p:nvSpPr>
            <p:cNvPr id="575" name="TextBox 574">
              <a:extLst>
                <a:ext uri="{FF2B5EF4-FFF2-40B4-BE49-F238E27FC236}">
                  <a16:creationId xmlns:a16="http://schemas.microsoft.com/office/drawing/2014/main" id="{43623E93-F0DE-BEB6-5009-0910B0536C0A}"/>
                </a:ext>
              </a:extLst>
            </p:cNvPr>
            <p:cNvSpPr txBox="1"/>
            <p:nvPr/>
          </p:nvSpPr>
          <p:spPr>
            <a:xfrm>
              <a:off x="15531191" y="26393227"/>
              <a:ext cx="13639800" cy="1057823"/>
            </a:xfrm>
            <a:prstGeom prst="rect">
              <a:avLst/>
            </a:prstGeom>
            <a:noFill/>
          </p:spPr>
          <p:txBody>
            <a:bodyPr wrap="square" rtlCol="0">
              <a:noAutofit/>
            </a:bodyPr>
            <a:lstStyle/>
            <a:p>
              <a:pPr marL="0" marR="0" indent="0" algn="l" defTabSz="457200" rtl="0" eaLnBrk="1" fontAlgn="auto" latinLnBrk="0" hangingPunct="1">
                <a:spcBef>
                  <a:spcPts val="0"/>
                </a:spcBef>
                <a:spcAft>
                  <a:spcPts val="0"/>
                </a:spcAft>
                <a:buClrTx/>
                <a:buSzTx/>
                <a:buFontTx/>
                <a:buNone/>
                <a:tabLst/>
              </a:pPr>
              <a:r>
                <a:rPr lang="en-GB" sz="2000" b="1" dirty="0">
                  <a:latin typeface="Arial" panose="020B0604020202020204" pitchFamily="34" charset="0"/>
                  <a:cs typeface="Arial" panose="020B0604020202020204" pitchFamily="34" charset="0"/>
                </a:rPr>
                <a:t>Figure 4:</a:t>
              </a:r>
              <a:r>
                <a:rPr lang="en-GB" sz="2000" dirty="0">
                  <a:latin typeface="Arial" panose="020B0604020202020204" pitchFamily="34" charset="0"/>
                  <a:cs typeface="Arial" panose="020B0604020202020204" pitchFamily="34" charset="0"/>
                </a:rPr>
                <a:t> Distorted interaction matrices from DM1 (top) and the difference from the non-distorted interaction matrices (bottom) for increasing scintillation indices and relative actuator shift (AS) to SHWFS subaperture size. Simulations used </a:t>
              </a:r>
              <a:r>
                <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rPr>
                <a:t>5cm-</a:t>
              </a:r>
              <a:r>
                <a:rPr lang="en-GB" sz="2000" dirty="0">
                  <a:latin typeface="Arial" panose="020B0604020202020204" pitchFamily="34" charset="0"/>
                  <a:cs typeface="Arial" panose="020B0604020202020204" pitchFamily="34" charset="0"/>
                </a:rPr>
                <a:t>s</a:t>
              </a:r>
              <a:r>
                <a:rPr kumimoji="0" lang="en-GB" sz="2000" i="0" u="none" strike="noStrike" kern="1200" cap="none" spc="0" normalizeH="0" baseline="0" noProof="0" dirty="0" err="1">
                  <a:ln>
                    <a:noFill/>
                  </a:ln>
                  <a:effectLst/>
                  <a:uLnTx/>
                  <a:uFillTx/>
                  <a:latin typeface="Arial" panose="020B0604020202020204" pitchFamily="34" charset="0"/>
                  <a:cs typeface="Arial" panose="020B0604020202020204" pitchFamily="34" charset="0"/>
                </a:rPr>
                <a:t>ubap</a:t>
              </a:r>
              <a:r>
                <a:rPr lang="en-GB" sz="2000" dirty="0">
                  <a:latin typeface="Arial" panose="020B0604020202020204" pitchFamily="34" charset="0"/>
                  <a:cs typeface="Arial" panose="020B0604020202020204" pitchFamily="34" charset="0"/>
                </a:rPr>
                <a:t>e</a:t>
              </a:r>
              <a:r>
                <a:rPr kumimoji="0" lang="en-GB" sz="2000" i="0" u="none" strike="noStrike" kern="1200" cap="none" spc="0" normalizeH="0" baseline="0" noProof="0" dirty="0" err="1">
                  <a:ln>
                    <a:noFill/>
                  </a:ln>
                  <a:effectLst/>
                  <a:uLnTx/>
                  <a:uFillTx/>
                  <a:latin typeface="Arial" panose="020B0604020202020204" pitchFamily="34" charset="0"/>
                  <a:cs typeface="Arial" panose="020B0604020202020204" pitchFamily="34" charset="0"/>
                </a:rPr>
                <a:t>rtures</a:t>
              </a:r>
              <a:r>
                <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rPr>
                <a:t> at 500 nm</a:t>
              </a:r>
              <a:r>
                <a:rPr lang="en-GB" sz="2000" dirty="0">
                  <a:latin typeface="Arial" panose="020B0604020202020204" pitchFamily="34" charset="0"/>
                  <a:cs typeface="Arial" panose="020B0604020202020204" pitchFamily="34" charset="0"/>
                </a:rPr>
                <a:t>.</a:t>
              </a:r>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125" name="Group 124">
              <a:extLst>
                <a:ext uri="{FF2B5EF4-FFF2-40B4-BE49-F238E27FC236}">
                  <a16:creationId xmlns:a16="http://schemas.microsoft.com/office/drawing/2014/main" id="{7C8F74CC-1A90-CA32-A1ED-E66976913701}"/>
                </a:ext>
              </a:extLst>
            </p:cNvPr>
            <p:cNvGrpSpPr/>
            <p:nvPr/>
          </p:nvGrpSpPr>
          <p:grpSpPr>
            <a:xfrm>
              <a:off x="15885430" y="19917233"/>
              <a:ext cx="13702656" cy="6330742"/>
              <a:chOff x="15504430" y="20088683"/>
              <a:chExt cx="13702656" cy="6330742"/>
            </a:xfrm>
          </p:grpSpPr>
          <p:grpSp>
            <p:nvGrpSpPr>
              <p:cNvPr id="479" name="Group 478">
                <a:extLst>
                  <a:ext uri="{FF2B5EF4-FFF2-40B4-BE49-F238E27FC236}">
                    <a16:creationId xmlns:a16="http://schemas.microsoft.com/office/drawing/2014/main" id="{79726BD9-F658-B081-CECB-4A1BBAD98D86}"/>
                  </a:ext>
                </a:extLst>
              </p:cNvPr>
              <p:cNvGrpSpPr/>
              <p:nvPr/>
            </p:nvGrpSpPr>
            <p:grpSpPr>
              <a:xfrm>
                <a:off x="15504430" y="20088683"/>
                <a:ext cx="12764250" cy="6330742"/>
                <a:chOff x="16476888" y="20088683"/>
                <a:chExt cx="12764250" cy="6330742"/>
              </a:xfrm>
            </p:grpSpPr>
            <p:pic>
              <p:nvPicPr>
                <p:cNvPr id="123" name="Picture 122" descr="A blue square with a rainbow colored stripe&#10;&#10;Description automatically generated">
                  <a:extLst>
                    <a:ext uri="{FF2B5EF4-FFF2-40B4-BE49-F238E27FC236}">
                      <a16:creationId xmlns:a16="http://schemas.microsoft.com/office/drawing/2014/main" id="{6A9A7ACE-4BF1-C998-601D-13DC43D607C6}"/>
                    </a:ext>
                  </a:extLst>
                </p:cNvPr>
                <p:cNvPicPr>
                  <a:picLocks noChangeAspect="1"/>
                </p:cNvPicPr>
                <p:nvPr/>
              </p:nvPicPr>
              <p:blipFill rotWithShape="1">
                <a:blip r:embed="rId50">
                  <a:extLst>
                    <a:ext uri="{28A0092B-C50C-407E-A947-70E740481C1C}">
                      <a14:useLocalDpi xmlns:a14="http://schemas.microsoft.com/office/drawing/2010/main" val="0"/>
                    </a:ext>
                  </a:extLst>
                </a:blip>
                <a:srcRect l="1821" t="11273" r="21229" b="11947"/>
                <a:stretch/>
              </p:blipFill>
              <p:spPr>
                <a:xfrm>
                  <a:off x="17015800" y="23304753"/>
                  <a:ext cx="3067900" cy="3052762"/>
                </a:xfrm>
                <a:prstGeom prst="rect">
                  <a:avLst/>
                </a:prstGeom>
              </p:spPr>
            </p:pic>
            <p:sp>
              <p:nvSpPr>
                <p:cNvPr id="573" name="TextBox 572">
                  <a:extLst>
                    <a:ext uri="{FF2B5EF4-FFF2-40B4-BE49-F238E27FC236}">
                      <a16:creationId xmlns:a16="http://schemas.microsoft.com/office/drawing/2014/main" id="{A93D6B6E-446D-149F-3542-4F682609D3CD}"/>
                    </a:ext>
                  </a:extLst>
                </p:cNvPr>
                <p:cNvSpPr txBox="1"/>
                <p:nvPr/>
              </p:nvSpPr>
              <p:spPr>
                <a:xfrm rot="16200000">
                  <a:off x="16478078" y="21990460"/>
                  <a:ext cx="421135" cy="380807"/>
                </a:xfrm>
                <a:prstGeom prst="rect">
                  <a:avLst/>
                </a:prstGeom>
                <a:noFill/>
              </p:spPr>
              <p:txBody>
                <a:bodyPr wrap="none" rtlCol="0">
                  <a:noAutofit/>
                </a:bodyPr>
                <a:lstStyle/>
                <a:p>
                  <a:pPr marL="0" marR="0" indent="0" algn="l" defTabSz="457200" rtl="0" eaLnBrk="1" fontAlgn="auto" latinLnBrk="0" hangingPunct="1">
                    <a:spcBef>
                      <a:spcPts val="0"/>
                    </a:spcBef>
                    <a:spcAft>
                      <a:spcPts val="0"/>
                    </a:spcAft>
                    <a:buClrTx/>
                    <a:buSzTx/>
                    <a:buFontTx/>
                    <a:buNone/>
                    <a:tabLst/>
                  </a:pPr>
                  <a:r>
                    <a:rPr kumimoji="0" lang="en-GB" sz="200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IM</a:t>
                  </a:r>
                </a:p>
              </p:txBody>
            </p:sp>
            <p:sp>
              <p:nvSpPr>
                <p:cNvPr id="574" name="TextBox 573">
                  <a:extLst>
                    <a:ext uri="{FF2B5EF4-FFF2-40B4-BE49-F238E27FC236}">
                      <a16:creationId xmlns:a16="http://schemas.microsoft.com/office/drawing/2014/main" id="{23AE5421-180A-4016-47A3-E647ABFDAE34}"/>
                    </a:ext>
                  </a:extLst>
                </p:cNvPr>
                <p:cNvSpPr txBox="1"/>
                <p:nvPr/>
              </p:nvSpPr>
              <p:spPr>
                <a:xfrm rot="16200000">
                  <a:off x="16245892" y="25176397"/>
                  <a:ext cx="842800" cy="380807"/>
                </a:xfrm>
                <a:prstGeom prst="rect">
                  <a:avLst/>
                </a:prstGeom>
                <a:noFill/>
              </p:spPr>
              <p:txBody>
                <a:bodyPr wrap="none" rtlCol="0">
                  <a:noAutofit/>
                </a:bodyPr>
                <a:lstStyle/>
                <a:p>
                  <a:pPr marL="0" marR="0" indent="0" algn="l" defTabSz="457200" rtl="0" eaLnBrk="1" fontAlgn="auto" latinLnBrk="0" hangingPunct="1">
                    <a:spcBef>
                      <a:spcPts val="0"/>
                    </a:spcBef>
                    <a:spcAft>
                      <a:spcPts val="0"/>
                    </a:spcAft>
                    <a:buClrTx/>
                    <a:buSzTx/>
                    <a:buFontTx/>
                    <a:buNone/>
                    <a:tabLst/>
                  </a:pPr>
                  <a:r>
                    <a:rPr lang="en-GB" sz="2000" dirty="0">
                      <a:latin typeface="Arial" panose="020B0604020202020204" pitchFamily="34" charset="0"/>
                      <a:cs typeface="Arial" panose="020B0604020202020204" pitchFamily="34" charset="0"/>
                    </a:rPr>
                    <a:t>IM Difference</a:t>
                  </a:r>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9BBF5E81-A470-355F-22BD-C5CCD159F871}"/>
                        </a:ext>
                      </a:extLst>
                    </p:cNvPr>
                    <p:cNvSpPr txBox="1"/>
                    <p:nvPr/>
                  </p:nvSpPr>
                  <p:spPr>
                    <a:xfrm>
                      <a:off x="17144389" y="20130267"/>
                      <a:ext cx="2857500" cy="433452"/>
                    </a:xfrm>
                    <a:prstGeom prst="rect">
                      <a:avLst/>
                    </a:prstGeom>
                    <a:noFill/>
                  </p:spPr>
                  <p:txBody>
                    <a:bodyPr wrap="square" rtlCol="0" anchor="ctr">
                      <a:spAutoFit/>
                    </a:bodyPr>
                    <a:lstStyle/>
                    <a:p>
                      <a:pPr algn="ctr"/>
                      <a:r>
                        <a:rPr lang="en-GB" sz="2000" b="0" dirty="0">
                          <a:cs typeface="Arial" panose="020B0604020202020204" pitchFamily="34" charset="0"/>
                        </a:rPr>
                        <a:t>a) </a:t>
                      </a:r>
                      <a14:m>
                        <m:oMath xmlns:m="http://schemas.openxmlformats.org/officeDocument/2006/math">
                          <m:sSubSup>
                            <m:sSubSupPr>
                              <m:ctrlPr>
                                <a:rPr lang="en-GB" sz="2000" b="0" i="1" smtClean="0">
                                  <a:latin typeface="Cambria Math" panose="02040503050406030204" pitchFamily="18" charset="0"/>
                                  <a:cs typeface="Arial" panose="020B0604020202020204" pitchFamily="34" charset="0"/>
                                </a:rPr>
                              </m:ctrlPr>
                            </m:sSubSupPr>
                            <m:e>
                              <m:r>
                                <a:rPr lang="en-GB" sz="2000" b="0" i="1" smtClean="0">
                                  <a:latin typeface="Cambria Math" panose="02040503050406030204" pitchFamily="18" charset="0"/>
                                  <a:cs typeface="Arial" panose="020B0604020202020204" pitchFamily="34" charset="0"/>
                                </a:rPr>
                                <m:t>𝜎</m:t>
                              </m:r>
                            </m:e>
                            <m:sub>
                              <m:r>
                                <a:rPr lang="en-GB" sz="2000" b="0" i="1" smtClean="0">
                                  <a:latin typeface="Cambria Math" panose="02040503050406030204" pitchFamily="18" charset="0"/>
                                  <a:cs typeface="Arial" panose="020B0604020202020204" pitchFamily="34" charset="0"/>
                                </a:rPr>
                                <m:t>𝜒</m:t>
                              </m:r>
                            </m:sub>
                            <m:sup>
                              <m:r>
                                <a:rPr lang="en-GB" sz="2000" b="0" i="1" smtClean="0">
                                  <a:latin typeface="Cambria Math" panose="02040503050406030204" pitchFamily="18" charset="0"/>
                                  <a:cs typeface="Arial" panose="020B0604020202020204" pitchFamily="34" charset="0"/>
                                </a:rPr>
                                <m:t>2</m:t>
                              </m:r>
                            </m:sup>
                          </m:sSubSup>
                        </m:oMath>
                      </a14:m>
                      <a:r>
                        <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rPr>
                        <a:t> = 0</a:t>
                      </a:r>
                      <a:r>
                        <a:rPr lang="en-GB" sz="2000" dirty="0">
                          <a:latin typeface="Arial" panose="020B0604020202020204" pitchFamily="34" charset="0"/>
                          <a:cs typeface="Arial" panose="020B0604020202020204" pitchFamily="34" charset="0"/>
                        </a:rPr>
                        <a:t>, AS = 0%</a:t>
                      </a:r>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mc:Choice>
              <mc:Fallback xmlns="">
                <p:sp>
                  <p:nvSpPr>
                    <p:cNvPr id="137" name="TextBox 136">
                      <a:extLst>
                        <a:ext uri="{FF2B5EF4-FFF2-40B4-BE49-F238E27FC236}">
                          <a16:creationId xmlns:a16="http://schemas.microsoft.com/office/drawing/2014/main" id="{9BBF5E81-A470-355F-22BD-C5CCD159F871}"/>
                        </a:ext>
                      </a:extLst>
                    </p:cNvPr>
                    <p:cNvSpPr txBox="1">
                      <a:spLocks noRot="1" noChangeAspect="1" noMove="1" noResize="1" noEditPoints="1" noAdjustHandles="1" noChangeArrowheads="1" noChangeShapeType="1" noTextEdit="1"/>
                    </p:cNvSpPr>
                    <p:nvPr/>
                  </p:nvSpPr>
                  <p:spPr>
                    <a:xfrm>
                      <a:off x="17144389" y="20130267"/>
                      <a:ext cx="2857500" cy="433452"/>
                    </a:xfrm>
                    <a:prstGeom prst="rect">
                      <a:avLst/>
                    </a:prstGeom>
                    <a:blipFill>
                      <a:blip r:embed="rId51"/>
                      <a:stretch>
                        <a:fillRect t="-5634" b="-1971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9" name="TextBox 138">
                      <a:extLst>
                        <a:ext uri="{FF2B5EF4-FFF2-40B4-BE49-F238E27FC236}">
                          <a16:creationId xmlns:a16="http://schemas.microsoft.com/office/drawing/2014/main" id="{0EE24C4D-FE57-522D-89BA-CF4A35839503}"/>
                        </a:ext>
                      </a:extLst>
                    </p:cNvPr>
                    <p:cNvSpPr txBox="1"/>
                    <p:nvPr/>
                  </p:nvSpPr>
                  <p:spPr>
                    <a:xfrm>
                      <a:off x="19905285" y="20126783"/>
                      <a:ext cx="3335103" cy="433452"/>
                    </a:xfrm>
                    <a:prstGeom prst="rect">
                      <a:avLst/>
                    </a:prstGeom>
                    <a:noFill/>
                  </p:spPr>
                  <p:txBody>
                    <a:bodyPr wrap="square" rtlCol="0" anchor="ctr">
                      <a:spAutoFit/>
                    </a:bodyPr>
                    <a:lstStyle/>
                    <a:p>
                      <a:pPr algn="ctr"/>
                      <a:r>
                        <a:rPr lang="en-GB" sz="2000" dirty="0">
                          <a:cs typeface="Arial" panose="020B0604020202020204" pitchFamily="34" charset="0"/>
                        </a:rPr>
                        <a:t>b) </a:t>
                      </a:r>
                      <a14:m>
                        <m:oMath xmlns:m="http://schemas.openxmlformats.org/officeDocument/2006/math">
                          <m:sSubSup>
                            <m:sSubSupPr>
                              <m:ctrlPr>
                                <a:rPr lang="en-GB" sz="2000" i="1">
                                  <a:latin typeface="Cambria Math" panose="02040503050406030204" pitchFamily="18" charset="0"/>
                                  <a:cs typeface="Arial" panose="020B0604020202020204" pitchFamily="34" charset="0"/>
                                </a:rPr>
                              </m:ctrlPr>
                            </m:sSubSupPr>
                            <m:e>
                              <m:r>
                                <a:rPr lang="en-GB" sz="2000" i="1">
                                  <a:latin typeface="Cambria Math" panose="02040503050406030204" pitchFamily="18" charset="0"/>
                                  <a:cs typeface="Arial" panose="020B0604020202020204" pitchFamily="34" charset="0"/>
                                </a:rPr>
                                <m:t>𝜎</m:t>
                              </m:r>
                            </m:e>
                            <m:sub>
                              <m:r>
                                <a:rPr lang="en-GB" sz="2000" i="1">
                                  <a:latin typeface="Cambria Math" panose="02040503050406030204" pitchFamily="18" charset="0"/>
                                  <a:cs typeface="Arial" panose="020B0604020202020204" pitchFamily="34" charset="0"/>
                                </a:rPr>
                                <m:t>𝜒</m:t>
                              </m:r>
                            </m:sub>
                            <m:sup>
                              <m:r>
                                <a:rPr lang="en-GB" sz="2000" i="1">
                                  <a:latin typeface="Cambria Math" panose="02040503050406030204" pitchFamily="18" charset="0"/>
                                  <a:cs typeface="Arial" panose="020B0604020202020204" pitchFamily="34" charset="0"/>
                                </a:rPr>
                                <m:t>2</m:t>
                              </m:r>
                            </m:sup>
                          </m:sSubSup>
                        </m:oMath>
                      </a14:m>
                      <a:r>
                        <a:rPr lang="en-GB" sz="2000" dirty="0">
                          <a:latin typeface="Arial" panose="020B0604020202020204" pitchFamily="34" charset="0"/>
                          <a:cs typeface="Arial" panose="020B0604020202020204" pitchFamily="34" charset="0"/>
                        </a:rPr>
                        <a:t> = 0.1, AS = 10%</a:t>
                      </a:r>
                    </a:p>
                  </p:txBody>
                </p:sp>
              </mc:Choice>
              <mc:Fallback xmlns="">
                <p:sp>
                  <p:nvSpPr>
                    <p:cNvPr id="139" name="TextBox 138">
                      <a:extLst>
                        <a:ext uri="{FF2B5EF4-FFF2-40B4-BE49-F238E27FC236}">
                          <a16:creationId xmlns:a16="http://schemas.microsoft.com/office/drawing/2014/main" id="{0EE24C4D-FE57-522D-89BA-CF4A35839503}"/>
                        </a:ext>
                      </a:extLst>
                    </p:cNvPr>
                    <p:cNvSpPr txBox="1">
                      <a:spLocks noRot="1" noChangeAspect="1" noMove="1" noResize="1" noEditPoints="1" noAdjustHandles="1" noChangeArrowheads="1" noChangeShapeType="1" noTextEdit="1"/>
                    </p:cNvSpPr>
                    <p:nvPr/>
                  </p:nvSpPr>
                  <p:spPr>
                    <a:xfrm>
                      <a:off x="19905285" y="20126783"/>
                      <a:ext cx="3335103" cy="433452"/>
                    </a:xfrm>
                    <a:prstGeom prst="rect">
                      <a:avLst/>
                    </a:prstGeom>
                    <a:blipFill>
                      <a:blip r:embed="rId52"/>
                      <a:stretch>
                        <a:fillRect t="-7042" b="-1971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0" name="TextBox 139">
                      <a:extLst>
                        <a:ext uri="{FF2B5EF4-FFF2-40B4-BE49-F238E27FC236}">
                          <a16:creationId xmlns:a16="http://schemas.microsoft.com/office/drawing/2014/main" id="{B156165D-824D-B2FD-2EBF-833F4911223B}"/>
                        </a:ext>
                      </a:extLst>
                    </p:cNvPr>
                    <p:cNvSpPr txBox="1"/>
                    <p:nvPr/>
                  </p:nvSpPr>
                  <p:spPr>
                    <a:xfrm>
                      <a:off x="22898389" y="20101383"/>
                      <a:ext cx="3428100" cy="433452"/>
                    </a:xfrm>
                    <a:prstGeom prst="rect">
                      <a:avLst/>
                    </a:prstGeom>
                    <a:noFill/>
                  </p:spPr>
                  <p:txBody>
                    <a:bodyPr wrap="square" rtlCol="0" anchor="ctr">
                      <a:spAutoFit/>
                    </a:bodyPr>
                    <a:lstStyle/>
                    <a:p>
                      <a:pPr algn="ctr"/>
                      <a:r>
                        <a:rPr lang="en-GB" sz="2000" b="0" dirty="0">
                          <a:cs typeface="Arial" panose="020B0604020202020204" pitchFamily="34" charset="0"/>
                        </a:rPr>
                        <a:t>c) </a:t>
                      </a:r>
                      <a14:m>
                        <m:oMath xmlns:m="http://schemas.openxmlformats.org/officeDocument/2006/math">
                          <m:sSubSup>
                            <m:sSubSupPr>
                              <m:ctrlPr>
                                <a:rPr lang="en-GB" sz="2000" b="0" i="1" smtClean="0">
                                  <a:latin typeface="Cambria Math" panose="02040503050406030204" pitchFamily="18" charset="0"/>
                                  <a:cs typeface="Arial" panose="020B0604020202020204" pitchFamily="34" charset="0"/>
                                </a:rPr>
                              </m:ctrlPr>
                            </m:sSubSupPr>
                            <m:e>
                              <m:r>
                                <a:rPr lang="en-GB" sz="2000" b="0" i="1" smtClean="0">
                                  <a:latin typeface="Cambria Math" panose="02040503050406030204" pitchFamily="18" charset="0"/>
                                  <a:cs typeface="Arial" panose="020B0604020202020204" pitchFamily="34" charset="0"/>
                                </a:rPr>
                                <m:t>𝜎</m:t>
                              </m:r>
                            </m:e>
                            <m:sub>
                              <m:r>
                                <a:rPr lang="en-GB" sz="2000" b="0" i="1" smtClean="0">
                                  <a:latin typeface="Cambria Math" panose="02040503050406030204" pitchFamily="18" charset="0"/>
                                  <a:cs typeface="Arial" panose="020B0604020202020204" pitchFamily="34" charset="0"/>
                                </a:rPr>
                                <m:t>𝜒</m:t>
                              </m:r>
                            </m:sub>
                            <m:sup>
                              <m:r>
                                <a:rPr lang="en-GB" sz="2000" b="0" i="1" smtClean="0">
                                  <a:latin typeface="Cambria Math" panose="02040503050406030204" pitchFamily="18" charset="0"/>
                                  <a:cs typeface="Arial" panose="020B0604020202020204" pitchFamily="34" charset="0"/>
                                </a:rPr>
                                <m:t>2</m:t>
                              </m:r>
                            </m:sup>
                          </m:sSubSup>
                        </m:oMath>
                      </a14:m>
                      <a:r>
                        <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rPr>
                        <a:t> = 0.1,</a:t>
                      </a:r>
                      <a:r>
                        <a:rPr lang="en-GB" sz="2000" noProof="0" dirty="0">
                          <a:latin typeface="Arial" panose="020B0604020202020204" pitchFamily="34" charset="0"/>
                          <a:cs typeface="Arial" panose="020B0604020202020204" pitchFamily="34" charset="0"/>
                        </a:rPr>
                        <a:t> </a:t>
                      </a:r>
                      <a:r>
                        <a:rPr lang="en-GB" sz="2000" dirty="0">
                          <a:latin typeface="Arial" panose="020B0604020202020204" pitchFamily="34" charset="0"/>
                          <a:cs typeface="Arial" panose="020B0604020202020204" pitchFamily="34" charset="0"/>
                        </a:rPr>
                        <a:t>AS = 50%</a:t>
                      </a:r>
                      <a:endPar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mc:Choice>
              <mc:Fallback xmlns="">
                <p:sp>
                  <p:nvSpPr>
                    <p:cNvPr id="140" name="TextBox 139">
                      <a:extLst>
                        <a:ext uri="{FF2B5EF4-FFF2-40B4-BE49-F238E27FC236}">
                          <a16:creationId xmlns:a16="http://schemas.microsoft.com/office/drawing/2014/main" id="{B156165D-824D-B2FD-2EBF-833F4911223B}"/>
                        </a:ext>
                      </a:extLst>
                    </p:cNvPr>
                    <p:cNvSpPr txBox="1">
                      <a:spLocks noRot="1" noChangeAspect="1" noMove="1" noResize="1" noEditPoints="1" noAdjustHandles="1" noChangeArrowheads="1" noChangeShapeType="1" noTextEdit="1"/>
                    </p:cNvSpPr>
                    <p:nvPr/>
                  </p:nvSpPr>
                  <p:spPr>
                    <a:xfrm>
                      <a:off x="22898389" y="20101383"/>
                      <a:ext cx="3428100" cy="433452"/>
                    </a:xfrm>
                    <a:prstGeom prst="rect">
                      <a:avLst/>
                    </a:prstGeom>
                    <a:blipFill>
                      <a:blip r:embed="rId53"/>
                      <a:stretch>
                        <a:fillRect t="-5634" b="-2112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A552F3D8-53CC-20FC-C8E7-78A4C2516914}"/>
                        </a:ext>
                      </a:extLst>
                    </p:cNvPr>
                    <p:cNvSpPr txBox="1"/>
                    <p:nvPr/>
                  </p:nvSpPr>
                  <p:spPr>
                    <a:xfrm>
                      <a:off x="26061097" y="20088683"/>
                      <a:ext cx="3180041" cy="433452"/>
                    </a:xfrm>
                    <a:prstGeom prst="rect">
                      <a:avLst/>
                    </a:prstGeom>
                    <a:noFill/>
                  </p:spPr>
                  <p:txBody>
                    <a:bodyPr wrap="square" rtlCol="0" anchor="ctr">
                      <a:spAutoFit/>
                    </a:bodyPr>
                    <a:lstStyle/>
                    <a:p>
                      <a:pPr algn="ctr"/>
                      <a:r>
                        <a:rPr lang="en-GB" sz="2000" dirty="0">
                          <a:cs typeface="Arial" panose="020B0604020202020204" pitchFamily="34" charset="0"/>
                        </a:rPr>
                        <a:t>d) </a:t>
                      </a:r>
                      <a14:m>
                        <m:oMath xmlns:m="http://schemas.openxmlformats.org/officeDocument/2006/math">
                          <m:sSubSup>
                            <m:sSubSupPr>
                              <m:ctrlPr>
                                <a:rPr lang="en-GB" sz="2000" i="1">
                                  <a:latin typeface="Cambria Math" panose="02040503050406030204" pitchFamily="18" charset="0"/>
                                  <a:cs typeface="Arial" panose="020B0604020202020204" pitchFamily="34" charset="0"/>
                                </a:rPr>
                              </m:ctrlPr>
                            </m:sSubSupPr>
                            <m:e>
                              <m:r>
                                <a:rPr lang="en-GB" sz="2000" i="1">
                                  <a:latin typeface="Cambria Math" panose="02040503050406030204" pitchFamily="18" charset="0"/>
                                  <a:cs typeface="Arial" panose="020B0604020202020204" pitchFamily="34" charset="0"/>
                                </a:rPr>
                                <m:t>𝜎</m:t>
                              </m:r>
                            </m:e>
                            <m:sub>
                              <m:r>
                                <a:rPr lang="en-GB" sz="2000" i="1">
                                  <a:latin typeface="Cambria Math" panose="02040503050406030204" pitchFamily="18" charset="0"/>
                                  <a:cs typeface="Arial" panose="020B0604020202020204" pitchFamily="34" charset="0"/>
                                </a:rPr>
                                <m:t>𝜒</m:t>
                              </m:r>
                            </m:sub>
                            <m:sup>
                              <m:r>
                                <a:rPr lang="en-GB" sz="2000" i="1">
                                  <a:latin typeface="Cambria Math" panose="02040503050406030204" pitchFamily="18" charset="0"/>
                                  <a:cs typeface="Arial" panose="020B0604020202020204" pitchFamily="34" charset="0"/>
                                </a:rPr>
                                <m:t>2</m:t>
                              </m:r>
                            </m:sup>
                          </m:sSubSup>
                        </m:oMath>
                      </a14:m>
                      <a:r>
                        <a:rPr lang="en-GB" sz="2000" dirty="0">
                          <a:latin typeface="Arial" panose="020B0604020202020204" pitchFamily="34" charset="0"/>
                          <a:cs typeface="Arial" panose="020B0604020202020204" pitchFamily="34" charset="0"/>
                        </a:rPr>
                        <a:t> = 0.3, AS = 50%</a:t>
                      </a:r>
                    </a:p>
                  </p:txBody>
                </p:sp>
              </mc:Choice>
              <mc:Fallback xmlns="">
                <p:sp>
                  <p:nvSpPr>
                    <p:cNvPr id="141" name="TextBox 140">
                      <a:extLst>
                        <a:ext uri="{FF2B5EF4-FFF2-40B4-BE49-F238E27FC236}">
                          <a16:creationId xmlns:a16="http://schemas.microsoft.com/office/drawing/2014/main" id="{A552F3D8-53CC-20FC-C8E7-78A4C2516914}"/>
                        </a:ext>
                      </a:extLst>
                    </p:cNvPr>
                    <p:cNvSpPr txBox="1">
                      <a:spLocks noRot="1" noChangeAspect="1" noMove="1" noResize="1" noEditPoints="1" noAdjustHandles="1" noChangeArrowheads="1" noChangeShapeType="1" noTextEdit="1"/>
                    </p:cNvSpPr>
                    <p:nvPr/>
                  </p:nvSpPr>
                  <p:spPr>
                    <a:xfrm>
                      <a:off x="26061097" y="20088683"/>
                      <a:ext cx="3180041" cy="433452"/>
                    </a:xfrm>
                    <a:prstGeom prst="rect">
                      <a:avLst/>
                    </a:prstGeom>
                    <a:blipFill>
                      <a:blip r:embed="rId54"/>
                      <a:stretch>
                        <a:fillRect t="-5634" b="-21127"/>
                      </a:stretch>
                    </a:blipFill>
                  </p:spPr>
                  <p:txBody>
                    <a:bodyPr/>
                    <a:lstStyle/>
                    <a:p>
                      <a:r>
                        <a:rPr lang="en-GB">
                          <a:noFill/>
                        </a:rPr>
                        <a:t> </a:t>
                      </a:r>
                    </a:p>
                  </p:txBody>
                </p:sp>
              </mc:Fallback>
            </mc:AlternateContent>
            <p:pic>
              <p:nvPicPr>
                <p:cNvPr id="49" name="Picture 48" descr="A screenshot of a computer screen&#10;&#10;Description automatically generated">
                  <a:extLst>
                    <a:ext uri="{FF2B5EF4-FFF2-40B4-BE49-F238E27FC236}">
                      <a16:creationId xmlns:a16="http://schemas.microsoft.com/office/drawing/2014/main" id="{89FFC212-ED4B-7DF8-70C7-1BC7A573D6B8}"/>
                    </a:ext>
                  </a:extLst>
                </p:cNvPr>
                <p:cNvPicPr>
                  <a:picLocks noChangeAspect="1"/>
                </p:cNvPicPr>
                <p:nvPr/>
              </p:nvPicPr>
              <p:blipFill rotWithShape="1">
                <a:blip r:embed="rId55">
                  <a:extLst>
                    <a:ext uri="{28A0092B-C50C-407E-A947-70E740481C1C}">
                      <a14:useLocalDpi xmlns:a14="http://schemas.microsoft.com/office/drawing/2010/main" val="0"/>
                    </a:ext>
                  </a:extLst>
                </a:blip>
                <a:srcRect r="-1098"/>
                <a:stretch/>
              </p:blipFill>
              <p:spPr>
                <a:xfrm>
                  <a:off x="16944365" y="20560192"/>
                  <a:ext cx="4043292" cy="3017610"/>
                </a:xfrm>
                <a:prstGeom prst="rect">
                  <a:avLst/>
                </a:prstGeom>
              </p:spPr>
            </p:pic>
            <p:pic>
              <p:nvPicPr>
                <p:cNvPr id="473" name="Picture 472" descr="A blue and yellow background&#10;&#10;Description automatically generated with medium confidence">
                  <a:extLst>
                    <a:ext uri="{FF2B5EF4-FFF2-40B4-BE49-F238E27FC236}">
                      <a16:creationId xmlns:a16="http://schemas.microsoft.com/office/drawing/2014/main" id="{DE949A5F-0C8E-2482-2B1E-8A50886CCBF2}"/>
                    </a:ext>
                  </a:extLst>
                </p:cNvPr>
                <p:cNvPicPr>
                  <a:picLocks noChangeAspect="1"/>
                </p:cNvPicPr>
                <p:nvPr/>
              </p:nvPicPr>
              <p:blipFill>
                <a:blip r:embed="rId56">
                  <a:extLst>
                    <a:ext uri="{28A0092B-C50C-407E-A947-70E740481C1C}">
                      <a14:useLocalDpi xmlns:a14="http://schemas.microsoft.com/office/drawing/2010/main" val="0"/>
                    </a:ext>
                  </a:extLst>
                </a:blip>
                <a:stretch>
                  <a:fillRect/>
                </a:stretch>
              </p:blipFill>
              <p:spPr>
                <a:xfrm>
                  <a:off x="26053696" y="23433336"/>
                  <a:ext cx="3158143" cy="2984500"/>
                </a:xfrm>
                <a:prstGeom prst="rect">
                  <a:avLst/>
                </a:prstGeom>
              </p:spPr>
            </p:pic>
            <p:pic>
              <p:nvPicPr>
                <p:cNvPr id="480" name="Picture 479" descr="A blue and green background&#10;&#10;Description automatically generated">
                  <a:extLst>
                    <a:ext uri="{FF2B5EF4-FFF2-40B4-BE49-F238E27FC236}">
                      <a16:creationId xmlns:a16="http://schemas.microsoft.com/office/drawing/2014/main" id="{74091AFA-F372-5707-ED2C-BA83D12BA334}"/>
                    </a:ext>
                  </a:extLst>
                </p:cNvPr>
                <p:cNvPicPr>
                  <a:picLocks noChangeAspect="1"/>
                </p:cNvPicPr>
                <p:nvPr/>
              </p:nvPicPr>
              <p:blipFill>
                <a:blip r:embed="rId57">
                  <a:extLst>
                    <a:ext uri="{28A0092B-C50C-407E-A947-70E740481C1C}">
                      <a14:useLocalDpi xmlns:a14="http://schemas.microsoft.com/office/drawing/2010/main" val="0"/>
                    </a:ext>
                  </a:extLst>
                </a:blip>
                <a:stretch>
                  <a:fillRect/>
                </a:stretch>
              </p:blipFill>
              <p:spPr>
                <a:xfrm>
                  <a:off x="23023163" y="23434925"/>
                  <a:ext cx="3158143" cy="2984500"/>
                </a:xfrm>
                <a:prstGeom prst="rect">
                  <a:avLst/>
                </a:prstGeom>
              </p:spPr>
            </p:pic>
            <p:pic>
              <p:nvPicPr>
                <p:cNvPr id="483" name="Picture 482" descr="A blue rectangular object with black border&#10;&#10;Description automatically generated">
                  <a:extLst>
                    <a:ext uri="{FF2B5EF4-FFF2-40B4-BE49-F238E27FC236}">
                      <a16:creationId xmlns:a16="http://schemas.microsoft.com/office/drawing/2014/main" id="{0E0017AA-FA6E-7268-A601-61BCE539B476}"/>
                    </a:ext>
                  </a:extLst>
                </p:cNvPr>
                <p:cNvPicPr>
                  <a:picLocks noChangeAspect="1"/>
                </p:cNvPicPr>
                <p:nvPr/>
              </p:nvPicPr>
              <p:blipFill>
                <a:blip r:embed="rId58">
                  <a:extLst>
                    <a:ext uri="{28A0092B-C50C-407E-A947-70E740481C1C}">
                      <a14:useLocalDpi xmlns:a14="http://schemas.microsoft.com/office/drawing/2010/main" val="0"/>
                    </a:ext>
                  </a:extLst>
                </a:blip>
                <a:stretch>
                  <a:fillRect/>
                </a:stretch>
              </p:blipFill>
              <p:spPr>
                <a:xfrm>
                  <a:off x="19989444" y="23431751"/>
                  <a:ext cx="3158143" cy="2984500"/>
                </a:xfrm>
                <a:prstGeom prst="rect">
                  <a:avLst/>
                </a:prstGeom>
              </p:spPr>
            </p:pic>
            <p:pic>
              <p:nvPicPr>
                <p:cNvPr id="485" name="Picture 484" descr="A blue and yellow background&#10;&#10;Description automatically generated with medium confidence">
                  <a:extLst>
                    <a:ext uri="{FF2B5EF4-FFF2-40B4-BE49-F238E27FC236}">
                      <a16:creationId xmlns:a16="http://schemas.microsoft.com/office/drawing/2014/main" id="{3215BFCC-CF1C-00B6-7DC7-9EED354F60DC}"/>
                    </a:ext>
                  </a:extLst>
                </p:cNvPr>
                <p:cNvPicPr>
                  <a:picLocks noChangeAspect="1"/>
                </p:cNvPicPr>
                <p:nvPr/>
              </p:nvPicPr>
              <p:blipFill>
                <a:blip r:embed="rId59">
                  <a:extLst>
                    <a:ext uri="{28A0092B-C50C-407E-A947-70E740481C1C}">
                      <a14:useLocalDpi xmlns:a14="http://schemas.microsoft.com/office/drawing/2010/main" val="0"/>
                    </a:ext>
                  </a:extLst>
                </a:blip>
                <a:stretch>
                  <a:fillRect/>
                </a:stretch>
              </p:blipFill>
              <p:spPr>
                <a:xfrm>
                  <a:off x="26052110" y="20575840"/>
                  <a:ext cx="3158143" cy="2984500"/>
                </a:xfrm>
                <a:prstGeom prst="rect">
                  <a:avLst/>
                </a:prstGeom>
              </p:spPr>
            </p:pic>
            <p:pic>
              <p:nvPicPr>
                <p:cNvPr id="67" name="Picture 66" descr="A blue and yellow pixelated background&#10;&#10;Description automatically generated">
                  <a:extLst>
                    <a:ext uri="{FF2B5EF4-FFF2-40B4-BE49-F238E27FC236}">
                      <a16:creationId xmlns:a16="http://schemas.microsoft.com/office/drawing/2014/main" id="{16CBF2A7-1DA9-F99B-0C9A-D1799ED58ECF}"/>
                    </a:ext>
                  </a:extLst>
                </p:cNvPr>
                <p:cNvPicPr>
                  <a:picLocks noChangeAspect="1"/>
                </p:cNvPicPr>
                <p:nvPr/>
              </p:nvPicPr>
              <p:blipFill>
                <a:blip r:embed="rId60">
                  <a:extLst>
                    <a:ext uri="{28A0092B-C50C-407E-A947-70E740481C1C}">
                      <a14:useLocalDpi xmlns:a14="http://schemas.microsoft.com/office/drawing/2010/main" val="0"/>
                    </a:ext>
                  </a:extLst>
                </a:blip>
                <a:stretch>
                  <a:fillRect/>
                </a:stretch>
              </p:blipFill>
              <p:spPr>
                <a:xfrm>
                  <a:off x="23023167" y="20575844"/>
                  <a:ext cx="3158143" cy="2984500"/>
                </a:xfrm>
                <a:prstGeom prst="rect">
                  <a:avLst/>
                </a:prstGeom>
              </p:spPr>
            </p:pic>
            <p:pic>
              <p:nvPicPr>
                <p:cNvPr id="70" name="Picture 69" descr="A screenshot of a computer screen&#10;&#10;Description automatically generated">
                  <a:extLst>
                    <a:ext uri="{FF2B5EF4-FFF2-40B4-BE49-F238E27FC236}">
                      <a16:creationId xmlns:a16="http://schemas.microsoft.com/office/drawing/2014/main" id="{458653D9-2A8D-8863-543E-3742F7609EEE}"/>
                    </a:ext>
                  </a:extLst>
                </p:cNvPr>
                <p:cNvPicPr>
                  <a:picLocks noChangeAspect="1"/>
                </p:cNvPicPr>
                <p:nvPr/>
              </p:nvPicPr>
              <p:blipFill>
                <a:blip r:embed="rId61">
                  <a:extLst>
                    <a:ext uri="{28A0092B-C50C-407E-A947-70E740481C1C}">
                      <a14:useLocalDpi xmlns:a14="http://schemas.microsoft.com/office/drawing/2010/main" val="0"/>
                    </a:ext>
                  </a:extLst>
                </a:blip>
                <a:stretch>
                  <a:fillRect/>
                </a:stretch>
              </p:blipFill>
              <p:spPr>
                <a:xfrm>
                  <a:off x="19990817" y="20577205"/>
                  <a:ext cx="3158143" cy="2984500"/>
                </a:xfrm>
                <a:prstGeom prst="rect">
                  <a:avLst/>
                </a:prstGeom>
              </p:spPr>
            </p:pic>
          </p:grpSp>
          <p:pic>
            <p:nvPicPr>
              <p:cNvPr id="106" name="Picture 105" descr="A screenshot of a computer screen&#10;&#10;Description automatically generated">
                <a:extLst>
                  <a:ext uri="{FF2B5EF4-FFF2-40B4-BE49-F238E27FC236}">
                    <a16:creationId xmlns:a16="http://schemas.microsoft.com/office/drawing/2014/main" id="{3E1F4BAC-7A03-143E-9531-DEDE696C5658}"/>
                  </a:ext>
                </a:extLst>
              </p:cNvPr>
              <p:cNvPicPr>
                <a:picLocks noChangeAspect="1"/>
              </p:cNvPicPr>
              <p:nvPr/>
            </p:nvPicPr>
            <p:blipFill rotWithShape="1">
              <a:blip r:embed="rId55">
                <a:extLst>
                  <a:ext uri="{28A0092B-C50C-407E-A947-70E740481C1C}">
                    <a14:useLocalDpi xmlns:a14="http://schemas.microsoft.com/office/drawing/2010/main" val="0"/>
                  </a:ext>
                </a:extLst>
              </a:blip>
              <a:srcRect l="80593" r="12025"/>
              <a:stretch/>
            </p:blipFill>
            <p:spPr>
              <a:xfrm>
                <a:off x="28360913" y="20885749"/>
                <a:ext cx="522516" cy="5340909"/>
              </a:xfrm>
              <a:prstGeom prst="rect">
                <a:avLst/>
              </a:prstGeom>
            </p:spPr>
          </p:pic>
          <p:sp>
            <p:nvSpPr>
              <p:cNvPr id="108" name="TextBox 107">
                <a:extLst>
                  <a:ext uri="{FF2B5EF4-FFF2-40B4-BE49-F238E27FC236}">
                    <a16:creationId xmlns:a16="http://schemas.microsoft.com/office/drawing/2014/main" id="{C714C86C-D81F-E603-E5E1-453FDD4850B1}"/>
                  </a:ext>
                </a:extLst>
              </p:cNvPr>
              <p:cNvSpPr txBox="1"/>
              <p:nvPr/>
            </p:nvSpPr>
            <p:spPr>
              <a:xfrm>
                <a:off x="28870998" y="21252649"/>
                <a:ext cx="327334" cy="400110"/>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lang="en-GB" sz="2000" dirty="0">
                    <a:latin typeface="Arial" panose="020B0604020202020204" pitchFamily="34" charset="0"/>
                    <a:cs typeface="Arial" panose="020B0604020202020204" pitchFamily="34" charset="0"/>
                  </a:rPr>
                  <a:t>1</a:t>
                </a:r>
                <a:endParaRPr kumimoji="0" lang="en-GB" sz="200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endParaRPr>
              </a:p>
            </p:txBody>
          </p:sp>
          <p:sp>
            <p:nvSpPr>
              <p:cNvPr id="109" name="TextBox 108">
                <a:extLst>
                  <a:ext uri="{FF2B5EF4-FFF2-40B4-BE49-F238E27FC236}">
                    <a16:creationId xmlns:a16="http://schemas.microsoft.com/office/drawing/2014/main" id="{D4D75628-7B62-8771-5744-72F497A30FB1}"/>
                  </a:ext>
                </a:extLst>
              </p:cNvPr>
              <p:cNvSpPr txBox="1"/>
              <p:nvPr/>
            </p:nvSpPr>
            <p:spPr>
              <a:xfrm>
                <a:off x="28878936" y="23360168"/>
                <a:ext cx="327334" cy="400110"/>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kumimoji="0" lang="en-GB" sz="200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0</a:t>
                </a:r>
              </a:p>
            </p:txBody>
          </p:sp>
          <p:sp>
            <p:nvSpPr>
              <p:cNvPr id="110" name="TextBox 109">
                <a:extLst>
                  <a:ext uri="{FF2B5EF4-FFF2-40B4-BE49-F238E27FC236}">
                    <a16:creationId xmlns:a16="http://schemas.microsoft.com/office/drawing/2014/main" id="{991C74DF-007C-CF04-4386-7FBB0AB1EC20}"/>
                  </a:ext>
                </a:extLst>
              </p:cNvPr>
              <p:cNvSpPr txBox="1"/>
              <p:nvPr/>
            </p:nvSpPr>
            <p:spPr>
              <a:xfrm>
                <a:off x="28794794" y="25406679"/>
                <a:ext cx="412292" cy="400110"/>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lang="en-GB" sz="2000" dirty="0">
                    <a:latin typeface="Arial" panose="020B0604020202020204" pitchFamily="34" charset="0"/>
                    <a:cs typeface="Arial" panose="020B0604020202020204" pitchFamily="34" charset="0"/>
                  </a:rPr>
                  <a:t>-1</a:t>
                </a:r>
                <a:endParaRPr kumimoji="0" lang="en-GB" sz="200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endParaRPr>
              </a:p>
            </p:txBody>
          </p:sp>
        </p:grpSp>
      </p:grpSp>
      <p:grpSp>
        <p:nvGrpSpPr>
          <p:cNvPr id="518" name="Group 517">
            <a:extLst>
              <a:ext uri="{FF2B5EF4-FFF2-40B4-BE49-F238E27FC236}">
                <a16:creationId xmlns:a16="http://schemas.microsoft.com/office/drawing/2014/main" id="{E0F0C241-73DA-0145-385E-29C2555E46FF}"/>
              </a:ext>
            </a:extLst>
          </p:cNvPr>
          <p:cNvGrpSpPr/>
          <p:nvPr/>
        </p:nvGrpSpPr>
        <p:grpSpPr>
          <a:xfrm>
            <a:off x="648929" y="34041232"/>
            <a:ext cx="14432432" cy="4668051"/>
            <a:chOff x="638683" y="30650649"/>
            <a:chExt cx="14432432" cy="4668051"/>
          </a:xfrm>
        </p:grpSpPr>
        <p:sp>
          <p:nvSpPr>
            <p:cNvPr id="543" name="TextBox 542">
              <a:extLst>
                <a:ext uri="{FF2B5EF4-FFF2-40B4-BE49-F238E27FC236}">
                  <a16:creationId xmlns:a16="http://schemas.microsoft.com/office/drawing/2014/main" id="{7F0C5FFB-CA44-731E-612C-BD466439A198}"/>
                </a:ext>
              </a:extLst>
            </p:cNvPr>
            <p:cNvSpPr txBox="1"/>
            <p:nvPr/>
          </p:nvSpPr>
          <p:spPr>
            <a:xfrm>
              <a:off x="638683" y="34601257"/>
              <a:ext cx="14432432" cy="717443"/>
            </a:xfrm>
            <a:prstGeom prst="rect">
              <a:avLst/>
            </a:prstGeom>
            <a:noFill/>
          </p:spPr>
          <p:txBody>
            <a:bodyPr wrap="square" rtlCol="0">
              <a:noAutofit/>
            </a:bodyPr>
            <a:lstStyle/>
            <a:p>
              <a:pPr marL="0" marR="0" indent="0" algn="l" defTabSz="457200" rtl="0" eaLnBrk="1" fontAlgn="auto" latinLnBrk="0" hangingPunct="1">
                <a:spcBef>
                  <a:spcPts val="0"/>
                </a:spcBef>
                <a:spcAft>
                  <a:spcPts val="0"/>
                </a:spcAft>
                <a:buClrTx/>
                <a:buSzTx/>
                <a:buFontTx/>
                <a:buNone/>
                <a:tabLst/>
              </a:pPr>
              <a:r>
                <a:rPr lang="en-GB" sz="2000" b="1" dirty="0">
                  <a:latin typeface="Arial" panose="020B0604020202020204" pitchFamily="34" charset="0"/>
                  <a:cs typeface="Arial" panose="020B0604020202020204" pitchFamily="34" charset="0"/>
                </a:rPr>
                <a:t>Figure 2: </a:t>
              </a:r>
              <a:r>
                <a:rPr lang="en-GB" sz="2000" dirty="0">
                  <a:latin typeface="Arial" panose="020B0604020202020204" pitchFamily="34" charset="0"/>
                  <a:cs typeface="Arial" panose="020B0604020202020204" pitchFamily="34" charset="0"/>
                </a:rPr>
                <a:t>Phase of DM1 actuator pokes at 500nm at the WFS with 5 cm subapertures through active DM2 which is correcting 5cm-r0 turbulence for increasing relative actuator shift (AS) to SHWFS subaperture size. Phase are normalized to poke values.</a:t>
              </a:r>
              <a:endParaRPr kumimoji="0" lang="en-GB" sz="200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endParaRPr>
            </a:p>
          </p:txBody>
        </p:sp>
        <p:grpSp>
          <p:nvGrpSpPr>
            <p:cNvPr id="512" name="Group 511">
              <a:extLst>
                <a:ext uri="{FF2B5EF4-FFF2-40B4-BE49-F238E27FC236}">
                  <a16:creationId xmlns:a16="http://schemas.microsoft.com/office/drawing/2014/main" id="{5CFED47B-DC63-656D-77DD-01A9A813ACC3}"/>
                </a:ext>
              </a:extLst>
            </p:cNvPr>
            <p:cNvGrpSpPr/>
            <p:nvPr/>
          </p:nvGrpSpPr>
          <p:grpSpPr>
            <a:xfrm>
              <a:off x="749299" y="30650649"/>
              <a:ext cx="14074446" cy="4075172"/>
              <a:chOff x="749299" y="30650649"/>
              <a:chExt cx="14074446" cy="4075172"/>
            </a:xfrm>
          </p:grpSpPr>
          <p:grpSp>
            <p:nvGrpSpPr>
              <p:cNvPr id="59" name="Group 58">
                <a:extLst>
                  <a:ext uri="{FF2B5EF4-FFF2-40B4-BE49-F238E27FC236}">
                    <a16:creationId xmlns:a16="http://schemas.microsoft.com/office/drawing/2014/main" id="{A85C665E-8A3A-BB4B-81AE-0CDE4037E4E6}"/>
                  </a:ext>
                </a:extLst>
              </p:cNvPr>
              <p:cNvGrpSpPr/>
              <p:nvPr/>
            </p:nvGrpSpPr>
            <p:grpSpPr>
              <a:xfrm>
                <a:off x="749299" y="30685521"/>
                <a:ext cx="13319127" cy="3845779"/>
                <a:chOff x="749299" y="30685521"/>
                <a:chExt cx="13319127" cy="3845779"/>
              </a:xfrm>
            </p:grpSpPr>
            <mc:AlternateContent xmlns:mc="http://schemas.openxmlformats.org/markup-compatibility/2006" xmlns:a14="http://schemas.microsoft.com/office/drawing/2010/main">
              <mc:Choice Requires="a14">
                <p:sp>
                  <p:nvSpPr>
                    <p:cNvPr id="537" name="TextBox 536">
                      <a:extLst>
                        <a:ext uri="{FF2B5EF4-FFF2-40B4-BE49-F238E27FC236}">
                          <a16:creationId xmlns:a16="http://schemas.microsoft.com/office/drawing/2014/main" id="{7C630E7D-EA5E-C528-1DA5-7B1C7F3A130F}"/>
                        </a:ext>
                      </a:extLst>
                    </p:cNvPr>
                    <p:cNvSpPr txBox="1"/>
                    <p:nvPr/>
                  </p:nvSpPr>
                  <p:spPr>
                    <a:xfrm>
                      <a:off x="1566002" y="30685521"/>
                      <a:ext cx="1962717" cy="433452"/>
                    </a:xfrm>
                    <a:prstGeom prst="rect">
                      <a:avLst/>
                    </a:prstGeom>
                    <a:noFill/>
                  </p:spPr>
                  <p:txBody>
                    <a:bodyPr wrap="none" rtlCol="0" anchor="ctr">
                      <a:spAutoFit/>
                    </a:bodyPr>
                    <a:lstStyle/>
                    <a:p>
                      <a:pPr marL="0" marR="0" indent="0" algn="ctr" defTabSz="457200" rtl="0" eaLnBrk="1" fontAlgn="auto" latinLnBrk="0" hangingPunct="1">
                        <a:spcBef>
                          <a:spcPts val="0"/>
                        </a:spcBef>
                        <a:spcAft>
                          <a:spcPts val="0"/>
                        </a:spcAft>
                        <a:buClrTx/>
                        <a:buSzTx/>
                        <a:buFontTx/>
                        <a:buNone/>
                        <a:tabLst/>
                      </a:pPr>
                      <a14:m>
                        <m:oMath xmlns:m="http://schemas.openxmlformats.org/officeDocument/2006/math">
                          <m:sSubSup>
                            <m:sSubSupPr>
                              <m:ctrlPr>
                                <a:rPr lang="en-GB" sz="2000" b="0" i="1" smtClean="0">
                                  <a:latin typeface="Cambria Math" panose="02040503050406030204" pitchFamily="18" charset="0"/>
                                  <a:cs typeface="Arial" panose="020B0604020202020204" pitchFamily="34" charset="0"/>
                                </a:rPr>
                              </m:ctrlPr>
                            </m:sSubSupPr>
                            <m:e>
                              <m:r>
                                <a:rPr lang="en-GB" sz="2000" b="0" i="1" smtClean="0">
                                  <a:latin typeface="Cambria Math" panose="02040503050406030204" pitchFamily="18" charset="0"/>
                                  <a:cs typeface="Arial" panose="020B0604020202020204" pitchFamily="34" charset="0"/>
                                </a:rPr>
                                <m:t>𝜎</m:t>
                              </m:r>
                            </m:e>
                            <m:sub>
                              <m:r>
                                <a:rPr lang="en-GB" sz="2000" b="0" i="1" smtClean="0">
                                  <a:latin typeface="Cambria Math" panose="02040503050406030204" pitchFamily="18" charset="0"/>
                                  <a:cs typeface="Arial" panose="020B0604020202020204" pitchFamily="34" charset="0"/>
                                </a:rPr>
                                <m:t>𝜒</m:t>
                              </m:r>
                            </m:sub>
                            <m:sup>
                              <m:r>
                                <a:rPr lang="en-GB" sz="2000" b="0" i="1" smtClean="0">
                                  <a:latin typeface="Cambria Math" panose="02040503050406030204" pitchFamily="18" charset="0"/>
                                  <a:cs typeface="Arial" panose="020B0604020202020204" pitchFamily="34" charset="0"/>
                                </a:rPr>
                                <m:t>2</m:t>
                              </m:r>
                            </m:sup>
                          </m:sSubSup>
                        </m:oMath>
                      </a14:m>
                      <a:r>
                        <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rPr>
                        <a:t> = 0</a:t>
                      </a:r>
                      <a:r>
                        <a:rPr lang="en-GB" sz="2000" dirty="0">
                          <a:latin typeface="Arial" panose="020B0604020202020204" pitchFamily="34" charset="0"/>
                          <a:cs typeface="Arial" panose="020B0604020202020204" pitchFamily="34" charset="0"/>
                        </a:rPr>
                        <a:t>, </a:t>
                      </a:r>
                      <a:r>
                        <a:rPr kumimoji="0" lang="en-GB" sz="200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AS= 0%</a:t>
                      </a:r>
                    </a:p>
                  </p:txBody>
                </p:sp>
              </mc:Choice>
              <mc:Fallback xmlns="">
                <p:sp>
                  <p:nvSpPr>
                    <p:cNvPr id="537" name="TextBox 536">
                      <a:extLst>
                        <a:ext uri="{FF2B5EF4-FFF2-40B4-BE49-F238E27FC236}">
                          <a16:creationId xmlns:a16="http://schemas.microsoft.com/office/drawing/2014/main" id="{7C630E7D-EA5E-C528-1DA5-7B1C7F3A130F}"/>
                        </a:ext>
                      </a:extLst>
                    </p:cNvPr>
                    <p:cNvSpPr txBox="1">
                      <a:spLocks noRot="1" noChangeAspect="1" noMove="1" noResize="1" noEditPoints="1" noAdjustHandles="1" noChangeArrowheads="1" noChangeShapeType="1" noTextEdit="1"/>
                    </p:cNvSpPr>
                    <p:nvPr/>
                  </p:nvSpPr>
                  <p:spPr>
                    <a:xfrm>
                      <a:off x="1566002" y="30685521"/>
                      <a:ext cx="1962717" cy="433452"/>
                    </a:xfrm>
                    <a:prstGeom prst="rect">
                      <a:avLst/>
                    </a:prstGeom>
                    <a:blipFill>
                      <a:blip r:embed="rId62"/>
                      <a:stretch>
                        <a:fillRect t="-5634" r="-2484" b="-1831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8" name="TextBox 537">
                      <a:extLst>
                        <a:ext uri="{FF2B5EF4-FFF2-40B4-BE49-F238E27FC236}">
                          <a16:creationId xmlns:a16="http://schemas.microsoft.com/office/drawing/2014/main" id="{916E2FDB-A7BF-35B6-F9E6-26336A27301E}"/>
                        </a:ext>
                      </a:extLst>
                    </p:cNvPr>
                    <p:cNvSpPr txBox="1"/>
                    <p:nvPr/>
                  </p:nvSpPr>
                  <p:spPr>
                    <a:xfrm>
                      <a:off x="4587547" y="30685521"/>
                      <a:ext cx="2531783" cy="433452"/>
                    </a:xfrm>
                    <a:prstGeom prst="rect">
                      <a:avLst/>
                    </a:prstGeom>
                    <a:noFill/>
                  </p:spPr>
                  <p:txBody>
                    <a:bodyPr wrap="none" rtlCol="0" anchor="ctr">
                      <a:spAutoFit/>
                    </a:bodyPr>
                    <a:lstStyle/>
                    <a:p>
                      <a:pPr algn="ctr"/>
                      <a14:m>
                        <m:oMath xmlns:m="http://schemas.openxmlformats.org/officeDocument/2006/math">
                          <m:sSubSup>
                            <m:sSubSupPr>
                              <m:ctrlPr>
                                <a:rPr lang="en-GB" sz="2000" b="0" i="1" smtClean="0">
                                  <a:latin typeface="Cambria Math" panose="02040503050406030204" pitchFamily="18" charset="0"/>
                                  <a:cs typeface="Arial" panose="020B0604020202020204" pitchFamily="34" charset="0"/>
                                </a:rPr>
                              </m:ctrlPr>
                            </m:sSubSupPr>
                            <m:e>
                              <m:r>
                                <a:rPr lang="en-GB" sz="2000" b="0" i="1" smtClean="0">
                                  <a:latin typeface="Cambria Math" panose="02040503050406030204" pitchFamily="18" charset="0"/>
                                  <a:cs typeface="Arial" panose="020B0604020202020204" pitchFamily="34" charset="0"/>
                                </a:rPr>
                                <m:t>𝜎</m:t>
                              </m:r>
                            </m:e>
                            <m:sub>
                              <m:r>
                                <a:rPr lang="en-GB" sz="2000" b="0" i="1" smtClean="0">
                                  <a:latin typeface="Cambria Math" panose="02040503050406030204" pitchFamily="18" charset="0"/>
                                  <a:cs typeface="Arial" panose="020B0604020202020204" pitchFamily="34" charset="0"/>
                                </a:rPr>
                                <m:t>𝜒</m:t>
                              </m:r>
                            </m:sub>
                            <m:sup>
                              <m:r>
                                <a:rPr lang="en-GB" sz="2000" b="0" i="1" smtClean="0">
                                  <a:latin typeface="Cambria Math" panose="02040503050406030204" pitchFamily="18" charset="0"/>
                                  <a:cs typeface="Arial" panose="020B0604020202020204" pitchFamily="34" charset="0"/>
                                </a:rPr>
                                <m:t>2</m:t>
                              </m:r>
                            </m:sup>
                          </m:sSubSup>
                        </m:oMath>
                      </a14:m>
                      <a:r>
                        <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rPr>
                        <a:t> = 0.08</a:t>
                      </a:r>
                      <a:r>
                        <a:rPr lang="en-GB" sz="2000" dirty="0">
                          <a:latin typeface="Arial" panose="020B0604020202020204" pitchFamily="34" charset="0"/>
                          <a:cs typeface="Arial" panose="020B0604020202020204" pitchFamily="34" charset="0"/>
                        </a:rPr>
                        <a:t>, </a:t>
                      </a:r>
                      <a:r>
                        <a:rPr kumimoji="0" lang="en-GB" sz="200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AS = 10%</a:t>
                      </a:r>
                    </a:p>
                  </p:txBody>
                </p:sp>
              </mc:Choice>
              <mc:Fallback xmlns="">
                <p:sp>
                  <p:nvSpPr>
                    <p:cNvPr id="538" name="TextBox 537">
                      <a:extLst>
                        <a:ext uri="{FF2B5EF4-FFF2-40B4-BE49-F238E27FC236}">
                          <a16:creationId xmlns:a16="http://schemas.microsoft.com/office/drawing/2014/main" id="{916E2FDB-A7BF-35B6-F9E6-26336A27301E}"/>
                        </a:ext>
                      </a:extLst>
                    </p:cNvPr>
                    <p:cNvSpPr txBox="1">
                      <a:spLocks noRot="1" noChangeAspect="1" noMove="1" noResize="1" noEditPoints="1" noAdjustHandles="1" noChangeArrowheads="1" noChangeShapeType="1" noTextEdit="1"/>
                    </p:cNvSpPr>
                    <p:nvPr/>
                  </p:nvSpPr>
                  <p:spPr>
                    <a:xfrm>
                      <a:off x="4587547" y="30685521"/>
                      <a:ext cx="2531783" cy="433452"/>
                    </a:xfrm>
                    <a:prstGeom prst="rect">
                      <a:avLst/>
                    </a:prstGeom>
                    <a:blipFill>
                      <a:blip r:embed="rId63"/>
                      <a:stretch>
                        <a:fillRect t="-5634" r="-1923" b="-1831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9" name="TextBox 538">
                      <a:extLst>
                        <a:ext uri="{FF2B5EF4-FFF2-40B4-BE49-F238E27FC236}">
                          <a16:creationId xmlns:a16="http://schemas.microsoft.com/office/drawing/2014/main" id="{79DA2EA1-2C0C-8CB1-6DB7-0C96914D9BAA}"/>
                        </a:ext>
                      </a:extLst>
                    </p:cNvPr>
                    <p:cNvSpPr txBox="1"/>
                    <p:nvPr/>
                  </p:nvSpPr>
                  <p:spPr>
                    <a:xfrm>
                      <a:off x="7907298" y="30685521"/>
                      <a:ext cx="2531783" cy="433452"/>
                    </a:xfrm>
                    <a:prstGeom prst="rect">
                      <a:avLst/>
                    </a:prstGeom>
                    <a:noFill/>
                  </p:spPr>
                  <p:txBody>
                    <a:bodyPr wrap="none" rtlCol="0" anchor="ctr">
                      <a:spAutoFit/>
                    </a:bodyPr>
                    <a:lstStyle/>
                    <a:p>
                      <a:pPr algn="ctr"/>
                      <a14:m>
                        <m:oMath xmlns:m="http://schemas.openxmlformats.org/officeDocument/2006/math">
                          <m:sSubSup>
                            <m:sSubSupPr>
                              <m:ctrlPr>
                                <a:rPr lang="en-GB" sz="2000" b="0" i="1" smtClean="0">
                                  <a:latin typeface="Cambria Math" panose="02040503050406030204" pitchFamily="18" charset="0"/>
                                  <a:cs typeface="Arial" panose="020B0604020202020204" pitchFamily="34" charset="0"/>
                                </a:rPr>
                              </m:ctrlPr>
                            </m:sSubSupPr>
                            <m:e>
                              <m:r>
                                <a:rPr lang="en-GB" sz="2000" b="0" i="1" smtClean="0">
                                  <a:latin typeface="Cambria Math" panose="02040503050406030204" pitchFamily="18" charset="0"/>
                                  <a:cs typeface="Arial" panose="020B0604020202020204" pitchFamily="34" charset="0"/>
                                </a:rPr>
                                <m:t>𝜎</m:t>
                              </m:r>
                            </m:e>
                            <m:sub>
                              <m:r>
                                <a:rPr lang="en-GB" sz="2000" b="0" i="1" smtClean="0">
                                  <a:latin typeface="Cambria Math" panose="02040503050406030204" pitchFamily="18" charset="0"/>
                                  <a:cs typeface="Arial" panose="020B0604020202020204" pitchFamily="34" charset="0"/>
                                </a:rPr>
                                <m:t>𝜒</m:t>
                              </m:r>
                            </m:sub>
                            <m:sup>
                              <m:r>
                                <a:rPr lang="en-GB" sz="2000" b="0" i="1" smtClean="0">
                                  <a:latin typeface="Cambria Math" panose="02040503050406030204" pitchFamily="18" charset="0"/>
                                  <a:cs typeface="Arial" panose="020B0604020202020204" pitchFamily="34" charset="0"/>
                                </a:rPr>
                                <m:t>2</m:t>
                              </m:r>
                            </m:sup>
                          </m:sSubSup>
                        </m:oMath>
                      </a14:m>
                      <a:r>
                        <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rPr>
                        <a:t> = 0.15</a:t>
                      </a:r>
                      <a:r>
                        <a:rPr lang="en-GB" sz="2000" dirty="0">
                          <a:latin typeface="Arial" panose="020B0604020202020204" pitchFamily="34" charset="0"/>
                          <a:cs typeface="Arial" panose="020B0604020202020204" pitchFamily="34" charset="0"/>
                        </a:rPr>
                        <a:t>, </a:t>
                      </a:r>
                      <a:r>
                        <a:rPr kumimoji="0" lang="en-GB" sz="200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AS = 20%</a:t>
                      </a:r>
                    </a:p>
                  </p:txBody>
                </p:sp>
              </mc:Choice>
              <mc:Fallback xmlns="">
                <p:sp>
                  <p:nvSpPr>
                    <p:cNvPr id="539" name="TextBox 538">
                      <a:extLst>
                        <a:ext uri="{FF2B5EF4-FFF2-40B4-BE49-F238E27FC236}">
                          <a16:creationId xmlns:a16="http://schemas.microsoft.com/office/drawing/2014/main" id="{79DA2EA1-2C0C-8CB1-6DB7-0C96914D9BAA}"/>
                        </a:ext>
                      </a:extLst>
                    </p:cNvPr>
                    <p:cNvSpPr txBox="1">
                      <a:spLocks noRot="1" noChangeAspect="1" noMove="1" noResize="1" noEditPoints="1" noAdjustHandles="1" noChangeArrowheads="1" noChangeShapeType="1" noTextEdit="1"/>
                    </p:cNvSpPr>
                    <p:nvPr/>
                  </p:nvSpPr>
                  <p:spPr>
                    <a:xfrm>
                      <a:off x="7907298" y="30685521"/>
                      <a:ext cx="2531783" cy="433452"/>
                    </a:xfrm>
                    <a:prstGeom prst="rect">
                      <a:avLst/>
                    </a:prstGeom>
                    <a:blipFill>
                      <a:blip r:embed="rId64"/>
                      <a:stretch>
                        <a:fillRect t="-5634" r="-1928" b="-1831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8B5357C-D42E-2C66-B94F-C657DAD81FB1}"/>
                        </a:ext>
                      </a:extLst>
                    </p:cNvPr>
                    <p:cNvSpPr txBox="1"/>
                    <p:nvPr/>
                  </p:nvSpPr>
                  <p:spPr>
                    <a:xfrm>
                      <a:off x="11217316" y="30685530"/>
                      <a:ext cx="2531783" cy="433452"/>
                    </a:xfrm>
                    <a:prstGeom prst="rect">
                      <a:avLst/>
                    </a:prstGeom>
                    <a:noFill/>
                  </p:spPr>
                  <p:txBody>
                    <a:bodyPr wrap="none" rtlCol="0" anchor="ctr">
                      <a:spAutoFit/>
                    </a:bodyPr>
                    <a:lstStyle/>
                    <a:p>
                      <a:pPr algn="ctr"/>
                      <a14:m>
                        <m:oMath xmlns:m="http://schemas.openxmlformats.org/officeDocument/2006/math">
                          <m:sSubSup>
                            <m:sSubSupPr>
                              <m:ctrlPr>
                                <a:rPr lang="en-GB" sz="2000" b="0" i="1" smtClean="0">
                                  <a:latin typeface="Cambria Math" panose="02040503050406030204" pitchFamily="18" charset="0"/>
                                  <a:cs typeface="Arial" panose="020B0604020202020204" pitchFamily="34" charset="0"/>
                                </a:rPr>
                              </m:ctrlPr>
                            </m:sSubSupPr>
                            <m:e>
                              <m:r>
                                <a:rPr lang="en-GB" sz="2000" b="0" i="1" smtClean="0">
                                  <a:latin typeface="Cambria Math" panose="02040503050406030204" pitchFamily="18" charset="0"/>
                                  <a:cs typeface="Arial" panose="020B0604020202020204" pitchFamily="34" charset="0"/>
                                </a:rPr>
                                <m:t>𝜎</m:t>
                              </m:r>
                            </m:e>
                            <m:sub>
                              <m:r>
                                <a:rPr lang="en-GB" sz="2000" b="0" i="1" smtClean="0">
                                  <a:latin typeface="Cambria Math" panose="02040503050406030204" pitchFamily="18" charset="0"/>
                                  <a:cs typeface="Arial" panose="020B0604020202020204" pitchFamily="34" charset="0"/>
                                </a:rPr>
                                <m:t>𝜒</m:t>
                              </m:r>
                            </m:sub>
                            <m:sup>
                              <m:r>
                                <a:rPr lang="en-GB" sz="2000" b="0" i="1" smtClean="0">
                                  <a:latin typeface="Cambria Math" panose="02040503050406030204" pitchFamily="18" charset="0"/>
                                  <a:cs typeface="Arial" panose="020B0604020202020204" pitchFamily="34" charset="0"/>
                                </a:rPr>
                                <m:t>2</m:t>
                              </m:r>
                            </m:sup>
                          </m:sSubSup>
                        </m:oMath>
                      </a14:m>
                      <a:r>
                        <a:rPr kumimoji="0" lang="en-GB" sz="2000" i="0" u="none" strike="noStrike" kern="1200" cap="none" spc="0" normalizeH="0" baseline="0" noProof="0" dirty="0">
                          <a:ln>
                            <a:noFill/>
                          </a:ln>
                          <a:effectLst/>
                          <a:uLnTx/>
                          <a:uFillTx/>
                          <a:latin typeface="Arial" panose="020B0604020202020204" pitchFamily="34" charset="0"/>
                          <a:cs typeface="Arial" panose="020B0604020202020204" pitchFamily="34" charset="0"/>
                        </a:rPr>
                        <a:t> = 0.32</a:t>
                      </a:r>
                      <a:r>
                        <a:rPr lang="en-GB" sz="2000" dirty="0">
                          <a:latin typeface="Arial" panose="020B0604020202020204" pitchFamily="34" charset="0"/>
                          <a:cs typeface="Arial" panose="020B0604020202020204" pitchFamily="34" charset="0"/>
                        </a:rPr>
                        <a:t>, </a:t>
                      </a:r>
                      <a:r>
                        <a:rPr kumimoji="0" lang="en-GB" sz="200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AS = 50%</a:t>
                      </a:r>
                    </a:p>
                  </p:txBody>
                </p:sp>
              </mc:Choice>
              <mc:Fallback xmlns="">
                <p:sp>
                  <p:nvSpPr>
                    <p:cNvPr id="8" name="TextBox 7">
                      <a:extLst>
                        <a:ext uri="{FF2B5EF4-FFF2-40B4-BE49-F238E27FC236}">
                          <a16:creationId xmlns:a16="http://schemas.microsoft.com/office/drawing/2014/main" id="{F8B5357C-D42E-2C66-B94F-C657DAD81FB1}"/>
                        </a:ext>
                      </a:extLst>
                    </p:cNvPr>
                    <p:cNvSpPr txBox="1">
                      <a:spLocks noRot="1" noChangeAspect="1" noMove="1" noResize="1" noEditPoints="1" noAdjustHandles="1" noChangeArrowheads="1" noChangeShapeType="1" noTextEdit="1"/>
                    </p:cNvSpPr>
                    <p:nvPr/>
                  </p:nvSpPr>
                  <p:spPr>
                    <a:xfrm>
                      <a:off x="11217316" y="30685530"/>
                      <a:ext cx="2531783" cy="433452"/>
                    </a:xfrm>
                    <a:prstGeom prst="rect">
                      <a:avLst/>
                    </a:prstGeom>
                    <a:blipFill>
                      <a:blip r:embed="rId65"/>
                      <a:stretch>
                        <a:fillRect t="-5634" r="-1928" b="-18310"/>
                      </a:stretch>
                    </a:blipFill>
                  </p:spPr>
                  <p:txBody>
                    <a:bodyPr/>
                    <a:lstStyle/>
                    <a:p>
                      <a:r>
                        <a:rPr lang="en-GB">
                          <a:noFill/>
                        </a:rPr>
                        <a:t> </a:t>
                      </a:r>
                    </a:p>
                  </p:txBody>
                </p:sp>
              </mc:Fallback>
            </mc:AlternateContent>
            <p:pic>
              <p:nvPicPr>
                <p:cNvPr id="605" name="Picture 604" descr="A purple circle with green and yellow dots&#10;&#10;Description automatically generated">
                  <a:extLst>
                    <a:ext uri="{FF2B5EF4-FFF2-40B4-BE49-F238E27FC236}">
                      <a16:creationId xmlns:a16="http://schemas.microsoft.com/office/drawing/2014/main" id="{B616AF99-A78C-6466-5ADF-F01EE853F005}"/>
                    </a:ext>
                  </a:extLst>
                </p:cNvPr>
                <p:cNvPicPr>
                  <a:picLocks noChangeAspect="1"/>
                </p:cNvPicPr>
                <p:nvPr/>
              </p:nvPicPr>
              <p:blipFill rotWithShape="1">
                <a:blip r:embed="rId66">
                  <a:extLst>
                    <a:ext uri="{28A0092B-C50C-407E-A947-70E740481C1C}">
                      <a14:useLocalDpi xmlns:a14="http://schemas.microsoft.com/office/drawing/2010/main" val="0"/>
                    </a:ext>
                  </a:extLst>
                </a:blip>
                <a:srcRect l="2994" t="12152" r="23263" b="13188"/>
                <a:stretch/>
              </p:blipFill>
              <p:spPr>
                <a:xfrm>
                  <a:off x="10782300" y="31213424"/>
                  <a:ext cx="3286126" cy="3317875"/>
                </a:xfrm>
                <a:prstGeom prst="rect">
                  <a:avLst/>
                </a:prstGeom>
              </p:spPr>
            </p:pic>
            <p:pic>
              <p:nvPicPr>
                <p:cNvPr id="607" name="Picture 606" descr="A grid with a grid in the center&#10;&#10;Description automatically generated with medium confidence">
                  <a:extLst>
                    <a:ext uri="{FF2B5EF4-FFF2-40B4-BE49-F238E27FC236}">
                      <a16:creationId xmlns:a16="http://schemas.microsoft.com/office/drawing/2014/main" id="{3B7E8DC9-6390-5D79-E7F3-417F5B79A573}"/>
                    </a:ext>
                  </a:extLst>
                </p:cNvPr>
                <p:cNvPicPr>
                  <a:picLocks noChangeAspect="1"/>
                </p:cNvPicPr>
                <p:nvPr/>
              </p:nvPicPr>
              <p:blipFill rotWithShape="1">
                <a:blip r:embed="rId67">
                  <a:extLst>
                    <a:ext uri="{28A0092B-C50C-407E-A947-70E740481C1C}">
                      <a14:useLocalDpi xmlns:a14="http://schemas.microsoft.com/office/drawing/2010/main" val="0"/>
                    </a:ext>
                  </a:extLst>
                </a:blip>
                <a:srcRect l="2708" t="11938" r="22907" b="13474"/>
                <a:stretch/>
              </p:blipFill>
              <p:spPr>
                <a:xfrm>
                  <a:off x="749299" y="31216600"/>
                  <a:ext cx="3314701" cy="3314700"/>
                </a:xfrm>
                <a:prstGeom prst="rect">
                  <a:avLst/>
                </a:prstGeom>
              </p:spPr>
            </p:pic>
            <p:pic>
              <p:nvPicPr>
                <p:cNvPr id="609" name="Picture 608" descr="A grid with a grid in the center&#10;&#10;Description automatically generated with medium confidence">
                  <a:extLst>
                    <a:ext uri="{FF2B5EF4-FFF2-40B4-BE49-F238E27FC236}">
                      <a16:creationId xmlns:a16="http://schemas.microsoft.com/office/drawing/2014/main" id="{F6BDB3B3-8326-03D5-84C8-C4516E5C083D}"/>
                    </a:ext>
                  </a:extLst>
                </p:cNvPr>
                <p:cNvPicPr>
                  <a:picLocks noChangeAspect="1"/>
                </p:cNvPicPr>
                <p:nvPr/>
              </p:nvPicPr>
              <p:blipFill rotWithShape="1">
                <a:blip r:embed="rId68">
                  <a:extLst>
                    <a:ext uri="{28A0092B-C50C-407E-A947-70E740481C1C}">
                      <a14:useLocalDpi xmlns:a14="http://schemas.microsoft.com/office/drawing/2010/main" val="0"/>
                    </a:ext>
                  </a:extLst>
                </a:blip>
                <a:srcRect l="2708" t="11938" r="22907" b="13474"/>
                <a:stretch/>
              </p:blipFill>
              <p:spPr>
                <a:xfrm>
                  <a:off x="4089399" y="31216600"/>
                  <a:ext cx="3314701" cy="3314700"/>
                </a:xfrm>
                <a:prstGeom prst="rect">
                  <a:avLst/>
                </a:prstGeom>
              </p:spPr>
            </p:pic>
            <p:pic>
              <p:nvPicPr>
                <p:cNvPr id="611" name="Picture 610" descr="A grid with a grid in the center&#10;&#10;Description automatically generated with medium confidence">
                  <a:extLst>
                    <a:ext uri="{FF2B5EF4-FFF2-40B4-BE49-F238E27FC236}">
                      <a16:creationId xmlns:a16="http://schemas.microsoft.com/office/drawing/2014/main" id="{EDC79BE5-080E-AE2A-163E-195F8BEAECD0}"/>
                    </a:ext>
                  </a:extLst>
                </p:cNvPr>
                <p:cNvPicPr>
                  <a:picLocks noChangeAspect="1"/>
                </p:cNvPicPr>
                <p:nvPr/>
              </p:nvPicPr>
              <p:blipFill rotWithShape="1">
                <a:blip r:embed="rId69">
                  <a:extLst>
                    <a:ext uri="{28A0092B-C50C-407E-A947-70E740481C1C}">
                      <a14:useLocalDpi xmlns:a14="http://schemas.microsoft.com/office/drawing/2010/main" val="0"/>
                    </a:ext>
                  </a:extLst>
                </a:blip>
                <a:srcRect l="2993" t="11938" r="22337" b="13188"/>
                <a:stretch/>
              </p:blipFill>
              <p:spPr>
                <a:xfrm>
                  <a:off x="7442199" y="31203900"/>
                  <a:ext cx="3327401" cy="3327400"/>
                </a:xfrm>
                <a:prstGeom prst="rect">
                  <a:avLst/>
                </a:prstGeom>
              </p:spPr>
            </p:pic>
          </p:grpSp>
          <p:pic>
            <p:nvPicPr>
              <p:cNvPr id="120" name="Picture 119" descr="A purple circle with green and yellow dots&#10;&#10;Description automatically generated">
                <a:extLst>
                  <a:ext uri="{FF2B5EF4-FFF2-40B4-BE49-F238E27FC236}">
                    <a16:creationId xmlns:a16="http://schemas.microsoft.com/office/drawing/2014/main" id="{4C9C5AC5-1346-B4CA-BD01-FBFD33ABBC44}"/>
                  </a:ext>
                </a:extLst>
              </p:cNvPr>
              <p:cNvPicPr>
                <a:picLocks noChangeAspect="1"/>
              </p:cNvPicPr>
              <p:nvPr/>
            </p:nvPicPr>
            <p:blipFill rotWithShape="1">
              <a:blip r:embed="rId66">
                <a:extLst>
                  <a:ext uri="{28A0092B-C50C-407E-A947-70E740481C1C}">
                    <a14:useLocalDpi xmlns:a14="http://schemas.microsoft.com/office/drawing/2010/main" val="0"/>
                  </a:ext>
                </a:extLst>
              </a:blip>
              <a:srcRect l="80940" r="10724"/>
              <a:stretch/>
            </p:blipFill>
            <p:spPr>
              <a:xfrm>
                <a:off x="14201775" y="30743236"/>
                <a:ext cx="327527" cy="3918240"/>
              </a:xfrm>
              <a:prstGeom prst="rect">
                <a:avLst/>
              </a:prstGeom>
            </p:spPr>
          </p:pic>
          <p:sp>
            <p:nvSpPr>
              <p:cNvPr id="121" name="TextBox 120">
                <a:extLst>
                  <a:ext uri="{FF2B5EF4-FFF2-40B4-BE49-F238E27FC236}">
                    <a16:creationId xmlns:a16="http://schemas.microsoft.com/office/drawing/2014/main" id="{B15A833D-CE0E-C16F-0C77-8F7B60884725}"/>
                  </a:ext>
                </a:extLst>
              </p:cNvPr>
              <p:cNvSpPr txBox="1"/>
              <p:nvPr/>
            </p:nvSpPr>
            <p:spPr>
              <a:xfrm>
                <a:off x="14496411" y="30650649"/>
                <a:ext cx="327334" cy="400110"/>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lang="en-GB" sz="2000" dirty="0">
                    <a:latin typeface="Arial" panose="020B0604020202020204" pitchFamily="34" charset="0"/>
                    <a:cs typeface="Arial" panose="020B0604020202020204" pitchFamily="34" charset="0"/>
                  </a:rPr>
                  <a:t>1</a:t>
                </a:r>
                <a:endParaRPr kumimoji="0" lang="en-GB" sz="200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endParaRPr>
              </a:p>
            </p:txBody>
          </p:sp>
          <p:sp>
            <p:nvSpPr>
              <p:cNvPr id="122" name="TextBox 121">
                <a:extLst>
                  <a:ext uri="{FF2B5EF4-FFF2-40B4-BE49-F238E27FC236}">
                    <a16:creationId xmlns:a16="http://schemas.microsoft.com/office/drawing/2014/main" id="{60E79712-DAE6-607E-82D9-400199F55D83}"/>
                  </a:ext>
                </a:extLst>
              </p:cNvPr>
              <p:cNvSpPr txBox="1"/>
              <p:nvPr/>
            </p:nvSpPr>
            <p:spPr>
              <a:xfrm>
                <a:off x="14494371" y="34325711"/>
                <a:ext cx="327334" cy="400110"/>
              </a:xfrm>
              <a:prstGeom prst="rect">
                <a:avLst/>
              </a:prstGeom>
              <a:noFill/>
            </p:spPr>
            <p:txBody>
              <a:bodyPr wrap="none" rtlCol="0">
                <a:spAutoFit/>
              </a:bodyPr>
              <a:lstStyle/>
              <a:p>
                <a:pPr marL="0" marR="0" indent="0" algn="l" defTabSz="457200" rtl="0" eaLnBrk="1" fontAlgn="auto" latinLnBrk="0" hangingPunct="1">
                  <a:spcBef>
                    <a:spcPts val="0"/>
                  </a:spcBef>
                  <a:spcAft>
                    <a:spcPts val="0"/>
                  </a:spcAft>
                  <a:buClrTx/>
                  <a:buSzTx/>
                  <a:buFontTx/>
                  <a:buNone/>
                  <a:tabLst/>
                </a:pPr>
                <a:r>
                  <a:rPr kumimoji="0" lang="en-GB" sz="200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0</a:t>
                </a:r>
              </a:p>
            </p:txBody>
          </p:sp>
        </p:grpSp>
      </p:grpSp>
      <p:grpSp>
        <p:nvGrpSpPr>
          <p:cNvPr id="478" name="Group 477">
            <a:extLst>
              <a:ext uri="{FF2B5EF4-FFF2-40B4-BE49-F238E27FC236}">
                <a16:creationId xmlns:a16="http://schemas.microsoft.com/office/drawing/2014/main" id="{60525531-549F-0D1E-9265-0B66848E34F1}"/>
              </a:ext>
            </a:extLst>
          </p:cNvPr>
          <p:cNvGrpSpPr/>
          <p:nvPr/>
        </p:nvGrpSpPr>
        <p:grpSpPr>
          <a:xfrm>
            <a:off x="674189" y="16476755"/>
            <a:ext cx="14457656" cy="4201980"/>
            <a:chOff x="674189" y="16948707"/>
            <a:chExt cx="14457656" cy="4201980"/>
          </a:xfrm>
        </p:grpSpPr>
        <p:sp>
          <p:nvSpPr>
            <p:cNvPr id="551" name="TextBox 550">
              <a:extLst>
                <a:ext uri="{FF2B5EF4-FFF2-40B4-BE49-F238E27FC236}">
                  <a16:creationId xmlns:a16="http://schemas.microsoft.com/office/drawing/2014/main" id="{ECCA7DCC-EA87-09A0-FE22-E89C867DA33D}"/>
                </a:ext>
              </a:extLst>
            </p:cNvPr>
            <p:cNvSpPr txBox="1"/>
            <p:nvPr/>
          </p:nvSpPr>
          <p:spPr>
            <a:xfrm>
              <a:off x="674189" y="20005763"/>
              <a:ext cx="14457656" cy="1144924"/>
            </a:xfrm>
            <a:prstGeom prst="rect">
              <a:avLst/>
            </a:prstGeom>
            <a:noFill/>
          </p:spPr>
          <p:txBody>
            <a:bodyPr wrap="square" rtlCol="0">
              <a:noAutofit/>
            </a:bodyPr>
            <a:lstStyle/>
            <a:p>
              <a:pPr marL="0" marR="0" indent="0" algn="l" defTabSz="457200" rtl="0" eaLnBrk="1" fontAlgn="auto" latinLnBrk="0" hangingPunct="1">
                <a:spcBef>
                  <a:spcPts val="0"/>
                </a:spcBef>
                <a:spcAft>
                  <a:spcPts val="0"/>
                </a:spcAft>
                <a:buClrTx/>
                <a:buSzTx/>
                <a:buFontTx/>
                <a:buNone/>
                <a:tabLst/>
              </a:pPr>
              <a:r>
                <a:rPr lang="en-GB" sz="2000" b="1" dirty="0">
                  <a:latin typeface="Arial" panose="020B0604020202020204" pitchFamily="34" charset="0"/>
                  <a:cs typeface="Arial" panose="020B0604020202020204" pitchFamily="34" charset="0"/>
                </a:rPr>
                <a:t>Figure 1: </a:t>
              </a:r>
              <a:r>
                <a:rPr lang="en-GB" sz="2000" dirty="0">
                  <a:latin typeface="Arial" panose="020B0604020202020204" pitchFamily="34" charset="0"/>
                  <a:cs typeface="Arial" panose="020B0604020202020204" pitchFamily="34" charset="0"/>
                </a:rPr>
                <a:t>Sketch showing the Fried geometry between DM1 actuators and WFS when DM2 is held flat e.g. during calibration (left), and during operation when geometry becomes distorted by DM2 (right).</a:t>
              </a:r>
              <a:endParaRPr kumimoji="0" lang="en-GB" sz="2000" i="0" strike="noStrike" kern="1200" cap="none" spc="0" normalizeH="0" baseline="0" noProof="0" dirty="0">
                <a:ln>
                  <a:noFill/>
                </a:ln>
                <a:effectLst/>
                <a:uLnTx/>
                <a:uFillTx/>
                <a:latin typeface="Arial" panose="020B0604020202020204" pitchFamily="34" charset="0"/>
                <a:ea typeface="+mn-ea"/>
                <a:cs typeface="Arial" panose="020B0604020202020204" pitchFamily="34" charset="0"/>
              </a:endParaRPr>
            </a:p>
          </p:txBody>
        </p:sp>
        <p:grpSp>
          <p:nvGrpSpPr>
            <p:cNvPr id="650" name="Group 649">
              <a:extLst>
                <a:ext uri="{FF2B5EF4-FFF2-40B4-BE49-F238E27FC236}">
                  <a16:creationId xmlns:a16="http://schemas.microsoft.com/office/drawing/2014/main" id="{D0320062-C1DF-CB6B-57F8-DD2C890759B1}"/>
                </a:ext>
              </a:extLst>
            </p:cNvPr>
            <p:cNvGrpSpPr/>
            <p:nvPr/>
          </p:nvGrpSpPr>
          <p:grpSpPr>
            <a:xfrm>
              <a:off x="11216906" y="17886808"/>
              <a:ext cx="2982413" cy="1181161"/>
              <a:chOff x="7407334" y="2594641"/>
              <a:chExt cx="3164980" cy="1282730"/>
            </a:xfrm>
          </p:grpSpPr>
          <p:sp>
            <p:nvSpPr>
              <p:cNvPr id="781" name="Rectangle 780">
                <a:extLst>
                  <a:ext uri="{FF2B5EF4-FFF2-40B4-BE49-F238E27FC236}">
                    <a16:creationId xmlns:a16="http://schemas.microsoft.com/office/drawing/2014/main" id="{9DDB5691-CAB4-A9C9-2EDB-65BDC416C4DD}"/>
                  </a:ext>
                </a:extLst>
              </p:cNvPr>
              <p:cNvSpPr>
                <a:spLocks noChangeAspect="1"/>
              </p:cNvSpPr>
              <p:nvPr/>
            </p:nvSpPr>
            <p:spPr>
              <a:xfrm>
                <a:off x="7407334" y="2632136"/>
                <a:ext cx="323299" cy="33110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782" name="TextBox 781">
                <a:extLst>
                  <a:ext uri="{FF2B5EF4-FFF2-40B4-BE49-F238E27FC236}">
                    <a16:creationId xmlns:a16="http://schemas.microsoft.com/office/drawing/2014/main" id="{6F227CE1-B41D-1B0D-F849-20FB91AE089D}"/>
                  </a:ext>
                </a:extLst>
              </p:cNvPr>
              <p:cNvSpPr txBox="1"/>
              <p:nvPr/>
            </p:nvSpPr>
            <p:spPr>
              <a:xfrm>
                <a:off x="7989949" y="2594641"/>
                <a:ext cx="2582365" cy="434451"/>
              </a:xfrm>
              <a:prstGeom prst="rect">
                <a:avLst/>
              </a:prstGeom>
              <a:noFill/>
            </p:spPr>
            <p:txBody>
              <a:bodyPr wrap="square" rtlCol="0">
                <a:spAutoFit/>
              </a:bodyPr>
              <a:lstStyle/>
              <a:p>
                <a:r>
                  <a:rPr lang="en-GB" sz="2000" dirty="0"/>
                  <a:t>WFS subaperture</a:t>
                </a:r>
              </a:p>
            </p:txBody>
          </p:sp>
          <p:sp>
            <p:nvSpPr>
              <p:cNvPr id="783" name="Oval 782">
                <a:extLst>
                  <a:ext uri="{FF2B5EF4-FFF2-40B4-BE49-F238E27FC236}">
                    <a16:creationId xmlns:a16="http://schemas.microsoft.com/office/drawing/2014/main" id="{92048802-BF77-CD1D-596F-016E84098FEC}"/>
                  </a:ext>
                </a:extLst>
              </p:cNvPr>
              <p:cNvSpPr>
                <a:spLocks noChangeAspect="1"/>
              </p:cNvSpPr>
              <p:nvPr/>
            </p:nvSpPr>
            <p:spPr>
              <a:xfrm>
                <a:off x="7464356" y="3111315"/>
                <a:ext cx="161654" cy="15779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784" name="TextBox 783">
                <a:extLst>
                  <a:ext uri="{FF2B5EF4-FFF2-40B4-BE49-F238E27FC236}">
                    <a16:creationId xmlns:a16="http://schemas.microsoft.com/office/drawing/2014/main" id="{AECE3AD6-B466-5FA8-A263-8936980664C4}"/>
                  </a:ext>
                </a:extLst>
              </p:cNvPr>
              <p:cNvSpPr txBox="1"/>
              <p:nvPr/>
            </p:nvSpPr>
            <p:spPr>
              <a:xfrm>
                <a:off x="7980452" y="3008405"/>
                <a:ext cx="1803433" cy="434516"/>
              </a:xfrm>
              <a:prstGeom prst="rect">
                <a:avLst/>
              </a:prstGeom>
              <a:noFill/>
            </p:spPr>
            <p:txBody>
              <a:bodyPr wrap="square" rtlCol="0">
                <a:spAutoFit/>
              </a:bodyPr>
              <a:lstStyle/>
              <a:p>
                <a:r>
                  <a:rPr lang="en-GB" sz="2000" dirty="0"/>
                  <a:t>DM1 actuator</a:t>
                </a:r>
              </a:p>
            </p:txBody>
          </p:sp>
          <p:sp>
            <p:nvSpPr>
              <p:cNvPr id="785" name="Star: 5 Points 784">
                <a:extLst>
                  <a:ext uri="{FF2B5EF4-FFF2-40B4-BE49-F238E27FC236}">
                    <a16:creationId xmlns:a16="http://schemas.microsoft.com/office/drawing/2014/main" id="{A4ECFC54-6CA8-B3B9-1E83-05C6DA781515}"/>
                  </a:ext>
                </a:extLst>
              </p:cNvPr>
              <p:cNvSpPr>
                <a:spLocks noChangeAspect="1"/>
              </p:cNvSpPr>
              <p:nvPr/>
            </p:nvSpPr>
            <p:spPr>
              <a:xfrm>
                <a:off x="7451714" y="3455121"/>
                <a:ext cx="190702" cy="160061"/>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786" name="TextBox 785">
                <a:extLst>
                  <a:ext uri="{FF2B5EF4-FFF2-40B4-BE49-F238E27FC236}">
                    <a16:creationId xmlns:a16="http://schemas.microsoft.com/office/drawing/2014/main" id="{9D26F6FC-162B-943E-3087-2B8FDC7ED44D}"/>
                  </a:ext>
                </a:extLst>
              </p:cNvPr>
              <p:cNvSpPr txBox="1"/>
              <p:nvPr/>
            </p:nvSpPr>
            <p:spPr>
              <a:xfrm>
                <a:off x="8000043" y="3442855"/>
                <a:ext cx="1622112" cy="434516"/>
              </a:xfrm>
              <a:prstGeom prst="rect">
                <a:avLst/>
              </a:prstGeom>
              <a:noFill/>
            </p:spPr>
            <p:txBody>
              <a:bodyPr wrap="square" rtlCol="0">
                <a:spAutoFit/>
              </a:bodyPr>
              <a:lstStyle/>
              <a:p>
                <a:r>
                  <a:rPr lang="en-GB" sz="2000" dirty="0"/>
                  <a:t>WFS spot</a:t>
                </a:r>
              </a:p>
            </p:txBody>
          </p:sp>
        </p:grpSp>
        <p:grpSp>
          <p:nvGrpSpPr>
            <p:cNvPr id="2" name="Group 1">
              <a:extLst>
                <a:ext uri="{FF2B5EF4-FFF2-40B4-BE49-F238E27FC236}">
                  <a16:creationId xmlns:a16="http://schemas.microsoft.com/office/drawing/2014/main" id="{28767134-A495-2D44-E450-392B6B4AAE3E}"/>
                </a:ext>
              </a:extLst>
            </p:cNvPr>
            <p:cNvGrpSpPr/>
            <p:nvPr/>
          </p:nvGrpSpPr>
          <p:grpSpPr>
            <a:xfrm>
              <a:off x="8003323" y="16963085"/>
              <a:ext cx="2520281" cy="2781478"/>
              <a:chOff x="1240062" y="11248753"/>
              <a:chExt cx="3574222" cy="4228160"/>
            </a:xfrm>
          </p:grpSpPr>
          <p:grpSp>
            <p:nvGrpSpPr>
              <p:cNvPr id="649" name="Group 648">
                <a:extLst>
                  <a:ext uri="{FF2B5EF4-FFF2-40B4-BE49-F238E27FC236}">
                    <a16:creationId xmlns:a16="http://schemas.microsoft.com/office/drawing/2014/main" id="{60481C6A-152F-3025-805D-7C4E4421880E}"/>
                  </a:ext>
                </a:extLst>
              </p:cNvPr>
              <p:cNvGrpSpPr/>
              <p:nvPr/>
            </p:nvGrpSpPr>
            <p:grpSpPr>
              <a:xfrm>
                <a:off x="1240062" y="11680801"/>
                <a:ext cx="3574222" cy="3796112"/>
                <a:chOff x="3128319" y="1829039"/>
                <a:chExt cx="2674559" cy="2711990"/>
              </a:xfrm>
            </p:grpSpPr>
            <p:sp>
              <p:nvSpPr>
                <p:cNvPr id="787" name="Rectangle 786">
                  <a:extLst>
                    <a:ext uri="{FF2B5EF4-FFF2-40B4-BE49-F238E27FC236}">
                      <a16:creationId xmlns:a16="http://schemas.microsoft.com/office/drawing/2014/main" id="{3BBE7CD6-9C4A-4763-E7CB-902E5E4B672F}"/>
                    </a:ext>
                  </a:extLst>
                </p:cNvPr>
                <p:cNvSpPr/>
                <p:nvPr/>
              </p:nvSpPr>
              <p:spPr>
                <a:xfrm>
                  <a:off x="3172408" y="2062071"/>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788" name="Rectangle 787">
                  <a:extLst>
                    <a:ext uri="{FF2B5EF4-FFF2-40B4-BE49-F238E27FC236}">
                      <a16:creationId xmlns:a16="http://schemas.microsoft.com/office/drawing/2014/main" id="{696BB73E-240C-2873-F0B0-3C4A43A7C0B3}"/>
                    </a:ext>
                  </a:extLst>
                </p:cNvPr>
                <p:cNvSpPr/>
                <p:nvPr/>
              </p:nvSpPr>
              <p:spPr>
                <a:xfrm>
                  <a:off x="3788227" y="2062071"/>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789" name="Rectangle 788">
                  <a:extLst>
                    <a:ext uri="{FF2B5EF4-FFF2-40B4-BE49-F238E27FC236}">
                      <a16:creationId xmlns:a16="http://schemas.microsoft.com/office/drawing/2014/main" id="{BBE2549C-D894-53A2-5779-158C007C0FC8}"/>
                    </a:ext>
                  </a:extLst>
                </p:cNvPr>
                <p:cNvSpPr/>
                <p:nvPr/>
              </p:nvSpPr>
              <p:spPr>
                <a:xfrm>
                  <a:off x="4404046" y="2062071"/>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790" name="Rectangle 789">
                  <a:extLst>
                    <a:ext uri="{FF2B5EF4-FFF2-40B4-BE49-F238E27FC236}">
                      <a16:creationId xmlns:a16="http://schemas.microsoft.com/office/drawing/2014/main" id="{18892497-BE4B-253D-487D-8EAF0982D829}"/>
                    </a:ext>
                  </a:extLst>
                </p:cNvPr>
                <p:cNvSpPr/>
                <p:nvPr/>
              </p:nvSpPr>
              <p:spPr>
                <a:xfrm>
                  <a:off x="5019865" y="2062071"/>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791" name="Rectangle 790">
                  <a:extLst>
                    <a:ext uri="{FF2B5EF4-FFF2-40B4-BE49-F238E27FC236}">
                      <a16:creationId xmlns:a16="http://schemas.microsoft.com/office/drawing/2014/main" id="{B79BD447-AB02-D232-0470-0CFC6E1DDDD7}"/>
                    </a:ext>
                  </a:extLst>
                </p:cNvPr>
                <p:cNvSpPr/>
                <p:nvPr/>
              </p:nvSpPr>
              <p:spPr>
                <a:xfrm>
                  <a:off x="3172408" y="2649904"/>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792" name="Rectangle 791">
                  <a:extLst>
                    <a:ext uri="{FF2B5EF4-FFF2-40B4-BE49-F238E27FC236}">
                      <a16:creationId xmlns:a16="http://schemas.microsoft.com/office/drawing/2014/main" id="{F80983C5-9111-8441-1E09-7F4FBE817018}"/>
                    </a:ext>
                  </a:extLst>
                </p:cNvPr>
                <p:cNvSpPr/>
                <p:nvPr/>
              </p:nvSpPr>
              <p:spPr>
                <a:xfrm>
                  <a:off x="3788227" y="2649904"/>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793" name="Rectangle 792">
                  <a:extLst>
                    <a:ext uri="{FF2B5EF4-FFF2-40B4-BE49-F238E27FC236}">
                      <a16:creationId xmlns:a16="http://schemas.microsoft.com/office/drawing/2014/main" id="{F4C70259-5867-4B20-3B4F-DE206F8AAF88}"/>
                    </a:ext>
                  </a:extLst>
                </p:cNvPr>
                <p:cNvSpPr/>
                <p:nvPr/>
              </p:nvSpPr>
              <p:spPr>
                <a:xfrm>
                  <a:off x="4404046" y="2649904"/>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794" name="Rectangle 793">
                  <a:extLst>
                    <a:ext uri="{FF2B5EF4-FFF2-40B4-BE49-F238E27FC236}">
                      <a16:creationId xmlns:a16="http://schemas.microsoft.com/office/drawing/2014/main" id="{EDBDFFA9-4417-4238-EC29-E4DD46BB2978}"/>
                    </a:ext>
                  </a:extLst>
                </p:cNvPr>
                <p:cNvSpPr/>
                <p:nvPr/>
              </p:nvSpPr>
              <p:spPr>
                <a:xfrm>
                  <a:off x="5019865" y="2649904"/>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795" name="Rectangle 794">
                  <a:extLst>
                    <a:ext uri="{FF2B5EF4-FFF2-40B4-BE49-F238E27FC236}">
                      <a16:creationId xmlns:a16="http://schemas.microsoft.com/office/drawing/2014/main" id="{6F5CB296-74D1-1DAB-0C4D-D8530508EE81}"/>
                    </a:ext>
                  </a:extLst>
                </p:cNvPr>
                <p:cNvSpPr/>
                <p:nvPr/>
              </p:nvSpPr>
              <p:spPr>
                <a:xfrm>
                  <a:off x="3172408" y="3237737"/>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796" name="Rectangle 795">
                  <a:extLst>
                    <a:ext uri="{FF2B5EF4-FFF2-40B4-BE49-F238E27FC236}">
                      <a16:creationId xmlns:a16="http://schemas.microsoft.com/office/drawing/2014/main" id="{8C2C4FC7-EE0F-1B6E-0B58-3F03D8C76C52}"/>
                    </a:ext>
                  </a:extLst>
                </p:cNvPr>
                <p:cNvSpPr/>
                <p:nvPr/>
              </p:nvSpPr>
              <p:spPr>
                <a:xfrm>
                  <a:off x="3788227" y="3237737"/>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797" name="Rectangle 796">
                  <a:extLst>
                    <a:ext uri="{FF2B5EF4-FFF2-40B4-BE49-F238E27FC236}">
                      <a16:creationId xmlns:a16="http://schemas.microsoft.com/office/drawing/2014/main" id="{73E32654-AA8F-22A1-0B29-6AEE129298F4}"/>
                    </a:ext>
                  </a:extLst>
                </p:cNvPr>
                <p:cNvSpPr/>
                <p:nvPr/>
              </p:nvSpPr>
              <p:spPr>
                <a:xfrm>
                  <a:off x="4404046" y="3237737"/>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798" name="Rectangle 797">
                  <a:extLst>
                    <a:ext uri="{FF2B5EF4-FFF2-40B4-BE49-F238E27FC236}">
                      <a16:creationId xmlns:a16="http://schemas.microsoft.com/office/drawing/2014/main" id="{585E85FC-224B-3073-C741-63F1908D4EF9}"/>
                    </a:ext>
                  </a:extLst>
                </p:cNvPr>
                <p:cNvSpPr/>
                <p:nvPr/>
              </p:nvSpPr>
              <p:spPr>
                <a:xfrm>
                  <a:off x="5019865" y="3237737"/>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799" name="Rectangle 798">
                  <a:extLst>
                    <a:ext uri="{FF2B5EF4-FFF2-40B4-BE49-F238E27FC236}">
                      <a16:creationId xmlns:a16="http://schemas.microsoft.com/office/drawing/2014/main" id="{8A4E35A4-1FA4-613A-180C-EE5FB9150207}"/>
                    </a:ext>
                  </a:extLst>
                </p:cNvPr>
                <p:cNvSpPr/>
                <p:nvPr/>
              </p:nvSpPr>
              <p:spPr>
                <a:xfrm>
                  <a:off x="3172408" y="3825570"/>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00" name="Rectangle 799">
                  <a:extLst>
                    <a:ext uri="{FF2B5EF4-FFF2-40B4-BE49-F238E27FC236}">
                      <a16:creationId xmlns:a16="http://schemas.microsoft.com/office/drawing/2014/main" id="{A5D80FED-2B16-29B0-5B83-AF6B3087C134}"/>
                    </a:ext>
                  </a:extLst>
                </p:cNvPr>
                <p:cNvSpPr/>
                <p:nvPr/>
              </p:nvSpPr>
              <p:spPr>
                <a:xfrm>
                  <a:off x="3788227" y="3825570"/>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01" name="Rectangle 800">
                  <a:extLst>
                    <a:ext uri="{FF2B5EF4-FFF2-40B4-BE49-F238E27FC236}">
                      <a16:creationId xmlns:a16="http://schemas.microsoft.com/office/drawing/2014/main" id="{7441138B-68D0-2D6F-EFE3-42164AA2B9E5}"/>
                    </a:ext>
                  </a:extLst>
                </p:cNvPr>
                <p:cNvSpPr/>
                <p:nvPr/>
              </p:nvSpPr>
              <p:spPr>
                <a:xfrm>
                  <a:off x="4404046" y="3825570"/>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02" name="Rectangle 801">
                  <a:extLst>
                    <a:ext uri="{FF2B5EF4-FFF2-40B4-BE49-F238E27FC236}">
                      <a16:creationId xmlns:a16="http://schemas.microsoft.com/office/drawing/2014/main" id="{44681237-8CD1-0617-E27D-A9DDBEAE5F9B}"/>
                    </a:ext>
                  </a:extLst>
                </p:cNvPr>
                <p:cNvSpPr/>
                <p:nvPr/>
              </p:nvSpPr>
              <p:spPr>
                <a:xfrm>
                  <a:off x="5019865" y="3825570"/>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03" name="Oval 802">
                  <a:extLst>
                    <a:ext uri="{FF2B5EF4-FFF2-40B4-BE49-F238E27FC236}">
                      <a16:creationId xmlns:a16="http://schemas.microsoft.com/office/drawing/2014/main" id="{3B3726C0-8435-404B-16D8-F806FDB90DB3}"/>
                    </a:ext>
                  </a:extLst>
                </p:cNvPr>
                <p:cNvSpPr/>
                <p:nvPr/>
              </p:nvSpPr>
              <p:spPr>
                <a:xfrm>
                  <a:off x="3182202" y="1829039"/>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04" name="Oval 803">
                  <a:extLst>
                    <a:ext uri="{FF2B5EF4-FFF2-40B4-BE49-F238E27FC236}">
                      <a16:creationId xmlns:a16="http://schemas.microsoft.com/office/drawing/2014/main" id="{84F86DAE-E76A-4D34-49A7-89D68A56D5D1}"/>
                    </a:ext>
                  </a:extLst>
                </p:cNvPr>
                <p:cNvSpPr/>
                <p:nvPr/>
              </p:nvSpPr>
              <p:spPr>
                <a:xfrm>
                  <a:off x="3613266" y="2034813"/>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05" name="Oval 804">
                  <a:extLst>
                    <a:ext uri="{FF2B5EF4-FFF2-40B4-BE49-F238E27FC236}">
                      <a16:creationId xmlns:a16="http://schemas.microsoft.com/office/drawing/2014/main" id="{DF74A654-8BA4-33F6-0024-673041A68017}"/>
                    </a:ext>
                  </a:extLst>
                </p:cNvPr>
                <p:cNvSpPr/>
                <p:nvPr/>
              </p:nvSpPr>
              <p:spPr>
                <a:xfrm>
                  <a:off x="4367627" y="1931926"/>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06" name="Oval 805">
                  <a:extLst>
                    <a:ext uri="{FF2B5EF4-FFF2-40B4-BE49-F238E27FC236}">
                      <a16:creationId xmlns:a16="http://schemas.microsoft.com/office/drawing/2014/main" id="{64EED7C2-DDCE-D588-1984-11F6FF285C67}"/>
                    </a:ext>
                  </a:extLst>
                </p:cNvPr>
                <p:cNvSpPr/>
                <p:nvPr/>
              </p:nvSpPr>
              <p:spPr>
                <a:xfrm>
                  <a:off x="4906456" y="2086256"/>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07" name="Oval 806">
                  <a:extLst>
                    <a:ext uri="{FF2B5EF4-FFF2-40B4-BE49-F238E27FC236}">
                      <a16:creationId xmlns:a16="http://schemas.microsoft.com/office/drawing/2014/main" id="{20954CA3-2C52-CEA9-1384-12616F85261D}"/>
                    </a:ext>
                  </a:extLst>
                </p:cNvPr>
                <p:cNvSpPr/>
                <p:nvPr/>
              </p:nvSpPr>
              <p:spPr>
                <a:xfrm>
                  <a:off x="5445286" y="1983369"/>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08" name="Oval 807">
                  <a:extLst>
                    <a:ext uri="{FF2B5EF4-FFF2-40B4-BE49-F238E27FC236}">
                      <a16:creationId xmlns:a16="http://schemas.microsoft.com/office/drawing/2014/main" id="{710C7C85-9DEC-0F7C-5294-0A905EA42336}"/>
                    </a:ext>
                  </a:extLst>
                </p:cNvPr>
                <p:cNvSpPr/>
                <p:nvPr/>
              </p:nvSpPr>
              <p:spPr>
                <a:xfrm>
                  <a:off x="3128319" y="2652134"/>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09" name="Oval 808">
                  <a:extLst>
                    <a:ext uri="{FF2B5EF4-FFF2-40B4-BE49-F238E27FC236}">
                      <a16:creationId xmlns:a16="http://schemas.microsoft.com/office/drawing/2014/main" id="{EE513549-6F01-45FD-79FA-09705F966E75}"/>
                    </a:ext>
                  </a:extLst>
                </p:cNvPr>
                <p:cNvSpPr/>
                <p:nvPr/>
              </p:nvSpPr>
              <p:spPr>
                <a:xfrm>
                  <a:off x="3828797" y="2497803"/>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10" name="Oval 809">
                  <a:extLst>
                    <a:ext uri="{FF2B5EF4-FFF2-40B4-BE49-F238E27FC236}">
                      <a16:creationId xmlns:a16="http://schemas.microsoft.com/office/drawing/2014/main" id="{567009BB-DB08-D5BC-B94E-D394FC8C024F}"/>
                    </a:ext>
                  </a:extLst>
                </p:cNvPr>
                <p:cNvSpPr/>
                <p:nvPr/>
              </p:nvSpPr>
              <p:spPr>
                <a:xfrm>
                  <a:off x="4205978" y="2652134"/>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11" name="Oval 810">
                  <a:extLst>
                    <a:ext uri="{FF2B5EF4-FFF2-40B4-BE49-F238E27FC236}">
                      <a16:creationId xmlns:a16="http://schemas.microsoft.com/office/drawing/2014/main" id="{0006B29D-F6BF-F631-1CF6-9FE78196375F}"/>
                    </a:ext>
                  </a:extLst>
                </p:cNvPr>
                <p:cNvSpPr/>
                <p:nvPr/>
              </p:nvSpPr>
              <p:spPr>
                <a:xfrm>
                  <a:off x="4852574" y="2652134"/>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12" name="Oval 811">
                  <a:extLst>
                    <a:ext uri="{FF2B5EF4-FFF2-40B4-BE49-F238E27FC236}">
                      <a16:creationId xmlns:a16="http://schemas.microsoft.com/office/drawing/2014/main" id="{94894504-8CD3-65B3-197F-27B5E9A68197}"/>
                    </a:ext>
                  </a:extLst>
                </p:cNvPr>
                <p:cNvSpPr/>
                <p:nvPr/>
              </p:nvSpPr>
              <p:spPr>
                <a:xfrm>
                  <a:off x="5606935" y="2652134"/>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13" name="Oval 812">
                  <a:extLst>
                    <a:ext uri="{FF2B5EF4-FFF2-40B4-BE49-F238E27FC236}">
                      <a16:creationId xmlns:a16="http://schemas.microsoft.com/office/drawing/2014/main" id="{8FCEE6C0-27E6-29AF-1541-6851E7EF76D5}"/>
                    </a:ext>
                  </a:extLst>
                </p:cNvPr>
                <p:cNvSpPr/>
                <p:nvPr/>
              </p:nvSpPr>
              <p:spPr>
                <a:xfrm>
                  <a:off x="3128319" y="3063681"/>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14" name="Oval 813">
                  <a:extLst>
                    <a:ext uri="{FF2B5EF4-FFF2-40B4-BE49-F238E27FC236}">
                      <a16:creationId xmlns:a16="http://schemas.microsoft.com/office/drawing/2014/main" id="{39357EF6-C41C-BB91-B870-B0CC23E023A2}"/>
                    </a:ext>
                  </a:extLst>
                </p:cNvPr>
                <p:cNvSpPr/>
                <p:nvPr/>
              </p:nvSpPr>
              <p:spPr>
                <a:xfrm>
                  <a:off x="3721031" y="3115124"/>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15" name="Oval 814">
                  <a:extLst>
                    <a:ext uri="{FF2B5EF4-FFF2-40B4-BE49-F238E27FC236}">
                      <a16:creationId xmlns:a16="http://schemas.microsoft.com/office/drawing/2014/main" id="{052AFCE5-F64D-937A-FD5D-158FE800DEBC}"/>
                    </a:ext>
                  </a:extLst>
                </p:cNvPr>
                <p:cNvSpPr/>
                <p:nvPr/>
              </p:nvSpPr>
              <p:spPr>
                <a:xfrm>
                  <a:off x="4205978" y="3218011"/>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16" name="Oval 815">
                  <a:extLst>
                    <a:ext uri="{FF2B5EF4-FFF2-40B4-BE49-F238E27FC236}">
                      <a16:creationId xmlns:a16="http://schemas.microsoft.com/office/drawing/2014/main" id="{DB4248F3-E993-618B-4F0E-FA19FA5DF5B9}"/>
                    </a:ext>
                  </a:extLst>
                </p:cNvPr>
                <p:cNvSpPr/>
                <p:nvPr/>
              </p:nvSpPr>
              <p:spPr>
                <a:xfrm>
                  <a:off x="4852574" y="3269455"/>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17" name="Oval 816">
                  <a:extLst>
                    <a:ext uri="{FF2B5EF4-FFF2-40B4-BE49-F238E27FC236}">
                      <a16:creationId xmlns:a16="http://schemas.microsoft.com/office/drawing/2014/main" id="{163039A9-47B7-1E0F-F5DC-FE4650D16555}"/>
                    </a:ext>
                  </a:extLst>
                </p:cNvPr>
                <p:cNvSpPr/>
                <p:nvPr/>
              </p:nvSpPr>
              <p:spPr>
                <a:xfrm>
                  <a:off x="5553052" y="3063681"/>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18" name="Oval 817">
                  <a:extLst>
                    <a:ext uri="{FF2B5EF4-FFF2-40B4-BE49-F238E27FC236}">
                      <a16:creationId xmlns:a16="http://schemas.microsoft.com/office/drawing/2014/main" id="{4B3DF6B9-75C0-D0D4-4126-B55477BDC0C9}"/>
                    </a:ext>
                  </a:extLst>
                </p:cNvPr>
                <p:cNvSpPr/>
                <p:nvPr/>
              </p:nvSpPr>
              <p:spPr>
                <a:xfrm>
                  <a:off x="3128319" y="3732445"/>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19" name="Oval 818">
                  <a:extLst>
                    <a:ext uri="{FF2B5EF4-FFF2-40B4-BE49-F238E27FC236}">
                      <a16:creationId xmlns:a16="http://schemas.microsoft.com/office/drawing/2014/main" id="{7CA0A447-0020-9CE1-DFCC-10A0CAE31269}"/>
                    </a:ext>
                  </a:extLst>
                </p:cNvPr>
                <p:cNvSpPr/>
                <p:nvPr/>
              </p:nvSpPr>
              <p:spPr>
                <a:xfrm>
                  <a:off x="3559383" y="3732445"/>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20" name="Oval 819">
                  <a:extLst>
                    <a:ext uri="{FF2B5EF4-FFF2-40B4-BE49-F238E27FC236}">
                      <a16:creationId xmlns:a16="http://schemas.microsoft.com/office/drawing/2014/main" id="{8465EE14-9986-8548-A7C3-5EA7D9F2FF43}"/>
                    </a:ext>
                  </a:extLst>
                </p:cNvPr>
                <p:cNvSpPr/>
                <p:nvPr/>
              </p:nvSpPr>
              <p:spPr>
                <a:xfrm>
                  <a:off x="4205978" y="3783889"/>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21" name="Oval 820">
                  <a:extLst>
                    <a:ext uri="{FF2B5EF4-FFF2-40B4-BE49-F238E27FC236}">
                      <a16:creationId xmlns:a16="http://schemas.microsoft.com/office/drawing/2014/main" id="{5DAECCCE-8572-9FA4-F050-E8DF0E576C32}"/>
                    </a:ext>
                  </a:extLst>
                </p:cNvPr>
                <p:cNvSpPr/>
                <p:nvPr/>
              </p:nvSpPr>
              <p:spPr>
                <a:xfrm>
                  <a:off x="4960339" y="3629558"/>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22" name="Oval 821">
                  <a:extLst>
                    <a:ext uri="{FF2B5EF4-FFF2-40B4-BE49-F238E27FC236}">
                      <a16:creationId xmlns:a16="http://schemas.microsoft.com/office/drawing/2014/main" id="{A942F916-5CAB-B610-782D-574AF14B1AAD}"/>
                    </a:ext>
                  </a:extLst>
                </p:cNvPr>
                <p:cNvSpPr/>
                <p:nvPr/>
              </p:nvSpPr>
              <p:spPr>
                <a:xfrm>
                  <a:off x="5606935" y="3783889"/>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23" name="Oval 822">
                  <a:extLst>
                    <a:ext uri="{FF2B5EF4-FFF2-40B4-BE49-F238E27FC236}">
                      <a16:creationId xmlns:a16="http://schemas.microsoft.com/office/drawing/2014/main" id="{4AD0DCAF-33B4-46B3-13CB-A759867DB4AB}"/>
                    </a:ext>
                  </a:extLst>
                </p:cNvPr>
                <p:cNvSpPr/>
                <p:nvPr/>
              </p:nvSpPr>
              <p:spPr>
                <a:xfrm>
                  <a:off x="3182202" y="4349766"/>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dirty="0"/>
                </a:p>
              </p:txBody>
            </p:sp>
            <p:sp>
              <p:nvSpPr>
                <p:cNvPr id="824" name="Oval 823">
                  <a:extLst>
                    <a:ext uri="{FF2B5EF4-FFF2-40B4-BE49-F238E27FC236}">
                      <a16:creationId xmlns:a16="http://schemas.microsoft.com/office/drawing/2014/main" id="{D23ECE0B-1731-7E2D-084F-9525600A0BCA}"/>
                    </a:ext>
                  </a:extLst>
                </p:cNvPr>
                <p:cNvSpPr/>
                <p:nvPr/>
              </p:nvSpPr>
              <p:spPr>
                <a:xfrm>
                  <a:off x="3774914" y="4195436"/>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25" name="Oval 824">
                  <a:extLst>
                    <a:ext uri="{FF2B5EF4-FFF2-40B4-BE49-F238E27FC236}">
                      <a16:creationId xmlns:a16="http://schemas.microsoft.com/office/drawing/2014/main" id="{76F7354F-D564-C738-53F3-B7B27330B34E}"/>
                    </a:ext>
                  </a:extLst>
                </p:cNvPr>
                <p:cNvSpPr/>
                <p:nvPr/>
              </p:nvSpPr>
              <p:spPr>
                <a:xfrm>
                  <a:off x="4367627" y="4246879"/>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26" name="Oval 825">
                  <a:extLst>
                    <a:ext uri="{FF2B5EF4-FFF2-40B4-BE49-F238E27FC236}">
                      <a16:creationId xmlns:a16="http://schemas.microsoft.com/office/drawing/2014/main" id="{BDE4B5E4-5261-CCEF-61F5-8BAEC7ED6415}"/>
                    </a:ext>
                  </a:extLst>
                </p:cNvPr>
                <p:cNvSpPr/>
                <p:nvPr/>
              </p:nvSpPr>
              <p:spPr>
                <a:xfrm>
                  <a:off x="4906457" y="4246879"/>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dirty="0"/>
                </a:p>
              </p:txBody>
            </p:sp>
            <p:sp>
              <p:nvSpPr>
                <p:cNvPr id="827" name="Oval 826">
                  <a:extLst>
                    <a:ext uri="{FF2B5EF4-FFF2-40B4-BE49-F238E27FC236}">
                      <a16:creationId xmlns:a16="http://schemas.microsoft.com/office/drawing/2014/main" id="{DCBC1E91-5BB3-EEF7-E3EE-F75B207A8E1B}"/>
                    </a:ext>
                  </a:extLst>
                </p:cNvPr>
                <p:cNvSpPr/>
                <p:nvPr/>
              </p:nvSpPr>
              <p:spPr>
                <a:xfrm>
                  <a:off x="5499169" y="4246879"/>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28" name="Star: 5 Points 827">
                  <a:extLst>
                    <a:ext uri="{FF2B5EF4-FFF2-40B4-BE49-F238E27FC236}">
                      <a16:creationId xmlns:a16="http://schemas.microsoft.com/office/drawing/2014/main" id="{955E7557-5D73-2BE8-669A-B9082F5E1C63}"/>
                    </a:ext>
                  </a:extLst>
                </p:cNvPr>
                <p:cNvSpPr/>
                <p:nvPr/>
              </p:nvSpPr>
              <p:spPr>
                <a:xfrm>
                  <a:off x="3357821" y="2233397"/>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29" name="Star: 5 Points 828">
                  <a:extLst>
                    <a:ext uri="{FF2B5EF4-FFF2-40B4-BE49-F238E27FC236}">
                      <a16:creationId xmlns:a16="http://schemas.microsoft.com/office/drawing/2014/main" id="{91C69012-85DC-261B-A5F7-388A04C3DE44}"/>
                    </a:ext>
                  </a:extLst>
                </p:cNvPr>
                <p:cNvSpPr/>
                <p:nvPr/>
              </p:nvSpPr>
              <p:spPr>
                <a:xfrm>
                  <a:off x="3974999" y="2232034"/>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30" name="Star: 5 Points 829">
                  <a:extLst>
                    <a:ext uri="{FF2B5EF4-FFF2-40B4-BE49-F238E27FC236}">
                      <a16:creationId xmlns:a16="http://schemas.microsoft.com/office/drawing/2014/main" id="{68B80462-232C-70E9-5006-6410FB27CC0D}"/>
                    </a:ext>
                  </a:extLst>
                </p:cNvPr>
                <p:cNvSpPr/>
                <p:nvPr/>
              </p:nvSpPr>
              <p:spPr>
                <a:xfrm>
                  <a:off x="4586760" y="2230671"/>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31" name="Star: 5 Points 830">
                  <a:extLst>
                    <a:ext uri="{FF2B5EF4-FFF2-40B4-BE49-F238E27FC236}">
                      <a16:creationId xmlns:a16="http://schemas.microsoft.com/office/drawing/2014/main" id="{2BFA63FB-27B0-60CE-0783-DE486371A8B4}"/>
                    </a:ext>
                  </a:extLst>
                </p:cNvPr>
                <p:cNvSpPr/>
                <p:nvPr/>
              </p:nvSpPr>
              <p:spPr>
                <a:xfrm>
                  <a:off x="5209353" y="2229308"/>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32" name="Star: 5 Points 831">
                  <a:extLst>
                    <a:ext uri="{FF2B5EF4-FFF2-40B4-BE49-F238E27FC236}">
                      <a16:creationId xmlns:a16="http://schemas.microsoft.com/office/drawing/2014/main" id="{6A7847D3-D98D-50E9-F1F5-138983F545C0}"/>
                    </a:ext>
                  </a:extLst>
                </p:cNvPr>
                <p:cNvSpPr/>
                <p:nvPr/>
              </p:nvSpPr>
              <p:spPr>
                <a:xfrm>
                  <a:off x="3359326" y="2814972"/>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33" name="Star: 5 Points 832">
                  <a:extLst>
                    <a:ext uri="{FF2B5EF4-FFF2-40B4-BE49-F238E27FC236}">
                      <a16:creationId xmlns:a16="http://schemas.microsoft.com/office/drawing/2014/main" id="{BE87916E-80AA-CCEB-5B09-E1DB7897BE75}"/>
                    </a:ext>
                  </a:extLst>
                </p:cNvPr>
                <p:cNvSpPr/>
                <p:nvPr/>
              </p:nvSpPr>
              <p:spPr>
                <a:xfrm>
                  <a:off x="3965674" y="2813609"/>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34" name="Star: 5 Points 833">
                  <a:extLst>
                    <a:ext uri="{FF2B5EF4-FFF2-40B4-BE49-F238E27FC236}">
                      <a16:creationId xmlns:a16="http://schemas.microsoft.com/office/drawing/2014/main" id="{19B7A14A-37F6-1D1F-288B-56DC244C9EA3}"/>
                    </a:ext>
                  </a:extLst>
                </p:cNvPr>
                <p:cNvSpPr/>
                <p:nvPr/>
              </p:nvSpPr>
              <p:spPr>
                <a:xfrm>
                  <a:off x="4582852" y="2817416"/>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35" name="Star: 5 Points 834">
                  <a:extLst>
                    <a:ext uri="{FF2B5EF4-FFF2-40B4-BE49-F238E27FC236}">
                      <a16:creationId xmlns:a16="http://schemas.microsoft.com/office/drawing/2014/main" id="{AAE6DA49-1141-8B52-C299-707153904C5A}"/>
                    </a:ext>
                  </a:extLst>
                </p:cNvPr>
                <p:cNvSpPr/>
                <p:nvPr/>
              </p:nvSpPr>
              <p:spPr>
                <a:xfrm>
                  <a:off x="5205445" y="2816053"/>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36" name="Star: 5 Points 835">
                  <a:extLst>
                    <a:ext uri="{FF2B5EF4-FFF2-40B4-BE49-F238E27FC236}">
                      <a16:creationId xmlns:a16="http://schemas.microsoft.com/office/drawing/2014/main" id="{AE872E6D-F768-14AC-06E2-E3C6CB4B8E21}"/>
                    </a:ext>
                  </a:extLst>
                </p:cNvPr>
                <p:cNvSpPr/>
                <p:nvPr/>
              </p:nvSpPr>
              <p:spPr>
                <a:xfrm>
                  <a:off x="3359326" y="3405832"/>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37" name="Star: 5 Points 836">
                  <a:extLst>
                    <a:ext uri="{FF2B5EF4-FFF2-40B4-BE49-F238E27FC236}">
                      <a16:creationId xmlns:a16="http://schemas.microsoft.com/office/drawing/2014/main" id="{C10EAEB2-030B-F622-B6C5-DB520C987494}"/>
                    </a:ext>
                  </a:extLst>
                </p:cNvPr>
                <p:cNvSpPr/>
                <p:nvPr/>
              </p:nvSpPr>
              <p:spPr>
                <a:xfrm>
                  <a:off x="3971089" y="3399299"/>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38" name="Star: 5 Points 837">
                  <a:extLst>
                    <a:ext uri="{FF2B5EF4-FFF2-40B4-BE49-F238E27FC236}">
                      <a16:creationId xmlns:a16="http://schemas.microsoft.com/office/drawing/2014/main" id="{117C6A3A-E289-6CF1-AD61-37AE5A4622F2}"/>
                    </a:ext>
                  </a:extLst>
                </p:cNvPr>
                <p:cNvSpPr/>
                <p:nvPr/>
              </p:nvSpPr>
              <p:spPr>
                <a:xfrm>
                  <a:off x="4588267" y="3403106"/>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39" name="Star: 5 Points 838">
                  <a:extLst>
                    <a:ext uri="{FF2B5EF4-FFF2-40B4-BE49-F238E27FC236}">
                      <a16:creationId xmlns:a16="http://schemas.microsoft.com/office/drawing/2014/main" id="{C2226202-4341-E0C9-8468-364114F5F2A2}"/>
                    </a:ext>
                  </a:extLst>
                </p:cNvPr>
                <p:cNvSpPr/>
                <p:nvPr/>
              </p:nvSpPr>
              <p:spPr>
                <a:xfrm>
                  <a:off x="5205445" y="3406913"/>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40" name="Star: 5 Points 839">
                  <a:extLst>
                    <a:ext uri="{FF2B5EF4-FFF2-40B4-BE49-F238E27FC236}">
                      <a16:creationId xmlns:a16="http://schemas.microsoft.com/office/drawing/2014/main" id="{901B2B88-5083-C620-CBAC-C1DFA16F87A2}"/>
                    </a:ext>
                  </a:extLst>
                </p:cNvPr>
                <p:cNvSpPr/>
                <p:nvPr/>
              </p:nvSpPr>
              <p:spPr>
                <a:xfrm>
                  <a:off x="3359326" y="3988780"/>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41" name="Star: 5 Points 840">
                  <a:extLst>
                    <a:ext uri="{FF2B5EF4-FFF2-40B4-BE49-F238E27FC236}">
                      <a16:creationId xmlns:a16="http://schemas.microsoft.com/office/drawing/2014/main" id="{88D9465A-E9F1-61BF-5F82-830DFF011A3E}"/>
                    </a:ext>
                  </a:extLst>
                </p:cNvPr>
                <p:cNvSpPr/>
                <p:nvPr/>
              </p:nvSpPr>
              <p:spPr>
                <a:xfrm>
                  <a:off x="3971089" y="3982247"/>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42" name="Star: 5 Points 841">
                  <a:extLst>
                    <a:ext uri="{FF2B5EF4-FFF2-40B4-BE49-F238E27FC236}">
                      <a16:creationId xmlns:a16="http://schemas.microsoft.com/office/drawing/2014/main" id="{C8F3B708-1DD1-700C-BF51-622168B20B0C}"/>
                    </a:ext>
                  </a:extLst>
                </p:cNvPr>
                <p:cNvSpPr/>
                <p:nvPr/>
              </p:nvSpPr>
              <p:spPr>
                <a:xfrm>
                  <a:off x="4588267" y="3986054"/>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843" name="Star: 5 Points 842">
                  <a:extLst>
                    <a:ext uri="{FF2B5EF4-FFF2-40B4-BE49-F238E27FC236}">
                      <a16:creationId xmlns:a16="http://schemas.microsoft.com/office/drawing/2014/main" id="{F21B0EFC-3B30-9861-137C-45F86EA64EDA}"/>
                    </a:ext>
                  </a:extLst>
                </p:cNvPr>
                <p:cNvSpPr/>
                <p:nvPr/>
              </p:nvSpPr>
              <p:spPr>
                <a:xfrm>
                  <a:off x="5205444" y="3984690"/>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grpSp>
          <p:sp>
            <p:nvSpPr>
              <p:cNvPr id="653" name="TextBox 652">
                <a:extLst>
                  <a:ext uri="{FF2B5EF4-FFF2-40B4-BE49-F238E27FC236}">
                    <a16:creationId xmlns:a16="http://schemas.microsoft.com/office/drawing/2014/main" id="{3403B936-BEDF-FDFA-B719-4F4AFC56152B}"/>
                  </a:ext>
                </a:extLst>
              </p:cNvPr>
              <p:cNvSpPr txBox="1"/>
              <p:nvPr/>
            </p:nvSpPr>
            <p:spPr>
              <a:xfrm flipH="1">
                <a:off x="1241705" y="11248753"/>
                <a:ext cx="3472268" cy="506646"/>
              </a:xfrm>
              <a:prstGeom prst="rect">
                <a:avLst/>
              </a:prstGeom>
              <a:noFill/>
            </p:spPr>
            <p:txBody>
              <a:bodyPr wrap="none" rtlCol="0" anchor="ctr">
                <a:noAutofit/>
              </a:bodyPr>
              <a:lstStyle/>
              <a:p>
                <a:pPr algn="ctr"/>
                <a:r>
                  <a:rPr lang="en-GB" sz="2000" dirty="0">
                    <a:latin typeface="Arial" panose="020B0604020202020204" pitchFamily="34" charset="0"/>
                    <a:cs typeface="Arial" panose="020B0604020202020204" pitchFamily="34" charset="0"/>
                  </a:rPr>
                  <a:t>Operation (non-flat DM2)</a:t>
                </a:r>
              </a:p>
            </p:txBody>
          </p:sp>
        </p:grpSp>
        <p:grpSp>
          <p:nvGrpSpPr>
            <p:cNvPr id="3" name="Group 2">
              <a:extLst>
                <a:ext uri="{FF2B5EF4-FFF2-40B4-BE49-F238E27FC236}">
                  <a16:creationId xmlns:a16="http://schemas.microsoft.com/office/drawing/2014/main" id="{38369659-934A-5401-ED01-51FEE0F07622}"/>
                </a:ext>
              </a:extLst>
            </p:cNvPr>
            <p:cNvGrpSpPr/>
            <p:nvPr/>
          </p:nvGrpSpPr>
          <p:grpSpPr>
            <a:xfrm>
              <a:off x="4831762" y="16952332"/>
              <a:ext cx="2505826" cy="2765647"/>
              <a:chOff x="1168054" y="11237209"/>
              <a:chExt cx="3553722" cy="4204095"/>
            </a:xfrm>
          </p:grpSpPr>
          <p:grpSp>
            <p:nvGrpSpPr>
              <p:cNvPr id="4" name="Group 3">
                <a:extLst>
                  <a:ext uri="{FF2B5EF4-FFF2-40B4-BE49-F238E27FC236}">
                    <a16:creationId xmlns:a16="http://schemas.microsoft.com/office/drawing/2014/main" id="{412F44DD-9B02-6282-999A-725E734F34AF}"/>
                  </a:ext>
                </a:extLst>
              </p:cNvPr>
              <p:cNvGrpSpPr/>
              <p:nvPr/>
            </p:nvGrpSpPr>
            <p:grpSpPr>
              <a:xfrm>
                <a:off x="1168054" y="11862487"/>
                <a:ext cx="3553722" cy="3578817"/>
                <a:chOff x="3074436" y="1958838"/>
                <a:chExt cx="2659219" cy="2556752"/>
              </a:xfrm>
            </p:grpSpPr>
            <p:sp>
              <p:nvSpPr>
                <p:cNvPr id="9" name="Rectangle 8">
                  <a:extLst>
                    <a:ext uri="{FF2B5EF4-FFF2-40B4-BE49-F238E27FC236}">
                      <a16:creationId xmlns:a16="http://schemas.microsoft.com/office/drawing/2014/main" id="{8A513ACE-30E2-06B5-961D-0C7DA6479B2F}"/>
                    </a:ext>
                  </a:extLst>
                </p:cNvPr>
                <p:cNvSpPr/>
                <p:nvPr/>
              </p:nvSpPr>
              <p:spPr>
                <a:xfrm>
                  <a:off x="3172408" y="2062071"/>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13" name="Rectangle 12">
                  <a:extLst>
                    <a:ext uri="{FF2B5EF4-FFF2-40B4-BE49-F238E27FC236}">
                      <a16:creationId xmlns:a16="http://schemas.microsoft.com/office/drawing/2014/main" id="{B6D06E25-23BD-021E-DB99-6FBD2A9AA166}"/>
                    </a:ext>
                  </a:extLst>
                </p:cNvPr>
                <p:cNvSpPr/>
                <p:nvPr/>
              </p:nvSpPr>
              <p:spPr>
                <a:xfrm>
                  <a:off x="3788227" y="2062071"/>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15" name="Rectangle 14">
                  <a:extLst>
                    <a:ext uri="{FF2B5EF4-FFF2-40B4-BE49-F238E27FC236}">
                      <a16:creationId xmlns:a16="http://schemas.microsoft.com/office/drawing/2014/main" id="{FFCEFB84-8C3A-9F44-40F8-2CA91A176251}"/>
                    </a:ext>
                  </a:extLst>
                </p:cNvPr>
                <p:cNvSpPr/>
                <p:nvPr/>
              </p:nvSpPr>
              <p:spPr>
                <a:xfrm>
                  <a:off x="4404046" y="2062071"/>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16" name="Rectangle 15">
                  <a:extLst>
                    <a:ext uri="{FF2B5EF4-FFF2-40B4-BE49-F238E27FC236}">
                      <a16:creationId xmlns:a16="http://schemas.microsoft.com/office/drawing/2014/main" id="{B76A49CA-C88C-3C55-D86D-5B58571214DA}"/>
                    </a:ext>
                  </a:extLst>
                </p:cNvPr>
                <p:cNvSpPr/>
                <p:nvPr/>
              </p:nvSpPr>
              <p:spPr>
                <a:xfrm>
                  <a:off x="5019865" y="2062071"/>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17" name="Rectangle 16">
                  <a:extLst>
                    <a:ext uri="{FF2B5EF4-FFF2-40B4-BE49-F238E27FC236}">
                      <a16:creationId xmlns:a16="http://schemas.microsoft.com/office/drawing/2014/main" id="{F13D4A1D-D47B-2A7B-2987-BB4FB2BD18E4}"/>
                    </a:ext>
                  </a:extLst>
                </p:cNvPr>
                <p:cNvSpPr/>
                <p:nvPr/>
              </p:nvSpPr>
              <p:spPr>
                <a:xfrm>
                  <a:off x="3172408" y="2649904"/>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18" name="Rectangle 17">
                  <a:extLst>
                    <a:ext uri="{FF2B5EF4-FFF2-40B4-BE49-F238E27FC236}">
                      <a16:creationId xmlns:a16="http://schemas.microsoft.com/office/drawing/2014/main" id="{59C58701-F5FB-EA9C-BEB8-11B81F7F26F5}"/>
                    </a:ext>
                  </a:extLst>
                </p:cNvPr>
                <p:cNvSpPr/>
                <p:nvPr/>
              </p:nvSpPr>
              <p:spPr>
                <a:xfrm>
                  <a:off x="3788227" y="2649904"/>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19" name="Rectangle 18">
                  <a:extLst>
                    <a:ext uri="{FF2B5EF4-FFF2-40B4-BE49-F238E27FC236}">
                      <a16:creationId xmlns:a16="http://schemas.microsoft.com/office/drawing/2014/main" id="{CB8ADD16-F474-734E-978F-4F8FC5ADFD43}"/>
                    </a:ext>
                  </a:extLst>
                </p:cNvPr>
                <p:cNvSpPr/>
                <p:nvPr/>
              </p:nvSpPr>
              <p:spPr>
                <a:xfrm>
                  <a:off x="4404046" y="2649904"/>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20" name="Rectangle 19">
                  <a:extLst>
                    <a:ext uri="{FF2B5EF4-FFF2-40B4-BE49-F238E27FC236}">
                      <a16:creationId xmlns:a16="http://schemas.microsoft.com/office/drawing/2014/main" id="{E274AB3B-9FEF-8C16-ADD2-5400095F46FB}"/>
                    </a:ext>
                  </a:extLst>
                </p:cNvPr>
                <p:cNvSpPr/>
                <p:nvPr/>
              </p:nvSpPr>
              <p:spPr>
                <a:xfrm>
                  <a:off x="5019865" y="2649904"/>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21" name="Rectangle 20">
                  <a:extLst>
                    <a:ext uri="{FF2B5EF4-FFF2-40B4-BE49-F238E27FC236}">
                      <a16:creationId xmlns:a16="http://schemas.microsoft.com/office/drawing/2014/main" id="{6F06AC8C-64C5-D510-A26E-D21C131124AE}"/>
                    </a:ext>
                  </a:extLst>
                </p:cNvPr>
                <p:cNvSpPr/>
                <p:nvPr/>
              </p:nvSpPr>
              <p:spPr>
                <a:xfrm>
                  <a:off x="3172408" y="3237737"/>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22" name="Rectangle 21">
                  <a:extLst>
                    <a:ext uri="{FF2B5EF4-FFF2-40B4-BE49-F238E27FC236}">
                      <a16:creationId xmlns:a16="http://schemas.microsoft.com/office/drawing/2014/main" id="{1654F8BD-397A-8FAB-7FEF-30B4C0071721}"/>
                    </a:ext>
                  </a:extLst>
                </p:cNvPr>
                <p:cNvSpPr/>
                <p:nvPr/>
              </p:nvSpPr>
              <p:spPr>
                <a:xfrm>
                  <a:off x="3788227" y="3237737"/>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24" name="Rectangle 23">
                  <a:extLst>
                    <a:ext uri="{FF2B5EF4-FFF2-40B4-BE49-F238E27FC236}">
                      <a16:creationId xmlns:a16="http://schemas.microsoft.com/office/drawing/2014/main" id="{30451F68-C7DE-F687-3A2D-FFEC6BE50E44}"/>
                    </a:ext>
                  </a:extLst>
                </p:cNvPr>
                <p:cNvSpPr/>
                <p:nvPr/>
              </p:nvSpPr>
              <p:spPr>
                <a:xfrm>
                  <a:off x="4404046" y="3237737"/>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25" name="Rectangle 24">
                  <a:extLst>
                    <a:ext uri="{FF2B5EF4-FFF2-40B4-BE49-F238E27FC236}">
                      <a16:creationId xmlns:a16="http://schemas.microsoft.com/office/drawing/2014/main" id="{711A3AB0-59B8-D0FD-8A9E-B6571751815A}"/>
                    </a:ext>
                  </a:extLst>
                </p:cNvPr>
                <p:cNvSpPr/>
                <p:nvPr/>
              </p:nvSpPr>
              <p:spPr>
                <a:xfrm>
                  <a:off x="5019865" y="3237737"/>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26" name="Rectangle 25">
                  <a:extLst>
                    <a:ext uri="{FF2B5EF4-FFF2-40B4-BE49-F238E27FC236}">
                      <a16:creationId xmlns:a16="http://schemas.microsoft.com/office/drawing/2014/main" id="{53101C31-7D15-DB91-4A99-78515670103F}"/>
                    </a:ext>
                  </a:extLst>
                </p:cNvPr>
                <p:cNvSpPr/>
                <p:nvPr/>
              </p:nvSpPr>
              <p:spPr>
                <a:xfrm>
                  <a:off x="3172408" y="3825570"/>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27" name="Rectangle 26">
                  <a:extLst>
                    <a:ext uri="{FF2B5EF4-FFF2-40B4-BE49-F238E27FC236}">
                      <a16:creationId xmlns:a16="http://schemas.microsoft.com/office/drawing/2014/main" id="{A04E6C07-47DD-B10E-DECF-9B4A833D3A68}"/>
                    </a:ext>
                  </a:extLst>
                </p:cNvPr>
                <p:cNvSpPr/>
                <p:nvPr/>
              </p:nvSpPr>
              <p:spPr>
                <a:xfrm>
                  <a:off x="3788227" y="3825570"/>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28" name="Rectangle 27">
                  <a:extLst>
                    <a:ext uri="{FF2B5EF4-FFF2-40B4-BE49-F238E27FC236}">
                      <a16:creationId xmlns:a16="http://schemas.microsoft.com/office/drawing/2014/main" id="{2B28F9DE-A256-16AA-7A71-B1BFEBCDE40D}"/>
                    </a:ext>
                  </a:extLst>
                </p:cNvPr>
                <p:cNvSpPr/>
                <p:nvPr/>
              </p:nvSpPr>
              <p:spPr>
                <a:xfrm>
                  <a:off x="4404046" y="3825570"/>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29" name="Rectangle 28">
                  <a:extLst>
                    <a:ext uri="{FF2B5EF4-FFF2-40B4-BE49-F238E27FC236}">
                      <a16:creationId xmlns:a16="http://schemas.microsoft.com/office/drawing/2014/main" id="{615A5650-49A5-AE44-B896-26BE8ACBFB2C}"/>
                    </a:ext>
                  </a:extLst>
                </p:cNvPr>
                <p:cNvSpPr/>
                <p:nvPr/>
              </p:nvSpPr>
              <p:spPr>
                <a:xfrm>
                  <a:off x="5019865" y="3825570"/>
                  <a:ext cx="615819" cy="587833"/>
                </a:xfrm>
                <a:prstGeom prst="rect">
                  <a:avLst/>
                </a:prstGeom>
                <a:noFill/>
                <a:ln w="285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31" name="Oval 30">
                  <a:extLst>
                    <a:ext uri="{FF2B5EF4-FFF2-40B4-BE49-F238E27FC236}">
                      <a16:creationId xmlns:a16="http://schemas.microsoft.com/office/drawing/2014/main" id="{7D105CAB-B279-574A-7DC4-E6F8BD8F027A}"/>
                    </a:ext>
                  </a:extLst>
                </p:cNvPr>
                <p:cNvSpPr/>
                <p:nvPr/>
              </p:nvSpPr>
              <p:spPr>
                <a:xfrm>
                  <a:off x="3074436" y="1958838"/>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32" name="Oval 31">
                  <a:extLst>
                    <a:ext uri="{FF2B5EF4-FFF2-40B4-BE49-F238E27FC236}">
                      <a16:creationId xmlns:a16="http://schemas.microsoft.com/office/drawing/2014/main" id="{E27CA80D-751F-9EE3-3F99-F1634332CBEF}"/>
                    </a:ext>
                  </a:extLst>
                </p:cNvPr>
                <p:cNvSpPr/>
                <p:nvPr/>
              </p:nvSpPr>
              <p:spPr>
                <a:xfrm>
                  <a:off x="3690255" y="1958838"/>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34" name="Oval 33">
                  <a:extLst>
                    <a:ext uri="{FF2B5EF4-FFF2-40B4-BE49-F238E27FC236}">
                      <a16:creationId xmlns:a16="http://schemas.microsoft.com/office/drawing/2014/main" id="{2149761C-A1DE-C3CC-A24C-07931B3F1024}"/>
                    </a:ext>
                  </a:extLst>
                </p:cNvPr>
                <p:cNvSpPr/>
                <p:nvPr/>
              </p:nvSpPr>
              <p:spPr>
                <a:xfrm>
                  <a:off x="4306074" y="1958838"/>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35" name="Oval 34">
                  <a:extLst>
                    <a:ext uri="{FF2B5EF4-FFF2-40B4-BE49-F238E27FC236}">
                      <a16:creationId xmlns:a16="http://schemas.microsoft.com/office/drawing/2014/main" id="{043F8DFD-9D77-8988-1CD0-163A86A936C1}"/>
                    </a:ext>
                  </a:extLst>
                </p:cNvPr>
                <p:cNvSpPr/>
                <p:nvPr/>
              </p:nvSpPr>
              <p:spPr>
                <a:xfrm>
                  <a:off x="4921893" y="1958838"/>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36" name="Oval 35">
                  <a:extLst>
                    <a:ext uri="{FF2B5EF4-FFF2-40B4-BE49-F238E27FC236}">
                      <a16:creationId xmlns:a16="http://schemas.microsoft.com/office/drawing/2014/main" id="{EA1467CD-17A2-C9C6-B099-AA13E43FCB11}"/>
                    </a:ext>
                  </a:extLst>
                </p:cNvPr>
                <p:cNvSpPr/>
                <p:nvPr/>
              </p:nvSpPr>
              <p:spPr>
                <a:xfrm>
                  <a:off x="5537712" y="1958838"/>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37" name="Oval 36">
                  <a:extLst>
                    <a:ext uri="{FF2B5EF4-FFF2-40B4-BE49-F238E27FC236}">
                      <a16:creationId xmlns:a16="http://schemas.microsoft.com/office/drawing/2014/main" id="{7EA84FD5-E8AD-41B3-2347-4EB29BDBA176}"/>
                    </a:ext>
                  </a:extLst>
                </p:cNvPr>
                <p:cNvSpPr/>
                <p:nvPr/>
              </p:nvSpPr>
              <p:spPr>
                <a:xfrm>
                  <a:off x="3074436" y="2561874"/>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38" name="Oval 37">
                  <a:extLst>
                    <a:ext uri="{FF2B5EF4-FFF2-40B4-BE49-F238E27FC236}">
                      <a16:creationId xmlns:a16="http://schemas.microsoft.com/office/drawing/2014/main" id="{7B61FD7C-B24E-6AB0-ECAE-D13CDC11641A}"/>
                    </a:ext>
                  </a:extLst>
                </p:cNvPr>
                <p:cNvSpPr/>
                <p:nvPr/>
              </p:nvSpPr>
              <p:spPr>
                <a:xfrm>
                  <a:off x="3690255" y="2561874"/>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40" name="Oval 39">
                  <a:extLst>
                    <a:ext uri="{FF2B5EF4-FFF2-40B4-BE49-F238E27FC236}">
                      <a16:creationId xmlns:a16="http://schemas.microsoft.com/office/drawing/2014/main" id="{B3A1B82B-9C3A-3E5D-D8AB-67BBF024892F}"/>
                    </a:ext>
                  </a:extLst>
                </p:cNvPr>
                <p:cNvSpPr/>
                <p:nvPr/>
              </p:nvSpPr>
              <p:spPr>
                <a:xfrm>
                  <a:off x="4306074" y="2561874"/>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41" name="Oval 40">
                  <a:extLst>
                    <a:ext uri="{FF2B5EF4-FFF2-40B4-BE49-F238E27FC236}">
                      <a16:creationId xmlns:a16="http://schemas.microsoft.com/office/drawing/2014/main" id="{684B401B-8923-1261-CD17-531D71397E85}"/>
                    </a:ext>
                  </a:extLst>
                </p:cNvPr>
                <p:cNvSpPr/>
                <p:nvPr/>
              </p:nvSpPr>
              <p:spPr>
                <a:xfrm>
                  <a:off x="4921893" y="2561874"/>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42" name="Oval 41">
                  <a:extLst>
                    <a:ext uri="{FF2B5EF4-FFF2-40B4-BE49-F238E27FC236}">
                      <a16:creationId xmlns:a16="http://schemas.microsoft.com/office/drawing/2014/main" id="{DBC6B097-D05B-C5C7-3061-440E74F7283F}"/>
                    </a:ext>
                  </a:extLst>
                </p:cNvPr>
                <p:cNvSpPr/>
                <p:nvPr/>
              </p:nvSpPr>
              <p:spPr>
                <a:xfrm>
                  <a:off x="5537712" y="2561874"/>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43" name="Oval 42">
                  <a:extLst>
                    <a:ext uri="{FF2B5EF4-FFF2-40B4-BE49-F238E27FC236}">
                      <a16:creationId xmlns:a16="http://schemas.microsoft.com/office/drawing/2014/main" id="{1EB35686-77A7-77E5-C5F4-F7216B3C4357}"/>
                    </a:ext>
                  </a:extLst>
                </p:cNvPr>
                <p:cNvSpPr/>
                <p:nvPr/>
              </p:nvSpPr>
              <p:spPr>
                <a:xfrm>
                  <a:off x="3074436" y="3164910"/>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44" name="Oval 43">
                  <a:extLst>
                    <a:ext uri="{FF2B5EF4-FFF2-40B4-BE49-F238E27FC236}">
                      <a16:creationId xmlns:a16="http://schemas.microsoft.com/office/drawing/2014/main" id="{2A802A1B-B275-6472-8597-7B0FEB50EEC8}"/>
                    </a:ext>
                  </a:extLst>
                </p:cNvPr>
                <p:cNvSpPr/>
                <p:nvPr/>
              </p:nvSpPr>
              <p:spPr>
                <a:xfrm>
                  <a:off x="3690255" y="3164910"/>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45" name="Oval 44">
                  <a:extLst>
                    <a:ext uri="{FF2B5EF4-FFF2-40B4-BE49-F238E27FC236}">
                      <a16:creationId xmlns:a16="http://schemas.microsoft.com/office/drawing/2014/main" id="{3066D4AC-F049-4082-F7DE-04976EE0F6FC}"/>
                    </a:ext>
                  </a:extLst>
                </p:cNvPr>
                <p:cNvSpPr/>
                <p:nvPr/>
              </p:nvSpPr>
              <p:spPr>
                <a:xfrm>
                  <a:off x="4306074" y="3164910"/>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46" name="Oval 45">
                  <a:extLst>
                    <a:ext uri="{FF2B5EF4-FFF2-40B4-BE49-F238E27FC236}">
                      <a16:creationId xmlns:a16="http://schemas.microsoft.com/office/drawing/2014/main" id="{19893876-A951-52C7-6B8C-77EAAA37B404}"/>
                    </a:ext>
                  </a:extLst>
                </p:cNvPr>
                <p:cNvSpPr/>
                <p:nvPr/>
              </p:nvSpPr>
              <p:spPr>
                <a:xfrm>
                  <a:off x="4921893" y="3164910"/>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47" name="Oval 46">
                  <a:extLst>
                    <a:ext uri="{FF2B5EF4-FFF2-40B4-BE49-F238E27FC236}">
                      <a16:creationId xmlns:a16="http://schemas.microsoft.com/office/drawing/2014/main" id="{F6C0C03B-F2D4-BC6B-B046-0597606ECC90}"/>
                    </a:ext>
                  </a:extLst>
                </p:cNvPr>
                <p:cNvSpPr/>
                <p:nvPr/>
              </p:nvSpPr>
              <p:spPr>
                <a:xfrm>
                  <a:off x="5537712" y="3164910"/>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48" name="Oval 47">
                  <a:extLst>
                    <a:ext uri="{FF2B5EF4-FFF2-40B4-BE49-F238E27FC236}">
                      <a16:creationId xmlns:a16="http://schemas.microsoft.com/office/drawing/2014/main" id="{D6D518EF-8E41-2543-BDCA-05B976395DD8}"/>
                    </a:ext>
                  </a:extLst>
                </p:cNvPr>
                <p:cNvSpPr/>
                <p:nvPr/>
              </p:nvSpPr>
              <p:spPr>
                <a:xfrm>
                  <a:off x="3074436" y="3739953"/>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50" name="Oval 49">
                  <a:extLst>
                    <a:ext uri="{FF2B5EF4-FFF2-40B4-BE49-F238E27FC236}">
                      <a16:creationId xmlns:a16="http://schemas.microsoft.com/office/drawing/2014/main" id="{1F270D40-F51B-DDA5-675C-DED5156070C4}"/>
                    </a:ext>
                  </a:extLst>
                </p:cNvPr>
                <p:cNvSpPr/>
                <p:nvPr/>
              </p:nvSpPr>
              <p:spPr>
                <a:xfrm>
                  <a:off x="3690255" y="3739953"/>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51" name="Oval 50">
                  <a:extLst>
                    <a:ext uri="{FF2B5EF4-FFF2-40B4-BE49-F238E27FC236}">
                      <a16:creationId xmlns:a16="http://schemas.microsoft.com/office/drawing/2014/main" id="{F968DBDE-F662-C70B-D090-6F03EB25A08D}"/>
                    </a:ext>
                  </a:extLst>
                </p:cNvPr>
                <p:cNvSpPr/>
                <p:nvPr/>
              </p:nvSpPr>
              <p:spPr>
                <a:xfrm>
                  <a:off x="4306074" y="3739953"/>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54" name="Oval 53">
                  <a:extLst>
                    <a:ext uri="{FF2B5EF4-FFF2-40B4-BE49-F238E27FC236}">
                      <a16:creationId xmlns:a16="http://schemas.microsoft.com/office/drawing/2014/main" id="{0A5659D4-4191-CAD9-486A-AFAFA43FFB9C}"/>
                    </a:ext>
                  </a:extLst>
                </p:cNvPr>
                <p:cNvSpPr/>
                <p:nvPr/>
              </p:nvSpPr>
              <p:spPr>
                <a:xfrm>
                  <a:off x="4921893" y="3739953"/>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55" name="Oval 54">
                  <a:extLst>
                    <a:ext uri="{FF2B5EF4-FFF2-40B4-BE49-F238E27FC236}">
                      <a16:creationId xmlns:a16="http://schemas.microsoft.com/office/drawing/2014/main" id="{4C4A95AC-C06C-D2D0-5592-C34FE4A47449}"/>
                    </a:ext>
                  </a:extLst>
                </p:cNvPr>
                <p:cNvSpPr/>
                <p:nvPr/>
              </p:nvSpPr>
              <p:spPr>
                <a:xfrm>
                  <a:off x="5537712" y="3739953"/>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56" name="Oval 55">
                  <a:extLst>
                    <a:ext uri="{FF2B5EF4-FFF2-40B4-BE49-F238E27FC236}">
                      <a16:creationId xmlns:a16="http://schemas.microsoft.com/office/drawing/2014/main" id="{47BC20FD-3CCF-D6BE-AFAB-55C1A19E8DE9}"/>
                    </a:ext>
                  </a:extLst>
                </p:cNvPr>
                <p:cNvSpPr/>
                <p:nvPr/>
              </p:nvSpPr>
              <p:spPr>
                <a:xfrm>
                  <a:off x="3074436" y="4324327"/>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60" name="Oval 59">
                  <a:extLst>
                    <a:ext uri="{FF2B5EF4-FFF2-40B4-BE49-F238E27FC236}">
                      <a16:creationId xmlns:a16="http://schemas.microsoft.com/office/drawing/2014/main" id="{904E47C8-1832-F52C-B4A8-1E8D047FBAAC}"/>
                    </a:ext>
                  </a:extLst>
                </p:cNvPr>
                <p:cNvSpPr/>
                <p:nvPr/>
              </p:nvSpPr>
              <p:spPr>
                <a:xfrm>
                  <a:off x="3690255" y="4324327"/>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61" name="Oval 60">
                  <a:extLst>
                    <a:ext uri="{FF2B5EF4-FFF2-40B4-BE49-F238E27FC236}">
                      <a16:creationId xmlns:a16="http://schemas.microsoft.com/office/drawing/2014/main" id="{63AB7E05-F30F-21E6-B5EA-A106E7DD08DD}"/>
                    </a:ext>
                  </a:extLst>
                </p:cNvPr>
                <p:cNvSpPr/>
                <p:nvPr/>
              </p:nvSpPr>
              <p:spPr>
                <a:xfrm>
                  <a:off x="4306074" y="4324327"/>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62" name="Oval 61">
                  <a:extLst>
                    <a:ext uri="{FF2B5EF4-FFF2-40B4-BE49-F238E27FC236}">
                      <a16:creationId xmlns:a16="http://schemas.microsoft.com/office/drawing/2014/main" id="{DE586221-E19B-623A-E686-92EF1FD5432F}"/>
                    </a:ext>
                  </a:extLst>
                </p:cNvPr>
                <p:cNvSpPr/>
                <p:nvPr/>
              </p:nvSpPr>
              <p:spPr>
                <a:xfrm>
                  <a:off x="4921893" y="4324327"/>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63" name="Oval 62">
                  <a:extLst>
                    <a:ext uri="{FF2B5EF4-FFF2-40B4-BE49-F238E27FC236}">
                      <a16:creationId xmlns:a16="http://schemas.microsoft.com/office/drawing/2014/main" id="{EA4AFC31-26DA-8446-58C0-53351E82E419}"/>
                    </a:ext>
                  </a:extLst>
                </p:cNvPr>
                <p:cNvSpPr/>
                <p:nvPr/>
              </p:nvSpPr>
              <p:spPr>
                <a:xfrm>
                  <a:off x="5537712" y="4324327"/>
                  <a:ext cx="195943" cy="191263"/>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502" name="Star: 5 Points 501">
                  <a:extLst>
                    <a:ext uri="{FF2B5EF4-FFF2-40B4-BE49-F238E27FC236}">
                      <a16:creationId xmlns:a16="http://schemas.microsoft.com/office/drawing/2014/main" id="{F64A1B39-DE4E-4755-88F4-E5F045785981}"/>
                    </a:ext>
                  </a:extLst>
                </p:cNvPr>
                <p:cNvSpPr/>
                <p:nvPr/>
              </p:nvSpPr>
              <p:spPr>
                <a:xfrm>
                  <a:off x="3357821" y="2233397"/>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504" name="Star: 5 Points 503">
                  <a:extLst>
                    <a:ext uri="{FF2B5EF4-FFF2-40B4-BE49-F238E27FC236}">
                      <a16:creationId xmlns:a16="http://schemas.microsoft.com/office/drawing/2014/main" id="{C1B87D3E-2D2A-438A-5F9F-E24C24DD0FF0}"/>
                    </a:ext>
                  </a:extLst>
                </p:cNvPr>
                <p:cNvSpPr/>
                <p:nvPr/>
              </p:nvSpPr>
              <p:spPr>
                <a:xfrm>
                  <a:off x="3974999" y="2232034"/>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505" name="Star: 5 Points 504">
                  <a:extLst>
                    <a:ext uri="{FF2B5EF4-FFF2-40B4-BE49-F238E27FC236}">
                      <a16:creationId xmlns:a16="http://schemas.microsoft.com/office/drawing/2014/main" id="{EDEC6AC2-F5D8-3BE2-2EE5-B3372ABA8E02}"/>
                    </a:ext>
                  </a:extLst>
                </p:cNvPr>
                <p:cNvSpPr/>
                <p:nvPr/>
              </p:nvSpPr>
              <p:spPr>
                <a:xfrm>
                  <a:off x="4586760" y="2230671"/>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506" name="Star: 5 Points 505">
                  <a:extLst>
                    <a:ext uri="{FF2B5EF4-FFF2-40B4-BE49-F238E27FC236}">
                      <a16:creationId xmlns:a16="http://schemas.microsoft.com/office/drawing/2014/main" id="{5026DEFC-C505-3CBF-8B57-113A8DB07F58}"/>
                    </a:ext>
                  </a:extLst>
                </p:cNvPr>
                <p:cNvSpPr/>
                <p:nvPr/>
              </p:nvSpPr>
              <p:spPr>
                <a:xfrm>
                  <a:off x="5209353" y="2229308"/>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507" name="Star: 5 Points 506">
                  <a:extLst>
                    <a:ext uri="{FF2B5EF4-FFF2-40B4-BE49-F238E27FC236}">
                      <a16:creationId xmlns:a16="http://schemas.microsoft.com/office/drawing/2014/main" id="{D6FC5219-23B2-A103-3C0B-D823DB6AD355}"/>
                    </a:ext>
                  </a:extLst>
                </p:cNvPr>
                <p:cNvSpPr/>
                <p:nvPr/>
              </p:nvSpPr>
              <p:spPr>
                <a:xfrm>
                  <a:off x="3359326" y="2814972"/>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508" name="Star: 5 Points 507">
                  <a:extLst>
                    <a:ext uri="{FF2B5EF4-FFF2-40B4-BE49-F238E27FC236}">
                      <a16:creationId xmlns:a16="http://schemas.microsoft.com/office/drawing/2014/main" id="{55E402AE-365A-AEDF-AD24-C356B6460631}"/>
                    </a:ext>
                  </a:extLst>
                </p:cNvPr>
                <p:cNvSpPr/>
                <p:nvPr/>
              </p:nvSpPr>
              <p:spPr>
                <a:xfrm>
                  <a:off x="3965674" y="2813609"/>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509" name="Star: 5 Points 508">
                  <a:extLst>
                    <a:ext uri="{FF2B5EF4-FFF2-40B4-BE49-F238E27FC236}">
                      <a16:creationId xmlns:a16="http://schemas.microsoft.com/office/drawing/2014/main" id="{C5E52256-67AA-159C-B52D-FD84CD5601AF}"/>
                    </a:ext>
                  </a:extLst>
                </p:cNvPr>
                <p:cNvSpPr/>
                <p:nvPr/>
              </p:nvSpPr>
              <p:spPr>
                <a:xfrm>
                  <a:off x="4582852" y="2817416"/>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510" name="Star: 5 Points 509">
                  <a:extLst>
                    <a:ext uri="{FF2B5EF4-FFF2-40B4-BE49-F238E27FC236}">
                      <a16:creationId xmlns:a16="http://schemas.microsoft.com/office/drawing/2014/main" id="{40DBBA93-C301-4F95-B0F0-22D67E71BF94}"/>
                    </a:ext>
                  </a:extLst>
                </p:cNvPr>
                <p:cNvSpPr/>
                <p:nvPr/>
              </p:nvSpPr>
              <p:spPr>
                <a:xfrm>
                  <a:off x="5205445" y="2816053"/>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511" name="Star: 5 Points 510">
                  <a:extLst>
                    <a:ext uri="{FF2B5EF4-FFF2-40B4-BE49-F238E27FC236}">
                      <a16:creationId xmlns:a16="http://schemas.microsoft.com/office/drawing/2014/main" id="{A435AE72-71A5-FF7A-30FA-DD510E12A8EE}"/>
                    </a:ext>
                  </a:extLst>
                </p:cNvPr>
                <p:cNvSpPr/>
                <p:nvPr/>
              </p:nvSpPr>
              <p:spPr>
                <a:xfrm>
                  <a:off x="3359326" y="3405832"/>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65" name="Star: 5 Points 64">
                  <a:extLst>
                    <a:ext uri="{FF2B5EF4-FFF2-40B4-BE49-F238E27FC236}">
                      <a16:creationId xmlns:a16="http://schemas.microsoft.com/office/drawing/2014/main" id="{29B243AC-CEF0-413C-421A-5AEC042DD3E7}"/>
                    </a:ext>
                  </a:extLst>
                </p:cNvPr>
                <p:cNvSpPr/>
                <p:nvPr/>
              </p:nvSpPr>
              <p:spPr>
                <a:xfrm>
                  <a:off x="3971089" y="3399299"/>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90" name="Star: 5 Points 89">
                  <a:extLst>
                    <a:ext uri="{FF2B5EF4-FFF2-40B4-BE49-F238E27FC236}">
                      <a16:creationId xmlns:a16="http://schemas.microsoft.com/office/drawing/2014/main" id="{225BC5FC-42BB-EB61-A8C6-24A40090D2CD}"/>
                    </a:ext>
                  </a:extLst>
                </p:cNvPr>
                <p:cNvSpPr/>
                <p:nvPr/>
              </p:nvSpPr>
              <p:spPr>
                <a:xfrm>
                  <a:off x="4588267" y="3403106"/>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93" name="Star: 5 Points 92">
                  <a:extLst>
                    <a:ext uri="{FF2B5EF4-FFF2-40B4-BE49-F238E27FC236}">
                      <a16:creationId xmlns:a16="http://schemas.microsoft.com/office/drawing/2014/main" id="{0996C5DA-7853-6DFF-7E5E-E0B6ACB9E526}"/>
                    </a:ext>
                  </a:extLst>
                </p:cNvPr>
                <p:cNvSpPr/>
                <p:nvPr/>
              </p:nvSpPr>
              <p:spPr>
                <a:xfrm>
                  <a:off x="5205445" y="3406913"/>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96" name="Star: 5 Points 95">
                  <a:extLst>
                    <a:ext uri="{FF2B5EF4-FFF2-40B4-BE49-F238E27FC236}">
                      <a16:creationId xmlns:a16="http://schemas.microsoft.com/office/drawing/2014/main" id="{F2BF8EB0-F061-B9C7-2349-E4DBF03C446E}"/>
                    </a:ext>
                  </a:extLst>
                </p:cNvPr>
                <p:cNvSpPr/>
                <p:nvPr/>
              </p:nvSpPr>
              <p:spPr>
                <a:xfrm>
                  <a:off x="3359326" y="3988780"/>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100" name="Star: 5 Points 99">
                  <a:extLst>
                    <a:ext uri="{FF2B5EF4-FFF2-40B4-BE49-F238E27FC236}">
                      <a16:creationId xmlns:a16="http://schemas.microsoft.com/office/drawing/2014/main" id="{410E83C5-19DC-14C3-E244-37336EA3E11C}"/>
                    </a:ext>
                  </a:extLst>
                </p:cNvPr>
                <p:cNvSpPr/>
                <p:nvPr/>
              </p:nvSpPr>
              <p:spPr>
                <a:xfrm>
                  <a:off x="3971089" y="3982247"/>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101" name="Star: 5 Points 100">
                  <a:extLst>
                    <a:ext uri="{FF2B5EF4-FFF2-40B4-BE49-F238E27FC236}">
                      <a16:creationId xmlns:a16="http://schemas.microsoft.com/office/drawing/2014/main" id="{35719A2E-2869-961F-FC10-54B8DF83030B}"/>
                    </a:ext>
                  </a:extLst>
                </p:cNvPr>
                <p:cNvSpPr/>
                <p:nvPr/>
              </p:nvSpPr>
              <p:spPr>
                <a:xfrm>
                  <a:off x="4588267" y="3986054"/>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sp>
              <p:nvSpPr>
                <p:cNvPr id="103" name="Star: 5 Points 102">
                  <a:extLst>
                    <a:ext uri="{FF2B5EF4-FFF2-40B4-BE49-F238E27FC236}">
                      <a16:creationId xmlns:a16="http://schemas.microsoft.com/office/drawing/2014/main" id="{66256C3D-98D8-7771-D609-2A5C635B4FBA}"/>
                    </a:ext>
                  </a:extLst>
                </p:cNvPr>
                <p:cNvSpPr/>
                <p:nvPr/>
              </p:nvSpPr>
              <p:spPr>
                <a:xfrm>
                  <a:off x="5205444" y="3984690"/>
                  <a:ext cx="231151" cy="194014"/>
                </a:xfrm>
                <a:prstGeom prst="star5">
                  <a:avLst/>
                </a:prstGeom>
                <a:gradFill>
                  <a:gsLst>
                    <a:gs pos="100000">
                      <a:schemeClr val="accent5"/>
                    </a:gs>
                    <a:gs pos="100000">
                      <a:schemeClr val="accent1">
                        <a:tint val="50000"/>
                        <a:shade val="100000"/>
                        <a:satMod val="350000"/>
                      </a:schemeClr>
                    </a:gs>
                  </a:gsLst>
                </a:gra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GB" sz="2000"/>
                </a:p>
              </p:txBody>
            </p:sp>
          </p:grpSp>
          <p:sp>
            <p:nvSpPr>
              <p:cNvPr id="5" name="TextBox 4">
                <a:extLst>
                  <a:ext uri="{FF2B5EF4-FFF2-40B4-BE49-F238E27FC236}">
                    <a16:creationId xmlns:a16="http://schemas.microsoft.com/office/drawing/2014/main" id="{989CDCD5-60D5-B3EA-B168-C193875E8D3D}"/>
                  </a:ext>
                </a:extLst>
              </p:cNvPr>
              <p:cNvSpPr txBox="1"/>
              <p:nvPr/>
            </p:nvSpPr>
            <p:spPr>
              <a:xfrm flipH="1">
                <a:off x="1652119" y="11237209"/>
                <a:ext cx="2572697" cy="506646"/>
              </a:xfrm>
              <a:prstGeom prst="rect">
                <a:avLst/>
              </a:prstGeom>
              <a:noFill/>
            </p:spPr>
            <p:txBody>
              <a:bodyPr wrap="none" rtlCol="0" anchor="ctr">
                <a:noAutofit/>
              </a:bodyPr>
              <a:lstStyle/>
              <a:p>
                <a:pPr algn="ctr"/>
                <a:r>
                  <a:rPr lang="en-GB" sz="2000" dirty="0">
                    <a:latin typeface="Arial" panose="020B0604020202020204" pitchFamily="34" charset="0"/>
                    <a:cs typeface="Arial" panose="020B0604020202020204" pitchFamily="34" charset="0"/>
                  </a:rPr>
                  <a:t>Calibration (flat DM2)</a:t>
                </a:r>
              </a:p>
            </p:txBody>
          </p:sp>
        </p:grpSp>
        <p:grpSp>
          <p:nvGrpSpPr>
            <p:cNvPr id="58" name="Group 57">
              <a:extLst>
                <a:ext uri="{FF2B5EF4-FFF2-40B4-BE49-F238E27FC236}">
                  <a16:creationId xmlns:a16="http://schemas.microsoft.com/office/drawing/2014/main" id="{D1C90ADC-41C8-78AD-6AED-3434A83D323D}"/>
                </a:ext>
              </a:extLst>
            </p:cNvPr>
            <p:cNvGrpSpPr/>
            <p:nvPr/>
          </p:nvGrpSpPr>
          <p:grpSpPr>
            <a:xfrm>
              <a:off x="1942071" y="16948707"/>
              <a:ext cx="1908600" cy="2827800"/>
              <a:chOff x="1942071" y="17096192"/>
              <a:chExt cx="1908600" cy="2827800"/>
            </a:xfrm>
          </p:grpSpPr>
          <p:sp>
            <p:nvSpPr>
              <p:cNvPr id="107" name="Rectangle 106">
                <a:extLst>
                  <a:ext uri="{FF2B5EF4-FFF2-40B4-BE49-F238E27FC236}">
                    <a16:creationId xmlns:a16="http://schemas.microsoft.com/office/drawing/2014/main" id="{39D6E56F-A615-E265-022B-E8F598926C27}"/>
                  </a:ext>
                </a:extLst>
              </p:cNvPr>
              <p:cNvSpPr/>
              <p:nvPr/>
            </p:nvSpPr>
            <p:spPr>
              <a:xfrm>
                <a:off x="1951014" y="17713693"/>
                <a:ext cx="1899657" cy="3588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t>Telescope</a:t>
                </a:r>
              </a:p>
            </p:txBody>
          </p:sp>
          <p:sp>
            <p:nvSpPr>
              <p:cNvPr id="112" name="Rectangle 111">
                <a:extLst>
                  <a:ext uri="{FF2B5EF4-FFF2-40B4-BE49-F238E27FC236}">
                    <a16:creationId xmlns:a16="http://schemas.microsoft.com/office/drawing/2014/main" id="{EE18182D-CE9F-7CD2-7954-724DBF123812}"/>
                  </a:ext>
                </a:extLst>
              </p:cNvPr>
              <p:cNvSpPr/>
              <p:nvPr/>
            </p:nvSpPr>
            <p:spPr>
              <a:xfrm>
                <a:off x="1942071" y="18335156"/>
                <a:ext cx="1899657" cy="3588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t>DM1</a:t>
                </a:r>
              </a:p>
            </p:txBody>
          </p:sp>
          <p:sp>
            <p:nvSpPr>
              <p:cNvPr id="113" name="Rectangle 112">
                <a:extLst>
                  <a:ext uri="{FF2B5EF4-FFF2-40B4-BE49-F238E27FC236}">
                    <a16:creationId xmlns:a16="http://schemas.microsoft.com/office/drawing/2014/main" id="{4DFEF442-A8D3-64D9-A42A-54A1A3131D90}"/>
                  </a:ext>
                </a:extLst>
              </p:cNvPr>
              <p:cNvSpPr/>
              <p:nvPr/>
            </p:nvSpPr>
            <p:spPr>
              <a:xfrm>
                <a:off x="1943903" y="18959340"/>
                <a:ext cx="1899657" cy="3588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t>DM2</a:t>
                </a:r>
              </a:p>
            </p:txBody>
          </p:sp>
          <p:sp>
            <p:nvSpPr>
              <p:cNvPr id="114" name="Rectangle 113">
                <a:extLst>
                  <a:ext uri="{FF2B5EF4-FFF2-40B4-BE49-F238E27FC236}">
                    <a16:creationId xmlns:a16="http://schemas.microsoft.com/office/drawing/2014/main" id="{DF614E6E-55BC-1061-DB69-B8815A938B79}"/>
                  </a:ext>
                </a:extLst>
              </p:cNvPr>
              <p:cNvSpPr/>
              <p:nvPr/>
            </p:nvSpPr>
            <p:spPr>
              <a:xfrm>
                <a:off x="1943901" y="19565135"/>
                <a:ext cx="1899657" cy="3588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t>WFS</a:t>
                </a:r>
              </a:p>
            </p:txBody>
          </p:sp>
          <p:sp>
            <p:nvSpPr>
              <p:cNvPr id="104" name="Rectangle 103">
                <a:extLst>
                  <a:ext uri="{FF2B5EF4-FFF2-40B4-BE49-F238E27FC236}">
                    <a16:creationId xmlns:a16="http://schemas.microsoft.com/office/drawing/2014/main" id="{657C7B95-A60B-33E1-668B-C2BC0F5059B3}"/>
                  </a:ext>
                </a:extLst>
              </p:cNvPr>
              <p:cNvSpPr/>
              <p:nvPr/>
            </p:nvSpPr>
            <p:spPr>
              <a:xfrm>
                <a:off x="1951014" y="17096192"/>
                <a:ext cx="1899657" cy="3588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t>Atmosphere</a:t>
                </a:r>
              </a:p>
            </p:txBody>
          </p:sp>
          <p:cxnSp>
            <p:nvCxnSpPr>
              <p:cNvPr id="529" name="Straight Arrow Connector 528">
                <a:extLst>
                  <a:ext uri="{FF2B5EF4-FFF2-40B4-BE49-F238E27FC236}">
                    <a16:creationId xmlns:a16="http://schemas.microsoft.com/office/drawing/2014/main" id="{3BB39AF3-D87C-0FAA-E66D-3401184AB4CD}"/>
                  </a:ext>
                </a:extLst>
              </p:cNvPr>
              <p:cNvCxnSpPr>
                <a:cxnSpLocks/>
                <a:stCxn id="104" idx="2"/>
                <a:endCxn id="107" idx="0"/>
              </p:cNvCxnSpPr>
              <p:nvPr/>
            </p:nvCxnSpPr>
            <p:spPr>
              <a:xfrm>
                <a:off x="2900843" y="17455048"/>
                <a:ext cx="0" cy="25864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33" name="Straight Arrow Connector 532">
                <a:extLst>
                  <a:ext uri="{FF2B5EF4-FFF2-40B4-BE49-F238E27FC236}">
                    <a16:creationId xmlns:a16="http://schemas.microsoft.com/office/drawing/2014/main" id="{162E6C81-BD9A-8215-530D-AFBA4444DD34}"/>
                  </a:ext>
                </a:extLst>
              </p:cNvPr>
              <p:cNvCxnSpPr>
                <a:cxnSpLocks/>
                <a:stCxn id="107" idx="2"/>
                <a:endCxn id="112" idx="0"/>
              </p:cNvCxnSpPr>
              <p:nvPr/>
            </p:nvCxnSpPr>
            <p:spPr>
              <a:xfrm flipH="1">
                <a:off x="2891900" y="18072550"/>
                <a:ext cx="8943" cy="26260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35" name="Straight Arrow Connector 534">
                <a:extLst>
                  <a:ext uri="{FF2B5EF4-FFF2-40B4-BE49-F238E27FC236}">
                    <a16:creationId xmlns:a16="http://schemas.microsoft.com/office/drawing/2014/main" id="{FB6019E0-B512-EA1D-13C4-224739D4641A}"/>
                  </a:ext>
                </a:extLst>
              </p:cNvPr>
              <p:cNvCxnSpPr>
                <a:cxnSpLocks/>
                <a:stCxn id="112" idx="2"/>
                <a:endCxn id="113" idx="0"/>
              </p:cNvCxnSpPr>
              <p:nvPr/>
            </p:nvCxnSpPr>
            <p:spPr>
              <a:xfrm>
                <a:off x="2891900" y="18694012"/>
                <a:ext cx="1832" cy="26532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40" name="Straight Arrow Connector 539">
                <a:extLst>
                  <a:ext uri="{FF2B5EF4-FFF2-40B4-BE49-F238E27FC236}">
                    <a16:creationId xmlns:a16="http://schemas.microsoft.com/office/drawing/2014/main" id="{62D9FCF3-1E05-B8BD-22FC-727FB5B003B4}"/>
                  </a:ext>
                </a:extLst>
              </p:cNvPr>
              <p:cNvCxnSpPr>
                <a:cxnSpLocks/>
                <a:stCxn id="113" idx="2"/>
                <a:endCxn id="114" idx="0"/>
              </p:cNvCxnSpPr>
              <p:nvPr/>
            </p:nvCxnSpPr>
            <p:spPr>
              <a:xfrm flipH="1">
                <a:off x="2893730" y="19318197"/>
                <a:ext cx="2" cy="24693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562" name="TextBox 561">
                <a:extLst>
                  <a:ext uri="{FF2B5EF4-FFF2-40B4-BE49-F238E27FC236}">
                    <a16:creationId xmlns:a16="http://schemas.microsoft.com/office/drawing/2014/main" id="{492752C7-21D9-F95C-CD6B-8B5D133FA1ED}"/>
                  </a:ext>
                </a:extLst>
              </p:cNvPr>
              <p:cNvSpPr txBox="1"/>
              <p:nvPr/>
            </p:nvSpPr>
            <p:spPr>
              <a:xfrm>
                <a:off x="649905" y="20347000"/>
                <a:ext cx="14481940" cy="9701438"/>
              </a:xfrm>
              <a:prstGeom prst="rect">
                <a:avLst/>
              </a:prstGeom>
              <a:noFill/>
            </p:spPr>
            <p:txBody>
              <a:bodyPr wrap="square">
                <a:spAutoFit/>
              </a:bodyPr>
              <a:lstStyle/>
              <a:p>
                <a:pPr>
                  <a:lnSpc>
                    <a:spcPct val="150000"/>
                  </a:lnSpc>
                </a:pPr>
                <a:r>
                  <a:rPr lang="en-US" sz="3200" dirty="0">
                    <a:latin typeface="Arial" panose="020B0604020202020204" pitchFamily="34" charset="0"/>
                    <a:cs typeface="Arial" panose="020B0604020202020204" pitchFamily="34" charset="0"/>
                  </a:rPr>
                  <a:t>We can describe these distortions using two parameters. The first uses the definition of angle of arrival statistics </a:t>
                </a:r>
                <a14:m>
                  <m:oMath xmlns:m="http://schemas.openxmlformats.org/officeDocument/2006/math">
                    <m:r>
                      <a:rPr lang="en-GB" sz="3200" b="0" i="1" smtClean="0">
                        <a:latin typeface="Cambria Math" panose="02040503050406030204" pitchFamily="18" charset="0"/>
                        <a:cs typeface="Arial" panose="020B0604020202020204" pitchFamily="34" charset="0"/>
                      </a:rPr>
                      <m:t>(</m:t>
                    </m:r>
                    <m:sSub>
                      <m:sSubPr>
                        <m:ctrlPr>
                          <a:rPr lang="en-GB" sz="3200" b="0" i="1" smtClean="0">
                            <a:latin typeface="Cambria Math" panose="02040503050406030204" pitchFamily="18" charset="0"/>
                            <a:cs typeface="Arial" panose="020B0604020202020204" pitchFamily="34" charset="0"/>
                          </a:rPr>
                        </m:ctrlPr>
                      </m:sSubPr>
                      <m:e>
                        <m:r>
                          <a:rPr lang="en-GB" sz="3200" b="0" i="1" smtClean="0">
                            <a:latin typeface="Cambria Math" panose="02040503050406030204" pitchFamily="18" charset="0"/>
                            <a:cs typeface="Arial" panose="020B0604020202020204" pitchFamily="34" charset="0"/>
                          </a:rPr>
                          <m:t>𝛼</m:t>
                        </m:r>
                      </m:e>
                      <m:sub>
                        <m:r>
                          <a:rPr lang="en-GB" sz="3200" b="0" i="1" smtClean="0">
                            <a:latin typeface="Cambria Math" panose="02040503050406030204" pitchFamily="18" charset="0"/>
                            <a:cs typeface="Arial" panose="020B0604020202020204" pitchFamily="34" charset="0"/>
                          </a:rPr>
                          <m:t>𝑗𝑖𝑡𝑡𝑒𝑟</m:t>
                        </m:r>
                      </m:sub>
                    </m:sSub>
                    <m:r>
                      <a:rPr lang="en-GB" sz="3200" b="0" i="1" smtClean="0">
                        <a:latin typeface="Cambria Math" panose="02040503050406030204" pitchFamily="18" charset="0"/>
                        <a:cs typeface="Arial" panose="020B0604020202020204" pitchFamily="34" charset="0"/>
                      </a:rPr>
                      <m:t>)</m:t>
                    </m:r>
                  </m:oMath>
                </a14:m>
                <a:r>
                  <a:rPr lang="en-US" sz="3200" dirty="0">
                    <a:latin typeface="Arial" panose="020B0604020202020204" pitchFamily="34" charset="0"/>
                    <a:cs typeface="Arial" panose="020B0604020202020204" pitchFamily="34" charset="0"/>
                  </a:rPr>
                  <a:t> and DM conjugate distance </a:t>
                </a:r>
                <a14:m>
                  <m:oMath xmlns:m="http://schemas.openxmlformats.org/officeDocument/2006/math">
                    <m:d>
                      <m:dPr>
                        <m:ctrlPr>
                          <a:rPr lang="en-GB" sz="3200" b="0" i="1" smtClean="0">
                            <a:latin typeface="Cambria Math" panose="02040503050406030204" pitchFamily="18" charset="0"/>
                            <a:cs typeface="Arial" panose="020B0604020202020204" pitchFamily="34" charset="0"/>
                          </a:rPr>
                        </m:ctrlPr>
                      </m:dPr>
                      <m:e>
                        <m:r>
                          <m:rPr>
                            <m:sty m:val="p"/>
                          </m:rPr>
                          <a:rPr lang="en-GB" sz="3200">
                            <a:latin typeface="Cambria Math" panose="02040503050406030204" pitchFamily="18" charset="0"/>
                            <a:cs typeface="Arial" panose="020B0604020202020204" pitchFamily="34" charset="0"/>
                          </a:rPr>
                          <m:t>Δ</m:t>
                        </m:r>
                        <m:sSub>
                          <m:sSubPr>
                            <m:ctrlPr>
                              <a:rPr lang="en-GB" sz="3200" i="1">
                                <a:latin typeface="Cambria Math" panose="02040503050406030204" pitchFamily="18" charset="0"/>
                                <a:cs typeface="Arial" panose="020B0604020202020204" pitchFamily="34" charset="0"/>
                              </a:rPr>
                            </m:ctrlPr>
                          </m:sSubPr>
                          <m:e>
                            <m:r>
                              <a:rPr lang="en-GB" sz="3200" i="1">
                                <a:latin typeface="Cambria Math" panose="02040503050406030204" pitchFamily="18" charset="0"/>
                                <a:cs typeface="Arial" panose="020B0604020202020204" pitchFamily="34" charset="0"/>
                              </a:rPr>
                              <m:t>𝐻</m:t>
                            </m:r>
                          </m:e>
                          <m:sub>
                            <m:r>
                              <a:rPr lang="en-GB" sz="3200" i="1">
                                <a:latin typeface="Cambria Math" panose="02040503050406030204" pitchFamily="18" charset="0"/>
                                <a:cs typeface="Arial" panose="020B0604020202020204" pitchFamily="34" charset="0"/>
                              </a:rPr>
                              <m:t>1,2</m:t>
                            </m:r>
                          </m:sub>
                        </m:sSub>
                      </m:e>
                    </m:d>
                  </m:oMath>
                </a14:m>
                <a:r>
                  <a:rPr lang="en-US" sz="3200" dirty="0">
                    <a:latin typeface="Arial" panose="020B0604020202020204" pitchFamily="34" charset="0"/>
                    <a:cs typeface="Arial" panose="020B0604020202020204" pitchFamily="34" charset="0"/>
                  </a:rPr>
                  <a:t> to provide an RMS actuator motion between WFS and DM1 in terms of the subaperture diameter </a:t>
                </a:r>
                <a14:m>
                  <m:oMath xmlns:m="http://schemas.openxmlformats.org/officeDocument/2006/math">
                    <m:d>
                      <m:dPr>
                        <m:ctrlPr>
                          <a:rPr lang="en-GB" sz="3200" b="0" i="1" smtClean="0">
                            <a:latin typeface="Cambria Math" panose="02040503050406030204" pitchFamily="18" charset="0"/>
                            <a:cs typeface="Arial" panose="020B0604020202020204" pitchFamily="34" charset="0"/>
                          </a:rPr>
                        </m:ctrlPr>
                      </m:dPr>
                      <m:e>
                        <m:sSub>
                          <m:sSubPr>
                            <m:ctrlPr>
                              <a:rPr lang="en-GB" sz="3200" b="0" i="1" smtClean="0">
                                <a:latin typeface="Cambria Math" panose="02040503050406030204" pitchFamily="18" charset="0"/>
                                <a:cs typeface="Arial" panose="020B0604020202020204" pitchFamily="34" charset="0"/>
                              </a:rPr>
                            </m:ctrlPr>
                          </m:sSubPr>
                          <m:e>
                            <m:r>
                              <a:rPr lang="en-GB" sz="3200" b="0" i="1" smtClean="0">
                                <a:latin typeface="Cambria Math" panose="02040503050406030204" pitchFamily="18" charset="0"/>
                                <a:cs typeface="Arial" panose="020B0604020202020204" pitchFamily="34" charset="0"/>
                              </a:rPr>
                              <m:t>𝑑</m:t>
                            </m:r>
                          </m:e>
                          <m:sub>
                            <m:r>
                              <a:rPr lang="en-GB" sz="3200" b="0" i="1" smtClean="0">
                                <a:latin typeface="Cambria Math" panose="02040503050406030204" pitchFamily="18" charset="0"/>
                                <a:cs typeface="Arial" panose="020B0604020202020204" pitchFamily="34" charset="0"/>
                              </a:rPr>
                              <m:t>𝑠𝑢𝑏</m:t>
                            </m:r>
                          </m:sub>
                        </m:sSub>
                      </m:e>
                    </m:d>
                  </m:oMath>
                </a14:m>
                <a:r>
                  <a:rPr lang="en-US" sz="3200" dirty="0">
                    <a:latin typeface="Arial" panose="020B0604020202020204" pitchFamily="34" charset="0"/>
                    <a:cs typeface="Arial" panose="020B0604020202020204" pitchFamily="34" charset="0"/>
                  </a:rPr>
                  <a:t>. We call this actuator shift (</a:t>
                </a:r>
                <a14:m>
                  <m:oMath xmlns:m="http://schemas.openxmlformats.org/officeDocument/2006/math">
                    <m:r>
                      <a:rPr lang="en-GB" sz="3200" i="1">
                        <a:latin typeface="Cambria Math" panose="02040503050406030204" pitchFamily="18" charset="0"/>
                        <a:cs typeface="Arial" panose="020B0604020202020204" pitchFamily="34" charset="0"/>
                      </a:rPr>
                      <m:t>𝐴𝑆</m:t>
                    </m:r>
                  </m:oMath>
                </a14:m>
                <a:r>
                  <a:rPr lang="en-US" sz="3200" dirty="0">
                    <a:latin typeface="Arial" panose="020B0604020202020204" pitchFamily="34" charset="0"/>
                    <a:cs typeface="Arial" panose="020B0604020202020204" pitchFamily="34" charset="0"/>
                  </a:rPr>
                  <a:t>). In this study, it is similar to misregistration[2], but different. </a:t>
                </a:r>
                <a14:m>
                  <m:oMath xmlns:m="http://schemas.openxmlformats.org/officeDocument/2006/math">
                    <m:r>
                      <a:rPr lang="en-GB" sz="3200" i="1">
                        <a:latin typeface="Cambria Math" panose="02040503050406030204" pitchFamily="18" charset="0"/>
                        <a:cs typeface="Arial" panose="020B0604020202020204" pitchFamily="34" charset="0"/>
                      </a:rPr>
                      <m:t>𝐴𝑆</m:t>
                    </m:r>
                  </m:oMath>
                </a14:m>
                <a:r>
                  <a:rPr lang="en-US" sz="3200" dirty="0">
                    <a:latin typeface="Arial" panose="020B0604020202020204" pitchFamily="34" charset="0"/>
                    <a:cs typeface="Arial" panose="020B0604020202020204" pitchFamily="34" charset="0"/>
                  </a:rPr>
                  <a:t> is dynamically random, while misregistration is static.</a:t>
                </a:r>
              </a:p>
              <a:p>
                <a:pPr algn="ctr"/>
                <a14:m>
                  <m:oMathPara xmlns:m="http://schemas.openxmlformats.org/officeDocument/2006/math">
                    <m:oMathParaPr>
                      <m:jc m:val="centerGroup"/>
                    </m:oMathParaPr>
                    <m:oMath xmlns:m="http://schemas.openxmlformats.org/officeDocument/2006/math">
                      <m:r>
                        <a:rPr lang="en-GB" sz="3200" b="0" i="1" smtClean="0">
                          <a:latin typeface="Cambria Math" panose="02040503050406030204" pitchFamily="18" charset="0"/>
                          <a:cs typeface="Arial" panose="020B0604020202020204" pitchFamily="34" charset="0"/>
                        </a:rPr>
                        <m:t>𝐴𝑆</m:t>
                      </m:r>
                      <m:r>
                        <a:rPr lang="en-GB" sz="3200" b="0" i="1" smtClean="0">
                          <a:latin typeface="Cambria Math" panose="02040503050406030204" pitchFamily="18" charset="0"/>
                          <a:cs typeface="Arial" panose="020B0604020202020204" pitchFamily="34" charset="0"/>
                        </a:rPr>
                        <m:t>=</m:t>
                      </m:r>
                      <m:sSub>
                        <m:sSubPr>
                          <m:ctrlPr>
                            <a:rPr lang="en-GB" sz="3200" b="0" i="1" smtClean="0">
                              <a:latin typeface="Cambria Math" panose="02040503050406030204" pitchFamily="18" charset="0"/>
                              <a:cs typeface="Arial" panose="020B0604020202020204" pitchFamily="34" charset="0"/>
                            </a:rPr>
                          </m:ctrlPr>
                        </m:sSubPr>
                        <m:e>
                          <m:r>
                            <m:rPr>
                              <m:sty m:val="p"/>
                            </m:rPr>
                            <a:rPr lang="en-GB" sz="3200" b="0" i="0" smtClean="0">
                              <a:latin typeface="Cambria Math" panose="02040503050406030204" pitchFamily="18" charset="0"/>
                              <a:cs typeface="Arial" panose="020B0604020202020204" pitchFamily="34" charset="0"/>
                            </a:rPr>
                            <m:t>Δ</m:t>
                          </m:r>
                          <m:sSub>
                            <m:sSubPr>
                              <m:ctrlPr>
                                <a:rPr lang="en-GB" sz="3200" b="0" i="1" smtClean="0">
                                  <a:latin typeface="Cambria Math" panose="02040503050406030204" pitchFamily="18" charset="0"/>
                                  <a:cs typeface="Arial" panose="020B0604020202020204" pitchFamily="34" charset="0"/>
                                </a:rPr>
                              </m:ctrlPr>
                            </m:sSubPr>
                            <m:e>
                              <m:r>
                                <a:rPr lang="en-GB" sz="3200" b="0" i="1" smtClean="0">
                                  <a:latin typeface="Cambria Math" panose="02040503050406030204" pitchFamily="18" charset="0"/>
                                  <a:cs typeface="Arial" panose="020B0604020202020204" pitchFamily="34" charset="0"/>
                                </a:rPr>
                                <m:t>𝐻</m:t>
                              </m:r>
                            </m:e>
                            <m:sub>
                              <m:r>
                                <a:rPr lang="en-GB" sz="3200" b="0" i="1" smtClean="0">
                                  <a:latin typeface="Cambria Math" panose="02040503050406030204" pitchFamily="18" charset="0"/>
                                  <a:cs typeface="Arial" panose="020B0604020202020204" pitchFamily="34" charset="0"/>
                                </a:rPr>
                                <m:t>1,2</m:t>
                              </m:r>
                            </m:sub>
                          </m:sSub>
                          <m:r>
                            <a:rPr lang="en-GB" sz="3200" b="0" i="1" smtClean="0">
                              <a:latin typeface="Cambria Math" panose="02040503050406030204" pitchFamily="18" charset="0"/>
                              <a:cs typeface="Arial" panose="020B0604020202020204" pitchFamily="34" charset="0"/>
                            </a:rPr>
                            <m:t>𝛼</m:t>
                          </m:r>
                        </m:e>
                        <m:sub>
                          <m:r>
                            <a:rPr lang="en-GB" sz="3200" b="0" i="1" smtClean="0">
                              <a:latin typeface="Cambria Math" panose="02040503050406030204" pitchFamily="18" charset="0"/>
                              <a:cs typeface="Arial" panose="020B0604020202020204" pitchFamily="34" charset="0"/>
                            </a:rPr>
                            <m:t>𝑗𝑖𝑡𝑡𝑒𝑟</m:t>
                          </m:r>
                        </m:sub>
                      </m:sSub>
                      <m:r>
                        <a:rPr lang="en-GB" sz="3200" b="0" i="1" smtClean="0">
                          <a:latin typeface="Cambria Math" panose="02040503050406030204" pitchFamily="18" charset="0"/>
                          <a:cs typeface="Arial" panose="020B0604020202020204" pitchFamily="34" charset="0"/>
                        </a:rPr>
                        <m:t>/</m:t>
                      </m:r>
                      <m:sSub>
                        <m:sSubPr>
                          <m:ctrlPr>
                            <a:rPr lang="en-GB" sz="3200" b="0" i="1" smtClean="0">
                              <a:latin typeface="Cambria Math" panose="02040503050406030204" pitchFamily="18" charset="0"/>
                              <a:cs typeface="Arial" panose="020B0604020202020204" pitchFamily="34" charset="0"/>
                            </a:rPr>
                          </m:ctrlPr>
                        </m:sSubPr>
                        <m:e>
                          <m:r>
                            <a:rPr lang="en-GB" sz="3200" b="0" i="1" smtClean="0">
                              <a:latin typeface="Cambria Math" panose="02040503050406030204" pitchFamily="18" charset="0"/>
                              <a:cs typeface="Arial" panose="020B0604020202020204" pitchFamily="34" charset="0"/>
                            </a:rPr>
                            <m:t>𝑑</m:t>
                          </m:r>
                        </m:e>
                        <m:sub>
                          <m:r>
                            <a:rPr lang="en-GB" sz="3200" b="0" i="1" smtClean="0">
                              <a:latin typeface="Cambria Math" panose="02040503050406030204" pitchFamily="18" charset="0"/>
                              <a:cs typeface="Arial" panose="020B0604020202020204" pitchFamily="34" charset="0"/>
                            </a:rPr>
                            <m:t>𝑠𝑢𝑏</m:t>
                          </m:r>
                        </m:sub>
                      </m:sSub>
                      <m:r>
                        <a:rPr lang="en-GB" sz="3200" b="0" i="1" smtClean="0">
                          <a:latin typeface="Cambria Math" panose="02040503050406030204" pitchFamily="18" charset="0"/>
                          <a:cs typeface="Arial" panose="020B0604020202020204" pitchFamily="34" charset="0"/>
                        </a:rPr>
                        <m:t>=</m:t>
                      </m:r>
                      <m:r>
                        <m:rPr>
                          <m:sty m:val="p"/>
                        </m:rPr>
                        <a:rPr lang="en-GB" sz="3200" b="0" i="0" smtClean="0">
                          <a:latin typeface="Cambria Math" panose="02040503050406030204" pitchFamily="18" charset="0"/>
                          <a:cs typeface="Arial" panose="020B0604020202020204" pitchFamily="34" charset="0"/>
                        </a:rPr>
                        <m:t>Δ</m:t>
                      </m:r>
                      <m:sSub>
                        <m:sSubPr>
                          <m:ctrlPr>
                            <a:rPr lang="en-GB" sz="3200" b="0" i="1" smtClean="0">
                              <a:latin typeface="Cambria Math" panose="02040503050406030204" pitchFamily="18" charset="0"/>
                              <a:cs typeface="Arial" panose="020B0604020202020204" pitchFamily="34" charset="0"/>
                            </a:rPr>
                          </m:ctrlPr>
                        </m:sSubPr>
                        <m:e>
                          <m:r>
                            <a:rPr lang="en-GB" sz="3200" b="0" i="1" smtClean="0">
                              <a:latin typeface="Cambria Math" panose="02040503050406030204" pitchFamily="18" charset="0"/>
                              <a:cs typeface="Arial" panose="020B0604020202020204" pitchFamily="34" charset="0"/>
                            </a:rPr>
                            <m:t>𝐻</m:t>
                          </m:r>
                        </m:e>
                        <m:sub>
                          <m:r>
                            <a:rPr lang="en-GB" sz="3200" b="0" i="1" smtClean="0">
                              <a:latin typeface="Cambria Math" panose="02040503050406030204" pitchFamily="18" charset="0"/>
                              <a:cs typeface="Arial" panose="020B0604020202020204" pitchFamily="34" charset="0"/>
                            </a:rPr>
                            <m:t>1,2</m:t>
                          </m:r>
                        </m:sub>
                      </m:sSub>
                      <m:rad>
                        <m:radPr>
                          <m:degHide m:val="on"/>
                          <m:ctrlPr>
                            <a:rPr lang="en-GB" sz="3200" b="0" i="1" smtClean="0">
                              <a:latin typeface="Cambria Math" panose="02040503050406030204" pitchFamily="18" charset="0"/>
                              <a:cs typeface="Arial" panose="020B0604020202020204" pitchFamily="34" charset="0"/>
                            </a:rPr>
                          </m:ctrlPr>
                        </m:radPr>
                        <m:deg/>
                        <m:e>
                          <m:r>
                            <a:rPr lang="en-GB" sz="3200" b="0" i="1" smtClean="0">
                              <a:latin typeface="Cambria Math" panose="02040503050406030204" pitchFamily="18" charset="0"/>
                              <a:cs typeface="Arial" panose="020B0604020202020204" pitchFamily="34" charset="0"/>
                            </a:rPr>
                            <m:t>0.182</m:t>
                          </m:r>
                          <m:sSup>
                            <m:sSupPr>
                              <m:ctrlPr>
                                <a:rPr lang="en-GB" sz="3200" b="0" i="1" smtClean="0">
                                  <a:latin typeface="Cambria Math" panose="02040503050406030204" pitchFamily="18" charset="0"/>
                                  <a:cs typeface="Arial" panose="020B0604020202020204" pitchFamily="34" charset="0"/>
                                </a:rPr>
                              </m:ctrlPr>
                            </m:sSupPr>
                            <m:e>
                              <m:r>
                                <a:rPr lang="en-GB" sz="3200" b="0" i="1" smtClean="0">
                                  <a:latin typeface="Cambria Math" panose="02040503050406030204" pitchFamily="18" charset="0"/>
                                  <a:cs typeface="Arial" panose="020B0604020202020204" pitchFamily="34" charset="0"/>
                                </a:rPr>
                                <m:t>𝜆</m:t>
                              </m:r>
                            </m:e>
                            <m:sup>
                              <m:r>
                                <a:rPr lang="en-GB" sz="3200" b="0" i="1" smtClean="0">
                                  <a:latin typeface="Cambria Math" panose="02040503050406030204" pitchFamily="18" charset="0"/>
                                  <a:cs typeface="Arial" panose="020B0604020202020204" pitchFamily="34" charset="0"/>
                                </a:rPr>
                                <m:t>2</m:t>
                              </m:r>
                            </m:sup>
                          </m:sSup>
                          <m:sSubSup>
                            <m:sSubSupPr>
                              <m:ctrlPr>
                                <a:rPr lang="en-GB" sz="3200" b="0" i="1" smtClean="0">
                                  <a:latin typeface="Cambria Math" panose="02040503050406030204" pitchFamily="18" charset="0"/>
                                  <a:cs typeface="Arial" panose="020B0604020202020204" pitchFamily="34" charset="0"/>
                                </a:rPr>
                              </m:ctrlPr>
                            </m:sSubSupPr>
                            <m:e>
                              <m:r>
                                <a:rPr lang="en-GB" sz="3200" b="0" i="1" smtClean="0">
                                  <a:latin typeface="Cambria Math" panose="02040503050406030204" pitchFamily="18" charset="0"/>
                                  <a:cs typeface="Arial" panose="020B0604020202020204" pitchFamily="34" charset="0"/>
                                </a:rPr>
                                <m:t>𝑑</m:t>
                              </m:r>
                            </m:e>
                            <m:sub>
                              <m:r>
                                <a:rPr lang="en-GB" sz="3200" b="0" i="1" smtClean="0">
                                  <a:latin typeface="Cambria Math" panose="02040503050406030204" pitchFamily="18" charset="0"/>
                                  <a:cs typeface="Arial" panose="020B0604020202020204" pitchFamily="34" charset="0"/>
                                </a:rPr>
                                <m:t>𝑠𝑢𝑏</m:t>
                              </m:r>
                            </m:sub>
                            <m:sup>
                              <m:r>
                                <a:rPr lang="en-GB" sz="3200" b="0" i="1" smtClean="0">
                                  <a:latin typeface="Cambria Math" panose="02040503050406030204" pitchFamily="18" charset="0"/>
                                  <a:cs typeface="Arial" panose="020B0604020202020204" pitchFamily="34" charset="0"/>
                                </a:rPr>
                                <m:t>−1/3</m:t>
                              </m:r>
                            </m:sup>
                          </m:sSubSup>
                          <m:sSubSup>
                            <m:sSubSupPr>
                              <m:ctrlPr>
                                <a:rPr lang="en-GB" sz="3200" b="0" i="1" smtClean="0">
                                  <a:latin typeface="Cambria Math" panose="02040503050406030204" pitchFamily="18" charset="0"/>
                                  <a:cs typeface="Arial" panose="020B0604020202020204" pitchFamily="34" charset="0"/>
                                </a:rPr>
                              </m:ctrlPr>
                            </m:sSubSupPr>
                            <m:e>
                              <m:r>
                                <a:rPr lang="en-GB" sz="3200" b="0" i="1" smtClean="0">
                                  <a:latin typeface="Cambria Math" panose="02040503050406030204" pitchFamily="18" charset="0"/>
                                  <a:cs typeface="Arial" panose="020B0604020202020204" pitchFamily="34" charset="0"/>
                                </a:rPr>
                                <m:t>𝑟</m:t>
                              </m:r>
                            </m:e>
                            <m:sub>
                              <m:r>
                                <a:rPr lang="en-GB" sz="3200" b="0" i="1" smtClean="0">
                                  <a:latin typeface="Cambria Math" panose="02040503050406030204" pitchFamily="18" charset="0"/>
                                  <a:cs typeface="Arial" panose="020B0604020202020204" pitchFamily="34" charset="0"/>
                                </a:rPr>
                                <m:t>0,</m:t>
                              </m:r>
                              <m:r>
                                <a:rPr lang="en-GB" sz="3200" b="0" i="1" smtClean="0">
                                  <a:latin typeface="Cambria Math" panose="02040503050406030204" pitchFamily="18" charset="0"/>
                                  <a:cs typeface="Arial" panose="020B0604020202020204" pitchFamily="34" charset="0"/>
                                </a:rPr>
                                <m:t>𝐷𝑀</m:t>
                              </m:r>
                              <m:r>
                                <a:rPr lang="en-GB" sz="3200" b="0" i="1" smtClean="0">
                                  <a:latin typeface="Cambria Math" panose="02040503050406030204" pitchFamily="18" charset="0"/>
                                  <a:cs typeface="Arial" panose="020B0604020202020204" pitchFamily="34" charset="0"/>
                                </a:rPr>
                                <m:t>2</m:t>
                              </m:r>
                            </m:sub>
                            <m:sup>
                              <m:r>
                                <a:rPr lang="en-GB" sz="3200" b="0" i="1" smtClean="0">
                                  <a:latin typeface="Cambria Math" panose="02040503050406030204" pitchFamily="18" charset="0"/>
                                  <a:cs typeface="Arial" panose="020B0604020202020204" pitchFamily="34" charset="0"/>
                                </a:rPr>
                                <m:t>−5/3</m:t>
                              </m:r>
                            </m:sup>
                          </m:sSubSup>
                        </m:e>
                      </m:rad>
                      <m:r>
                        <a:rPr lang="en-GB" sz="3200" b="0" i="1" smtClean="0">
                          <a:latin typeface="Cambria Math" panose="02040503050406030204" pitchFamily="18" charset="0"/>
                          <a:cs typeface="Arial" panose="020B0604020202020204" pitchFamily="34" charset="0"/>
                        </a:rPr>
                        <m:t>/</m:t>
                      </m:r>
                      <m:sSub>
                        <m:sSubPr>
                          <m:ctrlPr>
                            <a:rPr lang="en-GB" sz="3200" b="0" i="1" smtClean="0">
                              <a:latin typeface="Cambria Math" panose="02040503050406030204" pitchFamily="18" charset="0"/>
                              <a:cs typeface="Arial" panose="020B0604020202020204" pitchFamily="34" charset="0"/>
                            </a:rPr>
                          </m:ctrlPr>
                        </m:sSubPr>
                        <m:e>
                          <m:r>
                            <a:rPr lang="en-GB" sz="3200" b="0" i="1" smtClean="0">
                              <a:latin typeface="Cambria Math" panose="02040503050406030204" pitchFamily="18" charset="0"/>
                              <a:cs typeface="Arial" panose="020B0604020202020204" pitchFamily="34" charset="0"/>
                            </a:rPr>
                            <m:t>𝑑</m:t>
                          </m:r>
                        </m:e>
                        <m:sub>
                          <m:r>
                            <a:rPr lang="en-GB" sz="3200" b="0" i="1" smtClean="0">
                              <a:latin typeface="Cambria Math" panose="02040503050406030204" pitchFamily="18" charset="0"/>
                              <a:cs typeface="Arial" panose="020B0604020202020204" pitchFamily="34" charset="0"/>
                            </a:rPr>
                            <m:t>𝑠𝑢𝑏</m:t>
                          </m:r>
                        </m:sub>
                      </m:sSub>
                    </m:oMath>
                  </m:oMathPara>
                </a14:m>
                <a:endParaRPr lang="en-US" sz="3200" dirty="0">
                  <a:latin typeface="Arial" panose="020B0604020202020204" pitchFamily="34" charset="0"/>
                  <a:cs typeface="Arial" panose="020B0604020202020204" pitchFamily="34" charset="0"/>
                </a:endParaRPr>
              </a:p>
              <a:p>
                <a:pPr>
                  <a:lnSpc>
                    <a:spcPct val="150000"/>
                  </a:lnSpc>
                </a:pPr>
                <a:r>
                  <a:rPr lang="en-US" sz="3200" dirty="0">
                    <a:latin typeface="Arial" panose="020B0604020202020204" pitchFamily="34" charset="0"/>
                    <a:cs typeface="Arial" panose="020B0604020202020204" pitchFamily="34" charset="0"/>
                  </a:rPr>
                  <a:t>The second parameter is scintillation index </a:t>
                </a:r>
                <a14:m>
                  <m:oMath xmlns:m="http://schemas.openxmlformats.org/officeDocument/2006/math">
                    <m:d>
                      <m:dPr>
                        <m:ctrlPr>
                          <a:rPr lang="en-GB" sz="3200" b="0" i="1" smtClean="0">
                            <a:latin typeface="Cambria Math" panose="02040503050406030204" pitchFamily="18" charset="0"/>
                            <a:cs typeface="Arial" panose="020B0604020202020204" pitchFamily="34" charset="0"/>
                          </a:rPr>
                        </m:ctrlPr>
                      </m:dPr>
                      <m:e>
                        <m:sSubSup>
                          <m:sSubSupPr>
                            <m:ctrlPr>
                              <a:rPr lang="en-GB" sz="3200" b="0" i="1" smtClean="0">
                                <a:latin typeface="Cambria Math" panose="02040503050406030204" pitchFamily="18" charset="0"/>
                                <a:cs typeface="Arial" panose="020B0604020202020204" pitchFamily="34" charset="0"/>
                              </a:rPr>
                            </m:ctrlPr>
                          </m:sSubSupPr>
                          <m:e>
                            <m:r>
                              <a:rPr lang="en-GB" sz="3200" b="0" i="1" smtClean="0">
                                <a:latin typeface="Cambria Math" panose="02040503050406030204" pitchFamily="18" charset="0"/>
                                <a:cs typeface="Arial" panose="020B0604020202020204" pitchFamily="34" charset="0"/>
                              </a:rPr>
                              <m:t>𝜎</m:t>
                            </m:r>
                          </m:e>
                          <m:sub>
                            <m:r>
                              <a:rPr lang="en-GB" sz="3200" b="0" i="1" smtClean="0">
                                <a:latin typeface="Cambria Math" panose="02040503050406030204" pitchFamily="18" charset="0"/>
                                <a:cs typeface="Arial" panose="020B0604020202020204" pitchFamily="34" charset="0"/>
                              </a:rPr>
                              <m:t>𝜒</m:t>
                            </m:r>
                          </m:sub>
                          <m:sup>
                            <m:r>
                              <a:rPr lang="en-GB" sz="3200" b="0" i="1" smtClean="0">
                                <a:latin typeface="Cambria Math" panose="02040503050406030204" pitchFamily="18" charset="0"/>
                                <a:cs typeface="Arial" panose="020B0604020202020204" pitchFamily="34" charset="0"/>
                              </a:rPr>
                              <m:t>2</m:t>
                            </m:r>
                          </m:sup>
                        </m:sSubSup>
                      </m:e>
                    </m:d>
                  </m:oMath>
                </a14:m>
                <a:r>
                  <a:rPr lang="en-US" sz="3200" dirty="0">
                    <a:latin typeface="Arial" panose="020B0604020202020204" pitchFamily="34" charset="0"/>
                    <a:cs typeface="Arial" panose="020B0604020202020204" pitchFamily="34" charset="0"/>
                  </a:rPr>
                  <a:t>. In this study Rytov approximation[3] is used as reference point of variation in intensity. Scintillation index depends on turbulence profile </a:t>
                </a:r>
                <a14:m>
                  <m:oMath xmlns:m="http://schemas.openxmlformats.org/officeDocument/2006/math">
                    <m:r>
                      <a:rPr lang="en-GB" sz="3200" b="0" i="1" smtClean="0">
                        <a:latin typeface="Cambria Math" panose="02040503050406030204" pitchFamily="18" charset="0"/>
                        <a:cs typeface="Arial" panose="020B0604020202020204" pitchFamily="34" charset="0"/>
                      </a:rPr>
                      <m:t>(</m:t>
                    </m:r>
                    <m:sSubSup>
                      <m:sSubSupPr>
                        <m:ctrlPr>
                          <a:rPr lang="en-GB" sz="3200" b="0" i="1" smtClean="0">
                            <a:latin typeface="Cambria Math" panose="02040503050406030204" pitchFamily="18" charset="0"/>
                            <a:cs typeface="Arial" panose="020B0604020202020204" pitchFamily="34" charset="0"/>
                          </a:rPr>
                        </m:ctrlPr>
                      </m:sSubSupPr>
                      <m:e>
                        <m:r>
                          <a:rPr lang="en-GB" sz="3200" b="0" i="1" smtClean="0">
                            <a:latin typeface="Cambria Math" panose="02040503050406030204" pitchFamily="18" charset="0"/>
                            <a:cs typeface="Arial" panose="020B0604020202020204" pitchFamily="34" charset="0"/>
                          </a:rPr>
                          <m:t>𝐶</m:t>
                        </m:r>
                      </m:e>
                      <m:sub>
                        <m:r>
                          <a:rPr lang="en-GB" sz="3200" b="0" i="1" smtClean="0">
                            <a:latin typeface="Cambria Math" panose="02040503050406030204" pitchFamily="18" charset="0"/>
                            <a:cs typeface="Arial" panose="020B0604020202020204" pitchFamily="34" charset="0"/>
                          </a:rPr>
                          <m:t>𝑛</m:t>
                        </m:r>
                      </m:sub>
                      <m:sup>
                        <m:r>
                          <a:rPr lang="en-GB" sz="3200" b="0" i="1" smtClean="0">
                            <a:latin typeface="Cambria Math" panose="02040503050406030204" pitchFamily="18" charset="0"/>
                            <a:cs typeface="Arial" panose="020B0604020202020204" pitchFamily="34" charset="0"/>
                          </a:rPr>
                          <m:t>2</m:t>
                        </m:r>
                      </m:sup>
                    </m:sSubSup>
                    <m:d>
                      <m:dPr>
                        <m:ctrlPr>
                          <a:rPr lang="en-GB" sz="3200" b="0" i="1" smtClean="0">
                            <a:latin typeface="Cambria Math" panose="02040503050406030204" pitchFamily="18" charset="0"/>
                            <a:cs typeface="Arial" panose="020B0604020202020204" pitchFamily="34" charset="0"/>
                          </a:rPr>
                        </m:ctrlPr>
                      </m:dPr>
                      <m:e>
                        <m:r>
                          <a:rPr lang="en-GB" sz="3200" b="0" i="1" smtClean="0">
                            <a:latin typeface="Cambria Math" panose="02040503050406030204" pitchFamily="18" charset="0"/>
                            <a:cs typeface="Arial" panose="020B0604020202020204" pitchFamily="34" charset="0"/>
                          </a:rPr>
                          <m:t>h</m:t>
                        </m:r>
                      </m:e>
                    </m:d>
                    <m:r>
                      <a:rPr lang="en-GB" sz="3200" b="0" i="1" smtClean="0">
                        <a:latin typeface="Cambria Math" panose="02040503050406030204" pitchFamily="18" charset="0"/>
                        <a:cs typeface="Arial" panose="020B0604020202020204" pitchFamily="34" charset="0"/>
                      </a:rPr>
                      <m:t>𝑑h</m:t>
                    </m:r>
                    <m:r>
                      <a:rPr lang="en-GB" sz="3200" b="0" i="1" smtClean="0">
                        <a:latin typeface="Cambria Math" panose="02040503050406030204" pitchFamily="18" charset="0"/>
                        <a:cs typeface="Arial" panose="020B0604020202020204" pitchFamily="34" charset="0"/>
                      </a:rPr>
                      <m:t>)</m:t>
                    </m:r>
                  </m:oMath>
                </a14:m>
                <a:r>
                  <a:rPr lang="en-US" sz="3200" dirty="0">
                    <a:latin typeface="Arial" panose="020B0604020202020204" pitchFamily="34" charset="0"/>
                    <a:cs typeface="Arial" panose="020B0604020202020204" pitchFamily="34" charset="0"/>
                  </a:rPr>
                  <a:t>, zenith angle of observation </a:t>
                </a:r>
                <a14:m>
                  <m:oMath xmlns:m="http://schemas.openxmlformats.org/officeDocument/2006/math">
                    <m:r>
                      <a:rPr lang="en-GB" sz="3200" b="0" i="1" smtClean="0">
                        <a:latin typeface="Cambria Math" panose="02040503050406030204" pitchFamily="18" charset="0"/>
                        <a:cs typeface="Arial" panose="020B0604020202020204" pitchFamily="34" charset="0"/>
                      </a:rPr>
                      <m:t>(</m:t>
                    </m:r>
                    <m:r>
                      <a:rPr lang="en-GB" sz="3200" b="0" i="1" smtClean="0">
                        <a:latin typeface="Cambria Math" panose="02040503050406030204" pitchFamily="18" charset="0"/>
                        <a:cs typeface="Arial" panose="020B0604020202020204" pitchFamily="34" charset="0"/>
                      </a:rPr>
                      <m:t>𝜁</m:t>
                    </m:r>
                    <m:r>
                      <a:rPr lang="en-GB" sz="3200" b="0" i="1" smtClean="0">
                        <a:latin typeface="Cambria Math" panose="02040503050406030204" pitchFamily="18" charset="0"/>
                        <a:cs typeface="Arial" panose="020B0604020202020204" pitchFamily="34" charset="0"/>
                      </a:rPr>
                      <m:t>)</m:t>
                    </m:r>
                  </m:oMath>
                </a14:m>
                <a:r>
                  <a:rPr lang="en-US" sz="3200" dirty="0">
                    <a:latin typeface="Arial" panose="020B0604020202020204" pitchFamily="34" charset="0"/>
                    <a:cs typeface="Arial" panose="020B0604020202020204" pitchFamily="34" charset="0"/>
                  </a:rPr>
                  <a:t>, and altitude of turbulence </a:t>
                </a:r>
                <a14:m>
                  <m:oMath xmlns:m="http://schemas.openxmlformats.org/officeDocument/2006/math">
                    <m:d>
                      <m:dPr>
                        <m:ctrlPr>
                          <a:rPr lang="en-GB" sz="3200" b="0" i="1" smtClean="0">
                            <a:latin typeface="Cambria Math" panose="02040503050406030204" pitchFamily="18" charset="0"/>
                            <a:cs typeface="Arial" panose="020B0604020202020204" pitchFamily="34" charset="0"/>
                          </a:rPr>
                        </m:ctrlPr>
                      </m:dPr>
                      <m:e>
                        <m:r>
                          <a:rPr lang="en-GB" sz="3200" b="0" i="1" smtClean="0">
                            <a:latin typeface="Cambria Math" panose="02040503050406030204" pitchFamily="18" charset="0"/>
                            <a:cs typeface="Arial" panose="020B0604020202020204" pitchFamily="34" charset="0"/>
                          </a:rPr>
                          <m:t>h</m:t>
                        </m:r>
                      </m:e>
                    </m:d>
                  </m:oMath>
                </a14:m>
                <a:r>
                  <a:rPr lang="en-US" sz="3200" dirty="0">
                    <a:latin typeface="Arial" panose="020B0604020202020204" pitchFamily="34" charset="0"/>
                    <a:cs typeface="Arial" panose="020B0604020202020204" pitchFamily="34" charset="0"/>
                  </a:rPr>
                  <a:t>.</a:t>
                </a:r>
              </a:p>
              <a:p>
                <a:pPr algn="ctr"/>
                <a14:m>
                  <m:oMathPara xmlns:m="http://schemas.openxmlformats.org/officeDocument/2006/math">
                    <m:oMathParaPr>
                      <m:jc m:val="centerGroup"/>
                    </m:oMathParaPr>
                    <m:oMath xmlns:m="http://schemas.openxmlformats.org/officeDocument/2006/math">
                      <m:sSubSup>
                        <m:sSubSupPr>
                          <m:ctrlPr>
                            <a:rPr lang="en-GB" sz="3200" b="0" i="1" smtClean="0">
                              <a:latin typeface="Cambria Math" panose="02040503050406030204" pitchFamily="18" charset="0"/>
                              <a:cs typeface="Arial" panose="020B0604020202020204" pitchFamily="34" charset="0"/>
                            </a:rPr>
                          </m:ctrlPr>
                        </m:sSubSupPr>
                        <m:e>
                          <m:r>
                            <a:rPr lang="en-GB" sz="3200" b="0" i="1" smtClean="0">
                              <a:latin typeface="Cambria Math" panose="02040503050406030204" pitchFamily="18" charset="0"/>
                              <a:cs typeface="Arial" panose="020B0604020202020204" pitchFamily="34" charset="0"/>
                            </a:rPr>
                            <m:t>𝜎</m:t>
                          </m:r>
                        </m:e>
                        <m:sub>
                          <m:r>
                            <a:rPr lang="en-GB" sz="3200" b="0" i="1" smtClean="0">
                              <a:latin typeface="Cambria Math" panose="02040503050406030204" pitchFamily="18" charset="0"/>
                              <a:cs typeface="Arial" panose="020B0604020202020204" pitchFamily="34" charset="0"/>
                            </a:rPr>
                            <m:t>𝜒</m:t>
                          </m:r>
                        </m:sub>
                        <m:sup>
                          <m:r>
                            <a:rPr lang="en-GB" sz="3200" b="0" i="1" smtClean="0">
                              <a:latin typeface="Cambria Math" panose="02040503050406030204" pitchFamily="18" charset="0"/>
                              <a:cs typeface="Arial" panose="020B0604020202020204" pitchFamily="34" charset="0"/>
                            </a:rPr>
                            <m:t>2</m:t>
                          </m:r>
                        </m:sup>
                      </m:sSubSup>
                      <m:r>
                        <a:rPr lang="en-GB" sz="3200" b="0" i="1" smtClean="0">
                          <a:latin typeface="Cambria Math" panose="02040503050406030204" pitchFamily="18" charset="0"/>
                          <a:cs typeface="Arial" panose="020B0604020202020204" pitchFamily="34" charset="0"/>
                        </a:rPr>
                        <m:t>≈0.5631</m:t>
                      </m:r>
                      <m:sSubSup>
                        <m:sSubSupPr>
                          <m:ctrlPr>
                            <a:rPr lang="en-GB" sz="3200" b="0" i="1" smtClean="0">
                              <a:latin typeface="Cambria Math" panose="02040503050406030204" pitchFamily="18" charset="0"/>
                              <a:cs typeface="Arial" panose="020B0604020202020204" pitchFamily="34" charset="0"/>
                            </a:rPr>
                          </m:ctrlPr>
                        </m:sSubSupPr>
                        <m:e>
                          <m:r>
                            <a:rPr lang="en-GB" sz="3200" b="0" i="1" smtClean="0">
                              <a:latin typeface="Cambria Math" panose="02040503050406030204" pitchFamily="18" charset="0"/>
                              <a:cs typeface="Arial" panose="020B0604020202020204" pitchFamily="34" charset="0"/>
                            </a:rPr>
                            <m:t>𝑘</m:t>
                          </m:r>
                        </m:e>
                        <m:sub>
                          <m:r>
                            <a:rPr lang="en-GB" sz="3200" b="0" i="1" smtClean="0">
                              <a:latin typeface="Cambria Math" panose="02040503050406030204" pitchFamily="18" charset="0"/>
                              <a:cs typeface="Arial" panose="020B0604020202020204" pitchFamily="34" charset="0"/>
                            </a:rPr>
                            <m:t>0</m:t>
                          </m:r>
                        </m:sub>
                        <m:sup>
                          <m:r>
                            <a:rPr lang="en-GB" sz="3200" b="0" i="1" smtClean="0">
                              <a:latin typeface="Cambria Math" panose="02040503050406030204" pitchFamily="18" charset="0"/>
                              <a:cs typeface="Arial" panose="020B0604020202020204" pitchFamily="34" charset="0"/>
                            </a:rPr>
                            <m:t>7/6</m:t>
                          </m:r>
                        </m:sup>
                      </m:sSubSup>
                      <m:sSup>
                        <m:sSupPr>
                          <m:ctrlPr>
                            <a:rPr lang="en-GB" sz="3200" b="0" i="1" smtClean="0">
                              <a:latin typeface="Cambria Math" panose="02040503050406030204" pitchFamily="18" charset="0"/>
                              <a:cs typeface="Arial" panose="020B0604020202020204" pitchFamily="34" charset="0"/>
                            </a:rPr>
                          </m:ctrlPr>
                        </m:sSupPr>
                        <m:e>
                          <m:r>
                            <m:rPr>
                              <m:sty m:val="p"/>
                            </m:rPr>
                            <a:rPr lang="en-GB" sz="3200" b="0" i="0" smtClean="0">
                              <a:latin typeface="Cambria Math" panose="02040503050406030204" pitchFamily="18" charset="0"/>
                              <a:cs typeface="Arial" panose="020B0604020202020204" pitchFamily="34" charset="0"/>
                            </a:rPr>
                            <m:t>sec</m:t>
                          </m:r>
                        </m:e>
                        <m:sup>
                          <m:r>
                            <a:rPr lang="en-GB" sz="3200" b="0" i="1" smtClean="0">
                              <a:latin typeface="Cambria Math" panose="02040503050406030204" pitchFamily="18" charset="0"/>
                              <a:cs typeface="Arial" panose="020B0604020202020204" pitchFamily="34" charset="0"/>
                            </a:rPr>
                            <m:t>11/6</m:t>
                          </m:r>
                        </m:sup>
                      </m:sSup>
                      <m:r>
                        <a:rPr lang="en-GB" sz="3200" i="1">
                          <a:latin typeface="Cambria Math" panose="02040503050406030204" pitchFamily="18" charset="0"/>
                          <a:cs typeface="Arial" panose="020B0604020202020204" pitchFamily="34" charset="0"/>
                        </a:rPr>
                        <m:t>𝜁</m:t>
                      </m:r>
                      <m:nary>
                        <m:naryPr>
                          <m:grow m:val="on"/>
                          <m:subHide m:val="on"/>
                          <m:supHide m:val="on"/>
                          <m:ctrlPr>
                            <a:rPr lang="en-US" sz="3200" i="1" dirty="0" smtClean="0">
                              <a:latin typeface="Cambria Math" panose="02040503050406030204" pitchFamily="18" charset="0"/>
                            </a:rPr>
                          </m:ctrlPr>
                        </m:naryPr>
                        <m:sub/>
                        <m:sup/>
                        <m:e>
                          <m:sSup>
                            <m:sSupPr>
                              <m:ctrlPr>
                                <a:rPr lang="en-GB" sz="3200" i="1">
                                  <a:latin typeface="Cambria Math" panose="02040503050406030204" pitchFamily="18" charset="0"/>
                                  <a:cs typeface="Arial" panose="020B0604020202020204" pitchFamily="34" charset="0"/>
                                </a:rPr>
                              </m:ctrlPr>
                            </m:sSupPr>
                            <m:e>
                              <m:r>
                                <a:rPr lang="en-GB" sz="3200" i="1">
                                  <a:latin typeface="Cambria Math" panose="02040503050406030204" pitchFamily="18" charset="0"/>
                                  <a:cs typeface="Arial" panose="020B0604020202020204" pitchFamily="34" charset="0"/>
                                </a:rPr>
                                <m:t>h</m:t>
                              </m:r>
                            </m:e>
                            <m:sup>
                              <m:r>
                                <a:rPr lang="en-GB" sz="3200" i="1">
                                  <a:latin typeface="Cambria Math" panose="02040503050406030204" pitchFamily="18" charset="0"/>
                                  <a:cs typeface="Arial" panose="020B0604020202020204" pitchFamily="34" charset="0"/>
                                </a:rPr>
                                <m:t>5/6</m:t>
                              </m:r>
                            </m:sup>
                          </m:sSup>
                          <m:sSubSup>
                            <m:sSubSupPr>
                              <m:ctrlPr>
                                <a:rPr lang="en-GB" sz="3200" i="1">
                                  <a:latin typeface="Cambria Math" panose="02040503050406030204" pitchFamily="18" charset="0"/>
                                  <a:cs typeface="Arial" panose="020B0604020202020204" pitchFamily="34" charset="0"/>
                                </a:rPr>
                              </m:ctrlPr>
                            </m:sSubSupPr>
                            <m:e>
                              <m:r>
                                <a:rPr lang="en-GB" sz="3200" i="1">
                                  <a:latin typeface="Cambria Math" panose="02040503050406030204" pitchFamily="18" charset="0"/>
                                  <a:cs typeface="Arial" panose="020B0604020202020204" pitchFamily="34" charset="0"/>
                                </a:rPr>
                                <m:t>𝐶</m:t>
                              </m:r>
                            </m:e>
                            <m:sub>
                              <m:r>
                                <a:rPr lang="en-GB" sz="3200" i="1">
                                  <a:latin typeface="Cambria Math" panose="02040503050406030204" pitchFamily="18" charset="0"/>
                                  <a:cs typeface="Arial" panose="020B0604020202020204" pitchFamily="34" charset="0"/>
                                </a:rPr>
                                <m:t>𝑛</m:t>
                              </m:r>
                            </m:sub>
                            <m:sup>
                              <m:r>
                                <a:rPr lang="en-GB" sz="3200" i="1">
                                  <a:latin typeface="Cambria Math" panose="02040503050406030204" pitchFamily="18" charset="0"/>
                                  <a:cs typeface="Arial" panose="020B0604020202020204" pitchFamily="34" charset="0"/>
                                </a:rPr>
                                <m:t>2</m:t>
                              </m:r>
                            </m:sup>
                          </m:sSubSup>
                          <m:d>
                            <m:dPr>
                              <m:ctrlPr>
                                <a:rPr lang="en-GB" sz="3200" i="1">
                                  <a:latin typeface="Cambria Math" panose="02040503050406030204" pitchFamily="18" charset="0"/>
                                  <a:cs typeface="Arial" panose="020B0604020202020204" pitchFamily="34" charset="0"/>
                                </a:rPr>
                              </m:ctrlPr>
                            </m:dPr>
                            <m:e>
                              <m:r>
                                <a:rPr lang="en-GB" sz="3200" i="1">
                                  <a:latin typeface="Cambria Math" panose="02040503050406030204" pitchFamily="18" charset="0"/>
                                  <a:cs typeface="Arial" panose="020B0604020202020204" pitchFamily="34" charset="0"/>
                                </a:rPr>
                                <m:t>h</m:t>
                              </m:r>
                            </m:e>
                          </m:d>
                          <m:r>
                            <a:rPr lang="en-GB" sz="3200" i="1">
                              <a:latin typeface="Cambria Math" panose="02040503050406030204" pitchFamily="18" charset="0"/>
                              <a:cs typeface="Arial" panose="020B0604020202020204" pitchFamily="34" charset="0"/>
                            </a:rPr>
                            <m:t>𝑑h</m:t>
                          </m:r>
                        </m:e>
                      </m:nary>
                    </m:oMath>
                  </m:oMathPara>
                </a14:m>
                <a:endParaRPr lang="en-US" sz="3200" dirty="0">
                  <a:latin typeface="Arial" panose="020B0604020202020204" pitchFamily="34" charset="0"/>
                  <a:cs typeface="Arial" panose="020B0604020202020204" pitchFamily="34" charset="0"/>
                </a:endParaRPr>
              </a:p>
            </p:txBody>
          </p:sp>
        </mc:Choice>
        <mc:Fallback xmlns="">
          <p:sp>
            <p:nvSpPr>
              <p:cNvPr id="562" name="TextBox 561">
                <a:extLst>
                  <a:ext uri="{FF2B5EF4-FFF2-40B4-BE49-F238E27FC236}">
                    <a16:creationId xmlns:a16="http://schemas.microsoft.com/office/drawing/2014/main" id="{492752C7-21D9-F95C-CD6B-8B5D133FA1ED}"/>
                  </a:ext>
                </a:extLst>
              </p:cNvPr>
              <p:cNvSpPr txBox="1">
                <a:spLocks noRot="1" noChangeAspect="1" noMove="1" noResize="1" noEditPoints="1" noAdjustHandles="1" noChangeArrowheads="1" noChangeShapeType="1" noTextEdit="1"/>
              </p:cNvSpPr>
              <p:nvPr/>
            </p:nvSpPr>
            <p:spPr>
              <a:xfrm>
                <a:off x="649905" y="20347000"/>
                <a:ext cx="14481940" cy="9701438"/>
              </a:xfrm>
              <a:prstGeom prst="rect">
                <a:avLst/>
              </a:prstGeom>
              <a:blipFill>
                <a:blip r:embed="rId70"/>
                <a:stretch>
                  <a:fillRect l="-1095" r="-1263"/>
                </a:stretch>
              </a:blipFill>
            </p:spPr>
            <p:txBody>
              <a:bodyPr/>
              <a:lstStyle/>
              <a:p>
                <a:r>
                  <a:rPr lang="en-GB">
                    <a:noFill/>
                  </a:rPr>
                  <a:t> </a:t>
                </a:r>
              </a:p>
            </p:txBody>
          </p:sp>
        </mc:Fallback>
      </mc:AlternateContent>
      <p:sp>
        <p:nvSpPr>
          <p:cNvPr id="482" name="TextBox 481">
            <a:extLst>
              <a:ext uri="{FF2B5EF4-FFF2-40B4-BE49-F238E27FC236}">
                <a16:creationId xmlns:a16="http://schemas.microsoft.com/office/drawing/2014/main" id="{F0F14AA7-CB06-C8AC-8C02-AF46343273EF}"/>
              </a:ext>
            </a:extLst>
          </p:cNvPr>
          <p:cNvSpPr txBox="1"/>
          <p:nvPr/>
        </p:nvSpPr>
        <p:spPr>
          <a:xfrm>
            <a:off x="678424" y="29467271"/>
            <a:ext cx="14276439" cy="4433073"/>
          </a:xfrm>
          <a:prstGeom prst="rect">
            <a:avLst/>
          </a:prstGeom>
          <a:noFill/>
        </p:spPr>
        <p:txBody>
          <a:bodyPr wrap="square" rtlCol="0">
            <a:spAutoFit/>
          </a:bodyPr>
          <a:lstStyle/>
          <a:p>
            <a:pPr marL="0" indent="0" defTabSz="457200">
              <a:lnSpc>
                <a:spcPct val="150000"/>
              </a:lnSpc>
              <a:spcBef>
                <a:spcPts val="0"/>
              </a:spcBef>
              <a:buNone/>
              <a:defRPr/>
            </a:pPr>
            <a:r>
              <a:rPr lang="en-US" sz="3200" b="1" dirty="0">
                <a:solidFill>
                  <a:srgbClr val="54145A"/>
                </a:solidFill>
                <a:latin typeface="Arial" panose="020B0604020202020204" pitchFamily="34" charset="0"/>
                <a:cs typeface="Arial" panose="020B0604020202020204" pitchFamily="34" charset="0"/>
              </a:rPr>
              <a:t>Method</a:t>
            </a:r>
          </a:p>
          <a:p>
            <a:pPr marL="0" indent="0" defTabSz="457200">
              <a:lnSpc>
                <a:spcPct val="150000"/>
              </a:lnSpc>
              <a:spcBef>
                <a:spcPts val="0"/>
              </a:spcBef>
              <a:buNone/>
              <a:defRPr/>
            </a:pPr>
            <a:r>
              <a:rPr lang="en-US" sz="3200" dirty="0">
                <a:latin typeface="Arial" panose="020B0604020202020204" pitchFamily="34" charset="0"/>
                <a:cs typeface="Arial" panose="020B0604020202020204" pitchFamily="34" charset="0"/>
              </a:rPr>
              <a:t>To model this effect, we have implemented an AO simulation incorporating optical propagation between DMs and WFS. Figure 2 shows the effect of optical propagation of DM1 phase at the WFS through operating DM2. Actuator shift has been increased by varying the propagation distance between DM2 and DM1. As a side effect, scintillation also increases.</a:t>
            </a:r>
          </a:p>
        </p:txBody>
      </p:sp>
      <p:grpSp>
        <p:nvGrpSpPr>
          <p:cNvPr id="514" name="Group 513">
            <a:extLst>
              <a:ext uri="{FF2B5EF4-FFF2-40B4-BE49-F238E27FC236}">
                <a16:creationId xmlns:a16="http://schemas.microsoft.com/office/drawing/2014/main" id="{65885FAF-676F-6F98-72E9-33085B83EA63}"/>
              </a:ext>
            </a:extLst>
          </p:cNvPr>
          <p:cNvGrpSpPr/>
          <p:nvPr/>
        </p:nvGrpSpPr>
        <p:grpSpPr>
          <a:xfrm>
            <a:off x="15234500" y="36640815"/>
            <a:ext cx="6435546" cy="4761999"/>
            <a:chOff x="15234500" y="36640815"/>
            <a:chExt cx="6435546" cy="4761999"/>
          </a:xfrm>
        </p:grpSpPr>
        <p:grpSp>
          <p:nvGrpSpPr>
            <p:cNvPr id="484" name="Group 483">
              <a:extLst>
                <a:ext uri="{FF2B5EF4-FFF2-40B4-BE49-F238E27FC236}">
                  <a16:creationId xmlns:a16="http://schemas.microsoft.com/office/drawing/2014/main" id="{F29F17D4-A150-813F-1645-41D244E527CA}"/>
                </a:ext>
              </a:extLst>
            </p:cNvPr>
            <p:cNvGrpSpPr/>
            <p:nvPr/>
          </p:nvGrpSpPr>
          <p:grpSpPr>
            <a:xfrm>
              <a:off x="15234500" y="37446155"/>
              <a:ext cx="6102392" cy="3956659"/>
              <a:chOff x="15234500" y="36874655"/>
              <a:chExt cx="6102392" cy="3956659"/>
            </a:xfrm>
          </p:grpSpPr>
          <p:pic>
            <p:nvPicPr>
              <p:cNvPr id="79" name="Picture 78" descr="A line graph of different colored objects&#10;&#10;Description automatically generated with medium confidence">
                <a:extLst>
                  <a:ext uri="{FF2B5EF4-FFF2-40B4-BE49-F238E27FC236}">
                    <a16:creationId xmlns:a16="http://schemas.microsoft.com/office/drawing/2014/main" id="{45A26241-4BEF-93A3-A7E4-224C1199FA87}"/>
                  </a:ext>
                </a:extLst>
              </p:cNvPr>
              <p:cNvPicPr>
                <a:picLocks noChangeAspect="1"/>
              </p:cNvPicPr>
              <p:nvPr/>
            </p:nvPicPr>
            <p:blipFill>
              <a:blip r:embed="rId71">
                <a:extLst>
                  <a:ext uri="{28A0092B-C50C-407E-A947-70E740481C1C}">
                    <a14:useLocalDpi xmlns:a14="http://schemas.microsoft.com/office/drawing/2010/main" val="0"/>
                  </a:ext>
                </a:extLst>
              </a:blip>
              <a:stretch>
                <a:fillRect/>
              </a:stretch>
            </p:blipFill>
            <p:spPr>
              <a:xfrm>
                <a:off x="15734542" y="36874655"/>
                <a:ext cx="5602350" cy="3769125"/>
              </a:xfrm>
              <a:prstGeom prst="rect">
                <a:avLst/>
              </a:prstGeom>
            </p:spPr>
          </p:pic>
          <p:sp>
            <p:nvSpPr>
              <p:cNvPr id="563" name="Rectangle 562">
                <a:extLst>
                  <a:ext uri="{FF2B5EF4-FFF2-40B4-BE49-F238E27FC236}">
                    <a16:creationId xmlns:a16="http://schemas.microsoft.com/office/drawing/2014/main" id="{A657D378-D9BB-257D-874C-232F844A0219}"/>
                  </a:ext>
                </a:extLst>
              </p:cNvPr>
              <p:cNvSpPr/>
              <p:nvPr/>
            </p:nvSpPr>
            <p:spPr>
              <a:xfrm>
                <a:off x="16220432" y="40557528"/>
                <a:ext cx="4454770" cy="2278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566" name="Rectangle 565">
                <a:extLst>
                  <a:ext uri="{FF2B5EF4-FFF2-40B4-BE49-F238E27FC236}">
                    <a16:creationId xmlns:a16="http://schemas.microsoft.com/office/drawing/2014/main" id="{24F27019-2A78-2DBB-9E4D-9BC7C4A32A0A}"/>
                  </a:ext>
                </a:extLst>
              </p:cNvPr>
              <p:cNvSpPr/>
              <p:nvPr/>
            </p:nvSpPr>
            <p:spPr>
              <a:xfrm>
                <a:off x="15540892" y="36940197"/>
                <a:ext cx="453028" cy="354137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570" name="TextBox 569">
                <a:extLst>
                  <a:ext uri="{FF2B5EF4-FFF2-40B4-BE49-F238E27FC236}">
                    <a16:creationId xmlns:a16="http://schemas.microsoft.com/office/drawing/2014/main" id="{A2F56A80-B2FC-ADEC-AAAA-F3C91C8829FA}"/>
                  </a:ext>
                </a:extLst>
              </p:cNvPr>
              <p:cNvSpPr txBox="1"/>
              <p:nvPr/>
            </p:nvSpPr>
            <p:spPr>
              <a:xfrm rot="16200000">
                <a:off x="15026977" y="38587202"/>
                <a:ext cx="735164" cy="320117"/>
              </a:xfrm>
              <a:prstGeom prst="rect">
                <a:avLst/>
              </a:prstGeom>
              <a:noFill/>
            </p:spPr>
            <p:txBody>
              <a:bodyPr wrap="none" rtlCol="0" anchor="ctr">
                <a:spAutoFit/>
              </a:bodyPr>
              <a:lstStyle/>
              <a:p>
                <a:pPr algn="ctr"/>
                <a:r>
                  <a:rPr kumimoji="0" lang="en-GB" sz="200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Strehl</a:t>
                </a:r>
              </a:p>
            </p:txBody>
          </p:sp>
          <p:sp>
            <p:nvSpPr>
              <p:cNvPr id="458" name="Rectangle 457">
                <a:extLst>
                  <a:ext uri="{FF2B5EF4-FFF2-40B4-BE49-F238E27FC236}">
                    <a16:creationId xmlns:a16="http://schemas.microsoft.com/office/drawing/2014/main" id="{D4186BA1-9968-DE61-E9F0-24EC8DD84656}"/>
                  </a:ext>
                </a:extLst>
              </p:cNvPr>
              <p:cNvSpPr/>
              <p:nvPr/>
            </p:nvSpPr>
            <p:spPr>
              <a:xfrm>
                <a:off x="15647510" y="36933954"/>
                <a:ext cx="383212" cy="34331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474" name="Rectangle 473">
                <a:extLst>
                  <a:ext uri="{FF2B5EF4-FFF2-40B4-BE49-F238E27FC236}">
                    <a16:creationId xmlns:a16="http://schemas.microsoft.com/office/drawing/2014/main" id="{86426226-BF3B-5122-7300-8B54015F015A}"/>
                  </a:ext>
                </a:extLst>
              </p:cNvPr>
              <p:cNvSpPr/>
              <p:nvPr/>
            </p:nvSpPr>
            <p:spPr>
              <a:xfrm rot="5400000">
                <a:off x="18531889" y="38085100"/>
                <a:ext cx="411974" cy="50804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000"/>
              </a:p>
            </p:txBody>
          </p:sp>
          <p:sp>
            <p:nvSpPr>
              <p:cNvPr id="561" name="TextBox 560">
                <a:extLst>
                  <a:ext uri="{FF2B5EF4-FFF2-40B4-BE49-F238E27FC236}">
                    <a16:creationId xmlns:a16="http://schemas.microsoft.com/office/drawing/2014/main" id="{2CE29532-1DB9-5621-B4A8-FE6DD2B83671}"/>
                  </a:ext>
                </a:extLst>
              </p:cNvPr>
              <p:cNvSpPr txBox="1"/>
              <p:nvPr/>
            </p:nvSpPr>
            <p:spPr>
              <a:xfrm>
                <a:off x="17813770" y="40443631"/>
                <a:ext cx="1571340" cy="344143"/>
              </a:xfrm>
              <a:prstGeom prst="rect">
                <a:avLst/>
              </a:prstGeom>
              <a:noFill/>
            </p:spPr>
            <p:txBody>
              <a:bodyPr wrap="none" rtlCol="0" anchor="ctr">
                <a:spAutoFit/>
              </a:bodyPr>
              <a:lstStyle/>
              <a:p>
                <a:pPr algn="ctr"/>
                <a:r>
                  <a:rPr lang="en-GB" sz="2000" dirty="0">
                    <a:latin typeface="Arial" panose="020B0604020202020204" pitchFamily="34" charset="0"/>
                    <a:cs typeface="Arial" panose="020B0604020202020204" pitchFamily="34" charset="0"/>
                  </a:rPr>
                  <a:t>Loop Iteration #</a:t>
                </a:r>
                <a:endParaRPr kumimoji="0" lang="en-GB" sz="200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endParaRPr>
              </a:p>
            </p:txBody>
          </p:sp>
          <p:sp>
            <p:nvSpPr>
              <p:cNvPr id="475" name="TextBox 474">
                <a:extLst>
                  <a:ext uri="{FF2B5EF4-FFF2-40B4-BE49-F238E27FC236}">
                    <a16:creationId xmlns:a16="http://schemas.microsoft.com/office/drawing/2014/main" id="{11ADDC1E-2FFD-5992-E7E9-1FE44E14E093}"/>
                  </a:ext>
                </a:extLst>
              </p:cNvPr>
              <p:cNvSpPr txBox="1"/>
              <p:nvPr/>
            </p:nvSpPr>
            <p:spPr>
              <a:xfrm>
                <a:off x="15513635" y="36882679"/>
                <a:ext cx="575142" cy="344143"/>
              </a:xfrm>
              <a:prstGeom prst="rect">
                <a:avLst/>
              </a:prstGeom>
              <a:noFill/>
            </p:spPr>
            <p:txBody>
              <a:bodyPr wrap="square" rtlCol="0" anchor="ctr">
                <a:spAutoFit/>
              </a:bodyPr>
              <a:lstStyle/>
              <a:p>
                <a:pPr algn="ctr"/>
                <a:r>
                  <a:rPr lang="en-GB" sz="2000" dirty="0">
                    <a:latin typeface="Arial" panose="020B0604020202020204" pitchFamily="34" charset="0"/>
                    <a:cs typeface="Arial" panose="020B0604020202020204" pitchFamily="34" charset="0"/>
                  </a:rPr>
                  <a:t>0.6</a:t>
                </a:r>
              </a:p>
            </p:txBody>
          </p:sp>
          <p:sp>
            <p:nvSpPr>
              <p:cNvPr id="481" name="TextBox 480">
                <a:extLst>
                  <a:ext uri="{FF2B5EF4-FFF2-40B4-BE49-F238E27FC236}">
                    <a16:creationId xmlns:a16="http://schemas.microsoft.com/office/drawing/2014/main" id="{C2D4FCDA-A564-60F4-B606-CC8E2C221235}"/>
                  </a:ext>
                </a:extLst>
              </p:cNvPr>
              <p:cNvSpPr txBox="1"/>
              <p:nvPr/>
            </p:nvSpPr>
            <p:spPr>
              <a:xfrm>
                <a:off x="15519442" y="37488155"/>
                <a:ext cx="575142" cy="344143"/>
              </a:xfrm>
              <a:prstGeom prst="rect">
                <a:avLst/>
              </a:prstGeom>
              <a:noFill/>
            </p:spPr>
            <p:txBody>
              <a:bodyPr wrap="square" rtlCol="0" anchor="ctr">
                <a:spAutoFit/>
              </a:bodyPr>
              <a:lstStyle/>
              <a:p>
                <a:pPr algn="ctr"/>
                <a:r>
                  <a:rPr lang="en-GB" sz="2000" dirty="0">
                    <a:latin typeface="Arial" panose="020B0604020202020204" pitchFamily="34" charset="0"/>
                    <a:cs typeface="Arial" panose="020B0604020202020204" pitchFamily="34" charset="0"/>
                  </a:rPr>
                  <a:t>0.5</a:t>
                </a:r>
              </a:p>
            </p:txBody>
          </p:sp>
          <p:sp>
            <p:nvSpPr>
              <p:cNvPr id="72" name="TextBox 71">
                <a:extLst>
                  <a:ext uri="{FF2B5EF4-FFF2-40B4-BE49-F238E27FC236}">
                    <a16:creationId xmlns:a16="http://schemas.microsoft.com/office/drawing/2014/main" id="{429903AC-0E31-4F1E-2800-781910CC343F}"/>
                  </a:ext>
                </a:extLst>
              </p:cNvPr>
              <p:cNvSpPr txBox="1"/>
              <p:nvPr/>
            </p:nvSpPr>
            <p:spPr>
              <a:xfrm>
                <a:off x="15513638" y="38106108"/>
                <a:ext cx="575142" cy="344143"/>
              </a:xfrm>
              <a:prstGeom prst="rect">
                <a:avLst/>
              </a:prstGeom>
              <a:noFill/>
            </p:spPr>
            <p:txBody>
              <a:bodyPr wrap="square" rtlCol="0" anchor="ctr">
                <a:spAutoFit/>
              </a:bodyPr>
              <a:lstStyle/>
              <a:p>
                <a:pPr algn="ctr"/>
                <a:r>
                  <a:rPr lang="en-GB" sz="2000" dirty="0">
                    <a:latin typeface="Arial" panose="020B0604020202020204" pitchFamily="34" charset="0"/>
                    <a:cs typeface="Arial" panose="020B0604020202020204" pitchFamily="34" charset="0"/>
                  </a:rPr>
                  <a:t>0.4</a:t>
                </a:r>
              </a:p>
            </p:txBody>
          </p:sp>
          <p:sp>
            <p:nvSpPr>
              <p:cNvPr id="85" name="TextBox 84">
                <a:extLst>
                  <a:ext uri="{FF2B5EF4-FFF2-40B4-BE49-F238E27FC236}">
                    <a16:creationId xmlns:a16="http://schemas.microsoft.com/office/drawing/2014/main" id="{BCFECD52-40A5-71BC-952A-8A6F89BB96CF}"/>
                  </a:ext>
                </a:extLst>
              </p:cNvPr>
              <p:cNvSpPr txBox="1"/>
              <p:nvPr/>
            </p:nvSpPr>
            <p:spPr>
              <a:xfrm>
                <a:off x="15519446" y="38724071"/>
                <a:ext cx="575142" cy="344143"/>
              </a:xfrm>
              <a:prstGeom prst="rect">
                <a:avLst/>
              </a:prstGeom>
              <a:noFill/>
            </p:spPr>
            <p:txBody>
              <a:bodyPr wrap="square" rtlCol="0" anchor="ctr">
                <a:spAutoFit/>
              </a:bodyPr>
              <a:lstStyle/>
              <a:p>
                <a:pPr algn="ctr"/>
                <a:r>
                  <a:rPr lang="en-GB" sz="2000" dirty="0">
                    <a:latin typeface="Arial" panose="020B0604020202020204" pitchFamily="34" charset="0"/>
                    <a:cs typeface="Arial" panose="020B0604020202020204" pitchFamily="34" charset="0"/>
                  </a:rPr>
                  <a:t>0.3</a:t>
                </a:r>
              </a:p>
            </p:txBody>
          </p:sp>
          <p:sp>
            <p:nvSpPr>
              <p:cNvPr id="89" name="TextBox 88">
                <a:extLst>
                  <a:ext uri="{FF2B5EF4-FFF2-40B4-BE49-F238E27FC236}">
                    <a16:creationId xmlns:a16="http://schemas.microsoft.com/office/drawing/2014/main" id="{DA7A2D2C-308B-31C2-5CFC-00ABFD91DB0A}"/>
                  </a:ext>
                </a:extLst>
              </p:cNvPr>
              <p:cNvSpPr txBox="1"/>
              <p:nvPr/>
            </p:nvSpPr>
            <p:spPr>
              <a:xfrm>
                <a:off x="15513638" y="39342019"/>
                <a:ext cx="575142" cy="344143"/>
              </a:xfrm>
              <a:prstGeom prst="rect">
                <a:avLst/>
              </a:prstGeom>
              <a:noFill/>
            </p:spPr>
            <p:txBody>
              <a:bodyPr wrap="square" rtlCol="0" anchor="ctr">
                <a:spAutoFit/>
              </a:bodyPr>
              <a:lstStyle/>
              <a:p>
                <a:pPr algn="ctr"/>
                <a:r>
                  <a:rPr lang="en-GB" sz="2000" dirty="0">
                    <a:latin typeface="Arial" panose="020B0604020202020204" pitchFamily="34" charset="0"/>
                    <a:cs typeface="Arial" panose="020B0604020202020204" pitchFamily="34" charset="0"/>
                  </a:rPr>
                  <a:t>0.2</a:t>
                </a:r>
              </a:p>
            </p:txBody>
          </p:sp>
          <p:sp>
            <p:nvSpPr>
              <p:cNvPr id="98" name="TextBox 97">
                <a:extLst>
                  <a:ext uri="{FF2B5EF4-FFF2-40B4-BE49-F238E27FC236}">
                    <a16:creationId xmlns:a16="http://schemas.microsoft.com/office/drawing/2014/main" id="{2AABD41F-1A17-E0AF-E065-B37ABD2AF2C1}"/>
                  </a:ext>
                </a:extLst>
              </p:cNvPr>
              <p:cNvSpPr txBox="1"/>
              <p:nvPr/>
            </p:nvSpPr>
            <p:spPr>
              <a:xfrm>
                <a:off x="15519449" y="39960002"/>
                <a:ext cx="575142" cy="344143"/>
              </a:xfrm>
              <a:prstGeom prst="rect">
                <a:avLst/>
              </a:prstGeom>
              <a:noFill/>
            </p:spPr>
            <p:txBody>
              <a:bodyPr wrap="square" rtlCol="0" anchor="ctr">
                <a:spAutoFit/>
              </a:bodyPr>
              <a:lstStyle/>
              <a:p>
                <a:pPr algn="ctr"/>
                <a:r>
                  <a:rPr lang="en-GB" sz="2000" dirty="0">
                    <a:latin typeface="Arial" panose="020B0604020202020204" pitchFamily="34" charset="0"/>
                    <a:cs typeface="Arial" panose="020B0604020202020204" pitchFamily="34" charset="0"/>
                  </a:rPr>
                  <a:t>0.1</a:t>
                </a:r>
              </a:p>
            </p:txBody>
          </p:sp>
        </p:grpSp>
        <p:grpSp>
          <p:nvGrpSpPr>
            <p:cNvPr id="500" name="Group 499">
              <a:extLst>
                <a:ext uri="{FF2B5EF4-FFF2-40B4-BE49-F238E27FC236}">
                  <a16:creationId xmlns:a16="http://schemas.microsoft.com/office/drawing/2014/main" id="{756EAD13-A51D-D90D-2A59-85C4146E168A}"/>
                </a:ext>
              </a:extLst>
            </p:cNvPr>
            <p:cNvGrpSpPr/>
            <p:nvPr/>
          </p:nvGrpSpPr>
          <p:grpSpPr>
            <a:xfrm>
              <a:off x="15989042" y="36640815"/>
              <a:ext cx="5681004" cy="799303"/>
              <a:chOff x="20047716" y="36587147"/>
              <a:chExt cx="5681004" cy="799303"/>
            </a:xfrm>
          </p:grpSpPr>
          <p:pic>
            <p:nvPicPr>
              <p:cNvPr id="71" name="Picture 70" descr="A black screen with colorful lines&#10;&#10;Description automatically generated">
                <a:extLst>
                  <a:ext uri="{FF2B5EF4-FFF2-40B4-BE49-F238E27FC236}">
                    <a16:creationId xmlns:a16="http://schemas.microsoft.com/office/drawing/2014/main" id="{FD050D01-8F01-0C86-9E79-E71BB0050AB3}"/>
                  </a:ext>
                </a:extLst>
              </p:cNvPr>
              <p:cNvPicPr>
                <a:picLocks noChangeAspect="1"/>
              </p:cNvPicPr>
              <p:nvPr/>
            </p:nvPicPr>
            <p:blipFill rotWithShape="1">
              <a:blip r:embed="rId72">
                <a:extLst>
                  <a:ext uri="{28A0092B-C50C-407E-A947-70E740481C1C}">
                    <a14:useLocalDpi xmlns:a14="http://schemas.microsoft.com/office/drawing/2010/main" val="0"/>
                  </a:ext>
                </a:extLst>
              </a:blip>
              <a:srcRect l="70108" t="11621" r="24520" b="84371"/>
              <a:stretch/>
            </p:blipFill>
            <p:spPr>
              <a:xfrm>
                <a:off x="20236905" y="37083999"/>
                <a:ext cx="311696" cy="285751"/>
              </a:xfrm>
              <a:prstGeom prst="rect">
                <a:avLst/>
              </a:prstGeom>
            </p:spPr>
          </p:pic>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4E338011-8D09-6520-4556-5C48674F1720}"/>
                      </a:ext>
                    </a:extLst>
                  </p:cNvPr>
                  <p:cNvSpPr txBox="1"/>
                  <p:nvPr/>
                </p:nvSpPr>
                <p:spPr>
                  <a:xfrm>
                    <a:off x="20079445" y="36590660"/>
                    <a:ext cx="2668322" cy="348172"/>
                  </a:xfrm>
                  <a:prstGeom prst="rect">
                    <a:avLst/>
                  </a:prstGeom>
                  <a:noFill/>
                </p:spPr>
                <p:txBody>
                  <a:bodyPr wrap="square" rtlCol="0" anchor="ctr">
                    <a:spAutoFit/>
                  </a:bodyPr>
                  <a:lstStyle/>
                  <a:p>
                    <a:pPr algn="ctr"/>
                    <a14:m>
                      <m:oMath xmlns:m="http://schemas.openxmlformats.org/officeDocument/2006/math">
                        <m:sSubSup>
                          <m:sSubSupPr>
                            <m:ctrlPr>
                              <a:rPr lang="en-GB" sz="1500" i="1" smtClean="0">
                                <a:latin typeface="Cambria Math" panose="02040503050406030204" pitchFamily="18" charset="0"/>
                                <a:cs typeface="Arial" panose="020B0604020202020204" pitchFamily="34" charset="0"/>
                              </a:rPr>
                            </m:ctrlPr>
                          </m:sSubSupPr>
                          <m:e>
                            <m:r>
                              <a:rPr lang="en-GB" sz="1500" i="1">
                                <a:latin typeface="Cambria Math" panose="02040503050406030204" pitchFamily="18" charset="0"/>
                                <a:cs typeface="Arial" panose="020B0604020202020204" pitchFamily="34" charset="0"/>
                              </a:rPr>
                              <m:t>𝜎</m:t>
                            </m:r>
                          </m:e>
                          <m:sub>
                            <m:r>
                              <a:rPr lang="en-GB" sz="1500" i="1">
                                <a:latin typeface="Cambria Math" panose="02040503050406030204" pitchFamily="18" charset="0"/>
                                <a:cs typeface="Arial" panose="020B0604020202020204" pitchFamily="34" charset="0"/>
                              </a:rPr>
                              <m:t>𝜒</m:t>
                            </m:r>
                          </m:sub>
                          <m:sup>
                            <m:r>
                              <a:rPr lang="en-GB" sz="1500" i="1">
                                <a:latin typeface="Cambria Math" panose="02040503050406030204" pitchFamily="18" charset="0"/>
                                <a:cs typeface="Arial" panose="020B0604020202020204" pitchFamily="34" charset="0"/>
                              </a:rPr>
                              <m:t>2</m:t>
                            </m:r>
                          </m:sup>
                        </m:sSubSup>
                      </m:oMath>
                    </a14:m>
                    <a:r>
                      <a:rPr lang="en-GB" sz="1500" dirty="0">
                        <a:latin typeface="Arial" panose="020B0604020202020204" pitchFamily="34" charset="0"/>
                        <a:cs typeface="Arial" panose="020B0604020202020204" pitchFamily="34" charset="0"/>
                      </a:rPr>
                      <a:t> = 0.0, AS =   0%</a:t>
                    </a:r>
                  </a:p>
                </p:txBody>
              </p:sp>
            </mc:Choice>
            <mc:Fallback xmlns="">
              <p:sp>
                <p:nvSpPr>
                  <p:cNvPr id="77" name="TextBox 76">
                    <a:extLst>
                      <a:ext uri="{FF2B5EF4-FFF2-40B4-BE49-F238E27FC236}">
                        <a16:creationId xmlns:a16="http://schemas.microsoft.com/office/drawing/2014/main" id="{4E338011-8D09-6520-4556-5C48674F1720}"/>
                      </a:ext>
                    </a:extLst>
                  </p:cNvPr>
                  <p:cNvSpPr txBox="1">
                    <a:spLocks noRot="1" noChangeAspect="1" noMove="1" noResize="1" noEditPoints="1" noAdjustHandles="1" noChangeArrowheads="1" noChangeShapeType="1" noTextEdit="1"/>
                  </p:cNvSpPr>
                  <p:nvPr/>
                </p:nvSpPr>
                <p:spPr>
                  <a:xfrm>
                    <a:off x="20079445" y="36590660"/>
                    <a:ext cx="2668322" cy="348172"/>
                  </a:xfrm>
                  <a:prstGeom prst="rect">
                    <a:avLst/>
                  </a:prstGeom>
                  <a:blipFill>
                    <a:blip r:embed="rId73"/>
                    <a:stretch>
                      <a:fillRect t="-3509" b="-122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5431F846-0A7F-5A3E-2368-B222F6B78D1A}"/>
                      </a:ext>
                    </a:extLst>
                  </p:cNvPr>
                  <p:cNvSpPr txBox="1"/>
                  <p:nvPr/>
                </p:nvSpPr>
                <p:spPr>
                  <a:xfrm>
                    <a:off x="20047716" y="37024319"/>
                    <a:ext cx="2742725" cy="348172"/>
                  </a:xfrm>
                  <a:prstGeom prst="rect">
                    <a:avLst/>
                  </a:prstGeom>
                  <a:noFill/>
                </p:spPr>
                <p:txBody>
                  <a:bodyPr wrap="square" rtlCol="0" anchor="ctr">
                    <a:spAutoFit/>
                  </a:bodyPr>
                  <a:lstStyle/>
                  <a:p>
                    <a:pPr algn="ctr"/>
                    <a14:m>
                      <m:oMath xmlns:m="http://schemas.openxmlformats.org/officeDocument/2006/math">
                        <m:sSubSup>
                          <m:sSubSupPr>
                            <m:ctrlPr>
                              <a:rPr lang="en-GB" sz="1500" b="0" i="1" smtClean="0">
                                <a:latin typeface="Cambria Math" panose="02040503050406030204" pitchFamily="18" charset="0"/>
                                <a:cs typeface="Arial" panose="020B0604020202020204" pitchFamily="34" charset="0"/>
                              </a:rPr>
                            </m:ctrlPr>
                          </m:sSubSupPr>
                          <m:e>
                            <m:r>
                              <a:rPr lang="en-GB" sz="1500" b="0" i="1" smtClean="0">
                                <a:latin typeface="Cambria Math" panose="02040503050406030204" pitchFamily="18" charset="0"/>
                                <a:cs typeface="Arial" panose="020B0604020202020204" pitchFamily="34" charset="0"/>
                              </a:rPr>
                              <m:t>𝜎</m:t>
                            </m:r>
                          </m:e>
                          <m:sub>
                            <m:r>
                              <a:rPr lang="en-GB" sz="1500" b="0" i="1" smtClean="0">
                                <a:latin typeface="Cambria Math" panose="02040503050406030204" pitchFamily="18" charset="0"/>
                                <a:cs typeface="Arial" panose="020B0604020202020204" pitchFamily="34" charset="0"/>
                              </a:rPr>
                              <m:t>𝜒</m:t>
                            </m:r>
                          </m:sub>
                          <m:sup>
                            <m:r>
                              <a:rPr lang="en-GB" sz="1500" b="0" i="1" smtClean="0">
                                <a:latin typeface="Cambria Math" panose="02040503050406030204" pitchFamily="18" charset="0"/>
                                <a:cs typeface="Arial" panose="020B0604020202020204" pitchFamily="34" charset="0"/>
                              </a:rPr>
                              <m:t>2</m:t>
                            </m:r>
                          </m:sup>
                        </m:sSubSup>
                      </m:oMath>
                    </a14:m>
                    <a:r>
                      <a:rPr kumimoji="0" lang="en-GB" sz="1500" i="0" u="none" strike="noStrike" kern="1200" cap="none" spc="0" normalizeH="0" baseline="0" noProof="0" dirty="0">
                        <a:ln>
                          <a:noFill/>
                        </a:ln>
                        <a:effectLst/>
                        <a:uLnTx/>
                        <a:uFillTx/>
                        <a:latin typeface="Arial" panose="020B0604020202020204" pitchFamily="34" charset="0"/>
                        <a:cs typeface="Arial" panose="020B0604020202020204" pitchFamily="34" charset="0"/>
                      </a:rPr>
                      <a:t> = 0.1,</a:t>
                    </a:r>
                    <a:r>
                      <a:rPr lang="en-GB" sz="1500" noProof="0" dirty="0">
                        <a:latin typeface="Arial" panose="020B0604020202020204" pitchFamily="34" charset="0"/>
                        <a:cs typeface="Arial" panose="020B0604020202020204" pitchFamily="34" charset="0"/>
                      </a:rPr>
                      <a:t> </a:t>
                    </a:r>
                    <a:r>
                      <a:rPr lang="en-GB" sz="1500" dirty="0">
                        <a:latin typeface="Arial" panose="020B0604020202020204" pitchFamily="34" charset="0"/>
                        <a:cs typeface="Arial" panose="020B0604020202020204" pitchFamily="34" charset="0"/>
                      </a:rPr>
                      <a:t>AS = 50%</a:t>
                    </a:r>
                    <a:endParaRPr kumimoji="0" lang="en-GB" sz="15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mc:Choice>
            <mc:Fallback xmlns="">
              <p:sp>
                <p:nvSpPr>
                  <p:cNvPr id="102" name="TextBox 101">
                    <a:extLst>
                      <a:ext uri="{FF2B5EF4-FFF2-40B4-BE49-F238E27FC236}">
                        <a16:creationId xmlns:a16="http://schemas.microsoft.com/office/drawing/2014/main" id="{5431F846-0A7F-5A3E-2368-B222F6B78D1A}"/>
                      </a:ext>
                    </a:extLst>
                  </p:cNvPr>
                  <p:cNvSpPr txBox="1">
                    <a:spLocks noRot="1" noChangeAspect="1" noMove="1" noResize="1" noEditPoints="1" noAdjustHandles="1" noChangeArrowheads="1" noChangeShapeType="1" noTextEdit="1"/>
                  </p:cNvSpPr>
                  <p:nvPr/>
                </p:nvSpPr>
                <p:spPr>
                  <a:xfrm>
                    <a:off x="20047716" y="37024319"/>
                    <a:ext cx="2742725" cy="348172"/>
                  </a:xfrm>
                  <a:prstGeom prst="rect">
                    <a:avLst/>
                  </a:prstGeom>
                  <a:blipFill>
                    <a:blip r:embed="rId74"/>
                    <a:stretch>
                      <a:fillRect t="-3509" b="-122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825C188F-8A5B-178A-B597-AA6FC546CEC5}"/>
                      </a:ext>
                    </a:extLst>
                  </p:cNvPr>
                  <p:cNvSpPr txBox="1"/>
                  <p:nvPr/>
                </p:nvSpPr>
                <p:spPr>
                  <a:xfrm>
                    <a:off x="23047286" y="36605715"/>
                    <a:ext cx="2544259" cy="348172"/>
                  </a:xfrm>
                  <a:prstGeom prst="rect">
                    <a:avLst/>
                  </a:prstGeom>
                  <a:noFill/>
                </p:spPr>
                <p:txBody>
                  <a:bodyPr wrap="square" rtlCol="0" anchor="ctr">
                    <a:spAutoFit/>
                  </a:bodyPr>
                  <a:lstStyle/>
                  <a:p>
                    <a:pPr algn="ctr"/>
                    <a14:m>
                      <m:oMath xmlns:m="http://schemas.openxmlformats.org/officeDocument/2006/math">
                        <m:sSubSup>
                          <m:sSubSupPr>
                            <m:ctrlPr>
                              <a:rPr lang="en-GB" sz="1500" i="1">
                                <a:latin typeface="Cambria Math" panose="02040503050406030204" pitchFamily="18" charset="0"/>
                                <a:cs typeface="Arial" panose="020B0604020202020204" pitchFamily="34" charset="0"/>
                              </a:rPr>
                            </m:ctrlPr>
                          </m:sSubSupPr>
                          <m:e>
                            <m:r>
                              <a:rPr lang="en-GB" sz="1500" i="1">
                                <a:latin typeface="Cambria Math" panose="02040503050406030204" pitchFamily="18" charset="0"/>
                                <a:cs typeface="Arial" panose="020B0604020202020204" pitchFamily="34" charset="0"/>
                              </a:rPr>
                              <m:t>𝜎</m:t>
                            </m:r>
                          </m:e>
                          <m:sub>
                            <m:r>
                              <a:rPr lang="en-GB" sz="1500" i="1">
                                <a:latin typeface="Cambria Math" panose="02040503050406030204" pitchFamily="18" charset="0"/>
                                <a:cs typeface="Arial" panose="020B0604020202020204" pitchFamily="34" charset="0"/>
                              </a:rPr>
                              <m:t>𝜒</m:t>
                            </m:r>
                          </m:sub>
                          <m:sup>
                            <m:r>
                              <a:rPr lang="en-GB" sz="1500" i="1">
                                <a:latin typeface="Cambria Math" panose="02040503050406030204" pitchFamily="18" charset="0"/>
                                <a:cs typeface="Arial" panose="020B0604020202020204" pitchFamily="34" charset="0"/>
                              </a:rPr>
                              <m:t>2</m:t>
                            </m:r>
                          </m:sup>
                        </m:sSubSup>
                      </m:oMath>
                    </a14:m>
                    <a:r>
                      <a:rPr lang="en-GB" sz="1500" dirty="0">
                        <a:latin typeface="Arial" panose="020B0604020202020204" pitchFamily="34" charset="0"/>
                        <a:cs typeface="Arial" panose="020B0604020202020204" pitchFamily="34" charset="0"/>
                      </a:rPr>
                      <a:t> = 0.3, AS = 50%</a:t>
                    </a:r>
                  </a:p>
                </p:txBody>
              </p:sp>
            </mc:Choice>
            <mc:Fallback xmlns="">
              <p:sp>
                <p:nvSpPr>
                  <p:cNvPr id="105" name="TextBox 104">
                    <a:extLst>
                      <a:ext uri="{FF2B5EF4-FFF2-40B4-BE49-F238E27FC236}">
                        <a16:creationId xmlns:a16="http://schemas.microsoft.com/office/drawing/2014/main" id="{825C188F-8A5B-178A-B597-AA6FC546CEC5}"/>
                      </a:ext>
                    </a:extLst>
                  </p:cNvPr>
                  <p:cNvSpPr txBox="1">
                    <a:spLocks noRot="1" noChangeAspect="1" noMove="1" noResize="1" noEditPoints="1" noAdjustHandles="1" noChangeArrowheads="1" noChangeShapeType="1" noTextEdit="1"/>
                  </p:cNvSpPr>
                  <p:nvPr/>
                </p:nvSpPr>
                <p:spPr>
                  <a:xfrm>
                    <a:off x="23047286" y="36605715"/>
                    <a:ext cx="2544259" cy="348172"/>
                  </a:xfrm>
                  <a:prstGeom prst="rect">
                    <a:avLst/>
                  </a:prstGeom>
                  <a:blipFill>
                    <a:blip r:embed="rId75"/>
                    <a:stretch>
                      <a:fillRect t="-3509" b="-1052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61BE2AA6-C7B5-EC81-FC72-518B774674FB}"/>
                      </a:ext>
                    </a:extLst>
                  </p:cNvPr>
                  <p:cNvSpPr txBox="1"/>
                  <p:nvPr/>
                </p:nvSpPr>
                <p:spPr>
                  <a:xfrm>
                    <a:off x="23050334" y="37038278"/>
                    <a:ext cx="2678386" cy="348172"/>
                  </a:xfrm>
                  <a:prstGeom prst="rect">
                    <a:avLst/>
                  </a:prstGeom>
                  <a:noFill/>
                </p:spPr>
                <p:txBody>
                  <a:bodyPr wrap="square" rtlCol="0" anchor="ctr">
                    <a:spAutoFit/>
                  </a:bodyPr>
                  <a:lstStyle/>
                  <a:p>
                    <a:pPr algn="ctr"/>
                    <a14:m>
                      <m:oMath xmlns:m="http://schemas.openxmlformats.org/officeDocument/2006/math">
                        <m:sSubSup>
                          <m:sSubSupPr>
                            <m:ctrlPr>
                              <a:rPr lang="en-GB" sz="1500" i="1">
                                <a:latin typeface="Cambria Math" panose="02040503050406030204" pitchFamily="18" charset="0"/>
                                <a:cs typeface="Arial" panose="020B0604020202020204" pitchFamily="34" charset="0"/>
                              </a:rPr>
                            </m:ctrlPr>
                          </m:sSubSupPr>
                          <m:e>
                            <m:r>
                              <a:rPr lang="en-GB" sz="1500" i="1">
                                <a:latin typeface="Cambria Math" panose="02040503050406030204" pitchFamily="18" charset="0"/>
                                <a:cs typeface="Arial" panose="020B0604020202020204" pitchFamily="34" charset="0"/>
                              </a:rPr>
                              <m:t>𝜎</m:t>
                            </m:r>
                          </m:e>
                          <m:sub>
                            <m:r>
                              <a:rPr lang="en-GB" sz="1500" i="1">
                                <a:latin typeface="Cambria Math" panose="02040503050406030204" pitchFamily="18" charset="0"/>
                                <a:cs typeface="Arial" panose="020B0604020202020204" pitchFamily="34" charset="0"/>
                              </a:rPr>
                              <m:t>𝜒</m:t>
                            </m:r>
                          </m:sub>
                          <m:sup>
                            <m:r>
                              <a:rPr lang="en-GB" sz="1500" i="1">
                                <a:latin typeface="Cambria Math" panose="02040503050406030204" pitchFamily="18" charset="0"/>
                                <a:cs typeface="Arial" panose="020B0604020202020204" pitchFamily="34" charset="0"/>
                              </a:rPr>
                              <m:t>2</m:t>
                            </m:r>
                          </m:sup>
                        </m:sSubSup>
                      </m:oMath>
                    </a14:m>
                    <a:r>
                      <a:rPr lang="en-GB" sz="1500" dirty="0">
                        <a:latin typeface="Arial" panose="020B0604020202020204" pitchFamily="34" charset="0"/>
                        <a:cs typeface="Arial" panose="020B0604020202020204" pitchFamily="34" charset="0"/>
                      </a:rPr>
                      <a:t> = 0.6, AS = 100%</a:t>
                    </a:r>
                  </a:p>
                </p:txBody>
              </p:sp>
            </mc:Choice>
            <mc:Fallback xmlns="">
              <p:sp>
                <p:nvSpPr>
                  <p:cNvPr id="124" name="TextBox 123">
                    <a:extLst>
                      <a:ext uri="{FF2B5EF4-FFF2-40B4-BE49-F238E27FC236}">
                        <a16:creationId xmlns:a16="http://schemas.microsoft.com/office/drawing/2014/main" id="{61BE2AA6-C7B5-EC81-FC72-518B774674FB}"/>
                      </a:ext>
                    </a:extLst>
                  </p:cNvPr>
                  <p:cNvSpPr txBox="1">
                    <a:spLocks noRot="1" noChangeAspect="1" noMove="1" noResize="1" noEditPoints="1" noAdjustHandles="1" noChangeArrowheads="1" noChangeShapeType="1" noTextEdit="1"/>
                  </p:cNvSpPr>
                  <p:nvPr/>
                </p:nvSpPr>
                <p:spPr>
                  <a:xfrm>
                    <a:off x="23050334" y="37038278"/>
                    <a:ext cx="2678386" cy="348172"/>
                  </a:xfrm>
                  <a:prstGeom prst="rect">
                    <a:avLst/>
                  </a:prstGeom>
                  <a:blipFill>
                    <a:blip r:embed="rId76"/>
                    <a:stretch>
                      <a:fillRect t="-3509" b="-10526"/>
                    </a:stretch>
                  </a:blipFill>
                </p:spPr>
                <p:txBody>
                  <a:bodyPr/>
                  <a:lstStyle/>
                  <a:p>
                    <a:r>
                      <a:rPr lang="en-GB">
                        <a:noFill/>
                      </a:rPr>
                      <a:t> </a:t>
                    </a:r>
                  </a:p>
                </p:txBody>
              </p:sp>
            </mc:Fallback>
          </mc:AlternateContent>
          <p:pic>
            <p:nvPicPr>
              <p:cNvPr id="126" name="Picture 125" descr="A black screen with colorful lines&#10;&#10;Description automatically generated">
                <a:extLst>
                  <a:ext uri="{FF2B5EF4-FFF2-40B4-BE49-F238E27FC236}">
                    <a16:creationId xmlns:a16="http://schemas.microsoft.com/office/drawing/2014/main" id="{E7DBC69B-738D-3B44-85ED-2795A0E8E2E3}"/>
                  </a:ext>
                </a:extLst>
              </p:cNvPr>
              <p:cNvPicPr>
                <a:picLocks noChangeAspect="1"/>
              </p:cNvPicPr>
              <p:nvPr/>
            </p:nvPicPr>
            <p:blipFill rotWithShape="1">
              <a:blip r:embed="rId72">
                <a:extLst>
                  <a:ext uri="{28A0092B-C50C-407E-A947-70E740481C1C}">
                    <a14:useLocalDpi xmlns:a14="http://schemas.microsoft.com/office/drawing/2010/main" val="0"/>
                  </a:ext>
                </a:extLst>
              </a:blip>
              <a:srcRect l="70108" t="4830" r="24520" b="90695"/>
              <a:stretch/>
            </p:blipFill>
            <p:spPr>
              <a:xfrm>
                <a:off x="20243255" y="36587147"/>
                <a:ext cx="311696" cy="319053"/>
              </a:xfrm>
              <a:prstGeom prst="rect">
                <a:avLst/>
              </a:prstGeom>
            </p:spPr>
          </p:pic>
          <p:pic>
            <p:nvPicPr>
              <p:cNvPr id="127" name="Picture 126" descr="A black screen with colorful lines&#10;&#10;Description automatically generated">
                <a:extLst>
                  <a:ext uri="{FF2B5EF4-FFF2-40B4-BE49-F238E27FC236}">
                    <a16:creationId xmlns:a16="http://schemas.microsoft.com/office/drawing/2014/main" id="{D692DE3B-7E58-9166-2544-F34FE8E698FC}"/>
                  </a:ext>
                </a:extLst>
              </p:cNvPr>
              <p:cNvPicPr>
                <a:picLocks noChangeAspect="1"/>
              </p:cNvPicPr>
              <p:nvPr/>
            </p:nvPicPr>
            <p:blipFill rotWithShape="1">
              <a:blip r:embed="rId72">
                <a:extLst>
                  <a:ext uri="{28A0092B-C50C-407E-A947-70E740481C1C}">
                    <a14:useLocalDpi xmlns:a14="http://schemas.microsoft.com/office/drawing/2010/main" val="0"/>
                  </a:ext>
                </a:extLst>
              </a:blip>
              <a:srcRect l="70108" t="18034" r="24740" b="78493"/>
              <a:stretch/>
            </p:blipFill>
            <p:spPr>
              <a:xfrm>
                <a:off x="23132505" y="36671249"/>
                <a:ext cx="298995" cy="247651"/>
              </a:xfrm>
              <a:prstGeom prst="rect">
                <a:avLst/>
              </a:prstGeom>
            </p:spPr>
          </p:pic>
          <p:pic>
            <p:nvPicPr>
              <p:cNvPr id="513" name="Picture 512" descr="A black screen with colorful lines&#10;&#10;Description automatically generated">
                <a:extLst>
                  <a:ext uri="{FF2B5EF4-FFF2-40B4-BE49-F238E27FC236}">
                    <a16:creationId xmlns:a16="http://schemas.microsoft.com/office/drawing/2014/main" id="{A8202C47-C897-3073-EE97-A0E946689C5E}"/>
                  </a:ext>
                </a:extLst>
              </p:cNvPr>
              <p:cNvPicPr>
                <a:picLocks noChangeAspect="1"/>
              </p:cNvPicPr>
              <p:nvPr/>
            </p:nvPicPr>
            <p:blipFill rotWithShape="1">
              <a:blip r:embed="rId72">
                <a:extLst>
                  <a:ext uri="{28A0092B-C50C-407E-A947-70E740481C1C}">
                    <a14:useLocalDpi xmlns:a14="http://schemas.microsoft.com/office/drawing/2010/main" val="0"/>
                  </a:ext>
                </a:extLst>
              </a:blip>
              <a:srcRect l="70108" t="24179" r="24301" b="72371"/>
              <a:stretch/>
            </p:blipFill>
            <p:spPr>
              <a:xfrm>
                <a:off x="23145204" y="37083999"/>
                <a:ext cx="324396" cy="245919"/>
              </a:xfrm>
              <a:prstGeom prst="rect">
                <a:avLst/>
              </a:prstGeom>
            </p:spPr>
          </p:pic>
        </p:grpSp>
      </p:grpSp>
    </p:spTree>
    <p:extLst>
      <p:ext uri="{BB962C8B-B14F-4D97-AF65-F5344CB8AC3E}">
        <p14:creationId xmlns:p14="http://schemas.microsoft.com/office/powerpoint/2010/main" val="2683056953"/>
      </p:ext>
    </p:extLst>
  </p:cSld>
  <p:clrMapOvr>
    <a:masterClrMapping/>
  </p:clrMapOvr>
</p:sld>
</file>

<file path=ppt/theme/theme1.xml><?xml version="1.0" encoding="utf-8"?>
<a:theme xmlns:a="http://schemas.openxmlformats.org/drawingml/2006/main" name="Custom Design">
  <a:themeElements>
    <a:clrScheme name="DURHAM1">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marL="0" marR="0" indent="0" algn="l" defTabSz="457200" rtl="0" eaLnBrk="1" fontAlgn="auto" latinLnBrk="0" hangingPunct="1">
          <a:lnSpc>
            <a:spcPct val="200000"/>
          </a:lnSpc>
          <a:spcBef>
            <a:spcPts val="0"/>
          </a:spcBef>
          <a:spcAft>
            <a:spcPts val="0"/>
          </a:spcAft>
          <a:buClrTx/>
          <a:buSzTx/>
          <a:buFontTx/>
          <a:buNone/>
          <a:tabLst/>
          <a:defRPr kumimoji="0" sz="3200" b="1" i="0" u="none" strike="noStrike" kern="1200" cap="none" spc="0" normalizeH="0" baseline="0" noProof="0" dirty="0" smtClean="0">
            <a:ln>
              <a:noFill/>
            </a:ln>
            <a:solidFill>
              <a:srgbClr val="54145A"/>
            </a:solidFill>
            <a:effectLst/>
            <a:uLnTx/>
            <a:uFillTx/>
            <a:latin typeface="Arial" panose="020B0604020202020204" pitchFamily="34" charset="0"/>
            <a:ea typeface="+mn-ea"/>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15027</TotalTime>
  <Words>1713</Words>
  <Application>Microsoft Office PowerPoint</Application>
  <PresentationFormat>Custom</PresentationFormat>
  <Paragraphs>108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Cambria Math</vt:lpstr>
      <vt:lpstr>Custom Design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KONGKAEW, PUTTIWAT</dc:creator>
  <cp:lastModifiedBy>KONGKAEW, PUTTIWAT</cp:lastModifiedBy>
  <cp:revision>8</cp:revision>
  <cp:lastPrinted>2024-05-22T18:09:56Z</cp:lastPrinted>
  <dcterms:created xsi:type="dcterms:W3CDTF">2024-05-03T09:46:43Z</dcterms:created>
  <dcterms:modified xsi:type="dcterms:W3CDTF">2024-05-30T11:19:42Z</dcterms:modified>
</cp:coreProperties>
</file>